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8" r:id="rId4"/>
    <p:sldId id="259" r:id="rId5"/>
    <p:sldId id="280" r:id="rId6"/>
    <p:sldId id="258" r:id="rId7"/>
    <p:sldId id="261" r:id="rId8"/>
    <p:sldId id="265" r:id="rId9"/>
    <p:sldId id="274" r:id="rId10"/>
    <p:sldId id="262" r:id="rId11"/>
    <p:sldId id="263" r:id="rId12"/>
    <p:sldId id="291" r:id="rId13"/>
    <p:sldId id="288" r:id="rId14"/>
    <p:sldId id="292" r:id="rId15"/>
    <p:sldId id="264" r:id="rId16"/>
    <p:sldId id="282" r:id="rId17"/>
    <p:sldId id="267" r:id="rId18"/>
    <p:sldId id="268" r:id="rId19"/>
    <p:sldId id="285" r:id="rId20"/>
    <p:sldId id="275" r:id="rId21"/>
    <p:sldId id="284" r:id="rId22"/>
    <p:sldId id="260" r:id="rId23"/>
    <p:sldId id="286" r:id="rId24"/>
    <p:sldId id="290" r:id="rId25"/>
    <p:sldId id="293" r:id="rId26"/>
    <p:sldId id="272" r:id="rId27"/>
    <p:sldId id="273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5F0"/>
    <a:srgbClr val="0D9488"/>
    <a:srgbClr val="98F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37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496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D4F05-6FA0-0F06-AEE8-956081AE7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B3C49-A77A-0BA3-4262-6D0EA4D3E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E6674-BE34-C2D7-81CD-803460E3E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272CA-1A48-8531-9EBC-3F8056494A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8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615CC-727B-0B16-8B91-80B8C0C2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189F9-E2E0-823E-325A-CE13AD158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8683C-39CD-57DC-62E4-A184B97F4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1FA8A-C693-E71E-96C6-D235601E89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207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81AE3-F52C-BDCC-D947-97113E82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1E2A8-D601-0795-13A8-1AD1CD42F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19DA6-AC0A-E964-0158-A44EC13DD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547E0-272C-7988-E69E-CCE1518E8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4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6945-7721-4DE2-E222-0E606CCF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0F8C7-EA0C-76D8-A1D9-0C2686E89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27165-A422-88FB-0C29-E1A5E1E81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C4047-2D17-8CA0-A7EA-12DC138C4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04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77EF6-658C-A5B0-174F-3ADA5D90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B12DC-D48E-1D45-1E42-6314FEA6F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CAA42-E17F-2EBD-6544-91A963A32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8D10B-8BAF-9A32-06E6-0C8BE1D07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99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3F431-4BFE-2F82-28EB-111F0725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95E84-D98A-F041-19A9-AAC8FA8F5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EF021-821A-A359-E304-3AB043CF7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4B00A-BD21-E095-34DE-9288AF8496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46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43FAD-D57A-8690-B2A8-2971217A6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0066A-FFCA-FACE-7781-E2A004FDB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1B3D3-2D1E-ED81-2B7A-85BA98321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3B7B5-73F4-50C2-F4D2-FECE8F5D4F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652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46A2C-EAF4-8CF9-B0E4-1BB3E4B0E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D72DD-E47C-FFF3-ACA8-4A1675FE6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05032-1EE8-93E4-7646-4CF60F895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1FFDB-BE80-C895-1581-8CD66FCA9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145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AD963-1260-E187-9395-0ADB581A5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A1490-5B3A-4698-38B3-F60FAA301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2036D-4ED0-C7E5-B7B2-F00101402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F18E7-4EFB-3E71-E72A-117FE77EDA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792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6C2D1-1EA5-B0E0-018D-809BE1DA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17BC9-9202-483C-7624-C331D3B30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01986-D11A-2072-6BDF-E8F5C2944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5BABD-8A65-2274-10FA-D909D9AFC3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960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D51E4-0136-DF08-E536-04A02BD3A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71B6B-669B-2D1F-74D6-723A83A9F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9637E-5CC7-AF77-5505-B45772F1F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27125-B4C6-3242-5E4F-49639F02B2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455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41148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51547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Transaction Propagations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85380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Isolation Levels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657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How @Transactional Works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3154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Exception Handling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34930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N+1 Problem &amp; Solutions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@Transactional?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declarative way to manage database transactions using Spring AOP — no boilerplate required.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4864" cy="13716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0352" y="16733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938528"/>
            <a:ext cx="242316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All-or-nothing. Every operation in the method succeeds together or all roll back. No partial DB updates.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54864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64992" y="16733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1938528"/>
            <a:ext cx="242316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beginTransaction() / commit() / rollback(). Spring wraps the method in a proxy that handles everything.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54864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99632" y="16733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9632" y="1938528"/>
            <a:ext cx="242316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propagation, isolation, timeout, rollback rules, and read-only hints through annotation attributes.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8412480" cy="17556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" y="3136392"/>
            <a:ext cx="819302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OrderService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@Transactional   // Spring manages the transaction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placeOrder(OrderRequest req)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Order order  = orderRepo.save(new Order(req));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inventoryService.reduceStock(req.getItems());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paymentService.charge(req.getPayment());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All or nothing — any failure rolls EVERYTHING back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675B53-8556-A069-241A-80BCCD4E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8B5BB3-1DEA-CC25-3717-95E552F2D9CD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392827-6496-1078-0C9D-59941A9C46F9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67DF82-B599-7911-6634-DF86FE97744F}"/>
              </a:ext>
            </a:extLst>
          </p:cNvPr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Properties</a:t>
            </a:r>
            <a:endParaRPr lang="en-US" sz="30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7EA96C-4C34-CAE3-6C62-4ADDD0E61510}"/>
              </a:ext>
            </a:extLst>
          </p:cNvPr>
          <p:cNvGrpSpPr/>
          <p:nvPr/>
        </p:nvGrpSpPr>
        <p:grpSpPr>
          <a:xfrm>
            <a:off x="519122" y="1179576"/>
            <a:ext cx="8105755" cy="3586804"/>
            <a:chOff x="519122" y="1179576"/>
            <a:chExt cx="8105755" cy="3586804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5E88A518-3E9D-9117-3EC2-77634470FE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314" b="19"/>
            <a:stretch>
              <a:fillRect/>
            </a:stretch>
          </p:blipFill>
          <p:spPr bwMode="auto">
            <a:xfrm>
              <a:off x="519122" y="1179576"/>
              <a:ext cx="8105755" cy="3586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6B6A229-2125-5E96-CD36-EA700EADF9BE}"/>
                </a:ext>
              </a:extLst>
            </p:cNvPr>
            <p:cNvSpPr/>
            <p:nvPr/>
          </p:nvSpPr>
          <p:spPr>
            <a:xfrm>
              <a:off x="666750" y="1885950"/>
              <a:ext cx="1809750" cy="419100"/>
            </a:xfrm>
            <a:prstGeom prst="roundRect">
              <a:avLst/>
            </a:prstGeom>
            <a:solidFill>
              <a:srgbClr val="84B5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b="1" dirty="0">
                  <a:solidFill>
                    <a:schemeClr val="tx1"/>
                  </a:solidFill>
                </a:rPr>
                <a:t>All or nothing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D547B48-F39A-45CF-6161-37821EF55E82}"/>
                </a:ext>
              </a:extLst>
            </p:cNvPr>
            <p:cNvSpPr/>
            <p:nvPr/>
          </p:nvSpPr>
          <p:spPr>
            <a:xfrm>
              <a:off x="2657475" y="1885950"/>
              <a:ext cx="1809750" cy="419100"/>
            </a:xfrm>
            <a:prstGeom prst="roundRect">
              <a:avLst/>
            </a:prstGeom>
            <a:solidFill>
              <a:srgbClr val="84B5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b="1" dirty="0">
                  <a:solidFill>
                    <a:schemeClr val="tx1"/>
                  </a:solidFill>
                </a:rPr>
                <a:t>Ensure the DB state before and after Tx is consistent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CA2FCE9-B089-5888-A44C-0E92B87B395B}"/>
                </a:ext>
              </a:extLst>
            </p:cNvPr>
            <p:cNvSpPr/>
            <p:nvPr/>
          </p:nvSpPr>
          <p:spPr>
            <a:xfrm>
              <a:off x="4676777" y="1885950"/>
              <a:ext cx="1809750" cy="419100"/>
            </a:xfrm>
            <a:prstGeom prst="roundRect">
              <a:avLst/>
            </a:prstGeom>
            <a:solidFill>
              <a:srgbClr val="84B5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b="1" dirty="0">
                  <a:solidFill>
                    <a:schemeClr val="tx1"/>
                  </a:solidFill>
                </a:rPr>
                <a:t>Concurrent transactions are isolated from each other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341A19E-7ECB-1310-41B6-87977D669A65}"/>
                </a:ext>
              </a:extLst>
            </p:cNvPr>
            <p:cNvSpPr/>
            <p:nvPr/>
          </p:nvSpPr>
          <p:spPr>
            <a:xfrm>
              <a:off x="6694170" y="1885950"/>
              <a:ext cx="1809750" cy="424053"/>
            </a:xfrm>
            <a:prstGeom prst="roundRect">
              <a:avLst/>
            </a:prstGeom>
            <a:solidFill>
              <a:srgbClr val="84B5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/>
                  </a:solidFill>
                </a:rPr>
                <a:t>Data is persisted after transactions is committed even in a system failure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4792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@Transactional Works Internally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uses AOP (Aspect-Oriented Programming) with a dynamic proxy pattern.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1481328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01368" y="1719072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755648" y="15819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57400" y="1481328"/>
            <a:ext cx="1481328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057400" y="148132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 Proxy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38728" y="1719072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93008" y="15819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94760" y="1481328"/>
            <a:ext cx="14813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794760" y="148132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TransactionInterceptor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76088" y="1719072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230368" y="15819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0" y="1481328"/>
            <a:ext cx="148132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532120" y="148132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Method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13448" y="1719072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67728" y="15819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9480" y="1481328"/>
            <a:ext cx="148132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269480" y="148132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240280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" y="2194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invokes orderService.placeOrder() — hits the PROXY, not your class directly.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" y="27614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calls TransactionInterceptor.invoke() BEFORE your method body runs.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374136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" y="33284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checks propagation: join existing TX, start new, or suspend?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941064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6576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3232" y="389534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TX: PlatformTransactionManager.getTransaction() acquires a DB connection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2240280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1772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65192" y="2194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is bound to the current thread via TransactionSynchronizationManager (ThreadLocal).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2807208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17720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65192" y="27614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method executes — all repositories on the same thread share this connection.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3374136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61772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65192" y="33284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 → transactionManager.commit() → connection.commit() → connection returned to pool.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17720" y="3941064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61772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65192" y="389534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RuntimeException (or declared checked) → transactionManager.rollback() → connection.rollback().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F02AF-6378-76E6-FFFA-3F45346C7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FBAC95-5E6A-390C-2776-51B552CA345A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44730F-3E7C-0A0F-16A2-F703314978C6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Working 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792185B-5CE8-AFCF-BF01-0144EEDA933C}"/>
              </a:ext>
            </a:extLst>
          </p:cNvPr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3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D4DE95-35B8-7948-C72A-372C25F3E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377" y="845821"/>
            <a:ext cx="4358743" cy="3592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F103EF-3DBC-35C1-D186-9624C289B9E5}"/>
              </a:ext>
            </a:extLst>
          </p:cNvPr>
          <p:cNvSpPr txBox="1"/>
          <p:nvPr/>
        </p:nvSpPr>
        <p:spPr>
          <a:xfrm>
            <a:off x="411480" y="1020782"/>
            <a:ext cx="41605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@Transactional can be used at method level and class level.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When used at class level, it applies to all the public methods in that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Procedure</a:t>
            </a:r>
            <a:r>
              <a:rPr lang="en-US" sz="1400" dirty="0"/>
              <a:t> </a:t>
            </a:r>
          </a:p>
          <a:p>
            <a:pPr marL="342900" indent="-342900">
              <a:buAutoNum type="arabicPeriod"/>
            </a:pPr>
            <a:r>
              <a:rPr lang="en-US" sz="1400" dirty="0"/>
              <a:t>Client calls @Transactional method </a:t>
            </a:r>
          </a:p>
          <a:p>
            <a:pPr marL="342900" indent="-342900">
              <a:buAutoNum type="arabicPeriod"/>
            </a:pPr>
            <a:r>
              <a:rPr lang="en-US" sz="1400" dirty="0"/>
              <a:t>Spring Proxy intercepts the call </a:t>
            </a:r>
          </a:p>
          <a:p>
            <a:pPr marL="342900" indent="-342900">
              <a:buAutoNum type="arabicPeriod"/>
            </a:pPr>
            <a:r>
              <a:rPr lang="en-US" sz="1400" dirty="0" err="1"/>
              <a:t>TransactionInterceptor</a:t>
            </a:r>
            <a:r>
              <a:rPr lang="en-US" sz="1400" dirty="0"/>
              <a:t> is triggered (AOP advice) </a:t>
            </a:r>
          </a:p>
          <a:p>
            <a:pPr marL="342900" indent="-342900">
              <a:buAutoNum type="arabicPeriod"/>
            </a:pPr>
            <a:r>
              <a:rPr lang="en-US" sz="1400" dirty="0" err="1"/>
              <a:t>TransactionAspectSupport.invokeWithinTransaction</a:t>
            </a:r>
            <a:r>
              <a:rPr lang="en-US" sz="1400" dirty="0"/>
              <a:t>() </a:t>
            </a:r>
          </a:p>
          <a:p>
            <a:pPr marL="342900" indent="-342900">
              <a:buAutoNum type="arabicPeriod"/>
            </a:pPr>
            <a:r>
              <a:rPr lang="en-US" sz="1400" dirty="0"/>
              <a:t>Transaction Manager starts transaction</a:t>
            </a:r>
          </a:p>
          <a:p>
            <a:pPr marL="342900" indent="-342900">
              <a:buAutoNum type="arabicPeriod"/>
            </a:pPr>
            <a:r>
              <a:rPr lang="en-US" sz="1400" dirty="0"/>
              <a:t>Actual method executes </a:t>
            </a:r>
          </a:p>
          <a:p>
            <a:pPr marL="342900" indent="-342900">
              <a:buAutoNum type="arabicPeriod"/>
            </a:pPr>
            <a:r>
              <a:rPr lang="en-US" sz="1400" dirty="0"/>
              <a:t>If success → Commit </a:t>
            </a:r>
          </a:p>
          <a:p>
            <a:pPr marL="342900" indent="-342900">
              <a:buAutoNum type="arabicPeriod"/>
            </a:pPr>
            <a:r>
              <a:rPr lang="en-US" sz="1400" dirty="0"/>
              <a:t>If exception → Rollback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31153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Attributes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attribute you can configure on @Transactional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1581912"/>
            <a:ext cx="8193024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propagation   = Propagation.REQUIRED,        // How to handle existing TX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isolation     = Isolation.DEFAULT,           // DB-level isolation (default = DB default)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       = 30,                          // Max seconds (-1 = no limit)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     = false,                       // Hint to DB driver for optimisation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rollbackFor   = { Exception.class },         // Force rollback on checked exception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noRollbackFor = { NotFoundException.class }  // Suppress rollback for specific exception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5963" y="324383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propagation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5963" y="3407283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@Transactional method calls another. 7 options: REQUIRED, REQUIRES_NEW, NESTED, SUPPORTS, NOT_SUPPORTED, MANDATORY, NEVER.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56235" y="3832098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" y="3858387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5963" y="4002786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visibility of uncommitted changes between concurrent transactions. Maps to DB isolation levels.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4379976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5963" y="437769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5963" y="453161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throws TransactionTimedOutException if method exceeds this. The DB connection is rolled back.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3246120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27448" y="3253359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27448" y="3397758"/>
            <a:ext cx="3886200" cy="342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to Hibernate to skip dirty checking. Allows the DB driver to optimise — don't use on write methods. No row locks. Hibernate flush() is disabled and No Dirty check overhead.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17720" y="3813048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17923" y="381076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rollbackFor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17923" y="3974211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only RuntimeException triggers rollback. Use this to include checked exceptions.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17720" y="4379976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17923" y="437769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noRollbackFor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17923" y="453161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rollback for a specific exception — e.g. NotFoundException shouldn't rollback a read.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Propagation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happens when a @Transactional method is called while a transaction already exists.</a:t>
            </a:r>
            <a:endParaRPr lang="en-US" sz="14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A4424FC-8B51-5C44-CA13-D575F8ADA34E}"/>
              </a:ext>
            </a:extLst>
          </p:cNvPr>
          <p:cNvGrpSpPr/>
          <p:nvPr/>
        </p:nvGrpSpPr>
        <p:grpSpPr>
          <a:xfrm>
            <a:off x="365760" y="1554480"/>
            <a:ext cx="4058044" cy="3054096"/>
            <a:chOff x="365760" y="1554480"/>
            <a:chExt cx="3063240" cy="3054096"/>
          </a:xfrm>
        </p:grpSpPr>
        <p:sp>
          <p:nvSpPr>
            <p:cNvPr id="7" name="Shape 5"/>
            <p:cNvSpPr/>
            <p:nvPr/>
          </p:nvSpPr>
          <p:spPr>
            <a:xfrm>
              <a:off x="365760" y="1554480"/>
              <a:ext cx="306324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Shape 6"/>
            <p:cNvSpPr/>
            <p:nvPr/>
          </p:nvSpPr>
          <p:spPr>
            <a:xfrm>
              <a:off x="365760" y="1554480"/>
              <a:ext cx="54864" cy="694944"/>
            </a:xfrm>
            <a:prstGeom prst="rect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530352" y="1627632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REQUIRED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194560" y="1645920"/>
              <a:ext cx="1143000" cy="201168"/>
            </a:xfrm>
            <a:prstGeom prst="rect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2194560" y="1645920"/>
              <a:ext cx="1143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default</a:t>
              </a:r>
              <a:endParaRPr lang="en-US" sz="7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30352" y="1883664"/>
              <a:ext cx="271576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Join existing TX if present, else create new.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65760" y="2340864"/>
              <a:ext cx="306324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Shape 12"/>
            <p:cNvSpPr/>
            <p:nvPr/>
          </p:nvSpPr>
          <p:spPr>
            <a:xfrm>
              <a:off x="365760" y="2340864"/>
              <a:ext cx="54864" cy="69494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3"/>
            <p:cNvSpPr/>
            <p:nvPr/>
          </p:nvSpPr>
          <p:spPr>
            <a:xfrm>
              <a:off x="530352" y="2414016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REQUIRES_NEW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2194560" y="2432304"/>
              <a:ext cx="1143000" cy="20116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5"/>
            <p:cNvSpPr/>
            <p:nvPr/>
          </p:nvSpPr>
          <p:spPr>
            <a:xfrm>
              <a:off x="2194560" y="2432304"/>
              <a:ext cx="1143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TX always</a:t>
              </a:r>
              <a:endParaRPr lang="en-US" sz="7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30352" y="2670048"/>
              <a:ext cx="271576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Suspend current TX and always start a fresh one.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65760" y="3127248"/>
              <a:ext cx="306324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Shape 18"/>
            <p:cNvSpPr/>
            <p:nvPr/>
          </p:nvSpPr>
          <p:spPr>
            <a:xfrm>
              <a:off x="365760" y="3127248"/>
              <a:ext cx="54864" cy="694944"/>
            </a:xfrm>
            <a:prstGeom prst="rect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19"/>
            <p:cNvSpPr/>
            <p:nvPr/>
          </p:nvSpPr>
          <p:spPr>
            <a:xfrm>
              <a:off x="530352" y="3200400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NESTED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194560" y="3218688"/>
              <a:ext cx="1143000" cy="201168"/>
            </a:xfrm>
            <a:prstGeom prst="rect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 21"/>
            <p:cNvSpPr/>
            <p:nvPr/>
          </p:nvSpPr>
          <p:spPr>
            <a:xfrm>
              <a:off x="2194560" y="3218688"/>
              <a:ext cx="1143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savepoint</a:t>
              </a:r>
              <a:endParaRPr lang="en-US" sz="7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30352" y="3456432"/>
              <a:ext cx="271576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DB savepoint — can rollback independently.</a:t>
              </a:r>
              <a:endParaRPr lang="en-US" sz="9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65760" y="3913632"/>
              <a:ext cx="306324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Shape 24"/>
            <p:cNvSpPr/>
            <p:nvPr/>
          </p:nvSpPr>
          <p:spPr>
            <a:xfrm>
              <a:off x="365760" y="3913632"/>
              <a:ext cx="54864" cy="694944"/>
            </a:xfrm>
            <a:prstGeom prst="rect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 25"/>
            <p:cNvSpPr/>
            <p:nvPr/>
          </p:nvSpPr>
          <p:spPr>
            <a:xfrm>
              <a:off x="530352" y="3986784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SUPPORTS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2194560" y="4005072"/>
              <a:ext cx="1143000" cy="201168"/>
            </a:xfrm>
            <a:prstGeom prst="rect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 27"/>
            <p:cNvSpPr/>
            <p:nvPr/>
          </p:nvSpPr>
          <p:spPr>
            <a:xfrm>
              <a:off x="2194560" y="4005072"/>
              <a:ext cx="1143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optional TX</a:t>
              </a:r>
              <a:endParaRPr lang="en-US" sz="7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30352" y="4242816"/>
              <a:ext cx="271576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Join TX if one exists; non-TX if none.</a:t>
              </a:r>
              <a:endParaRPr lang="en-US" sz="9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A47B23D-1BF5-75F5-49DD-1D0623568A26}"/>
              </a:ext>
            </a:extLst>
          </p:cNvPr>
          <p:cNvGrpSpPr/>
          <p:nvPr/>
        </p:nvGrpSpPr>
        <p:grpSpPr>
          <a:xfrm>
            <a:off x="4572000" y="1554480"/>
            <a:ext cx="4297680" cy="1481328"/>
            <a:chOff x="3566160" y="1554480"/>
            <a:chExt cx="5303520" cy="1481328"/>
          </a:xfrm>
        </p:grpSpPr>
        <p:sp>
          <p:nvSpPr>
            <p:cNvPr id="31" name="Shape 29"/>
            <p:cNvSpPr/>
            <p:nvPr/>
          </p:nvSpPr>
          <p:spPr>
            <a:xfrm>
              <a:off x="3566160" y="1554480"/>
              <a:ext cx="530352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Shape 30"/>
            <p:cNvSpPr/>
            <p:nvPr/>
          </p:nvSpPr>
          <p:spPr>
            <a:xfrm>
              <a:off x="3566160" y="1554480"/>
              <a:ext cx="54864" cy="694944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 31"/>
            <p:cNvSpPr/>
            <p:nvPr/>
          </p:nvSpPr>
          <p:spPr>
            <a:xfrm>
              <a:off x="3730752" y="1627632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NOT_SUPPORTED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7635240" y="1645920"/>
              <a:ext cx="1143000" cy="201168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 33"/>
            <p:cNvSpPr/>
            <p:nvPr/>
          </p:nvSpPr>
          <p:spPr>
            <a:xfrm>
              <a:off x="7635240" y="1645920"/>
              <a:ext cx="1143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suspend TX</a:t>
              </a:r>
              <a:endParaRPr lang="en-US" sz="7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3730752" y="1883664"/>
              <a:ext cx="49560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Suspend current TX and run non-transactionally.</a:t>
              </a:r>
              <a:endParaRPr lang="en-US" sz="9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3566160" y="2340864"/>
              <a:ext cx="530352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Shape 36"/>
            <p:cNvSpPr/>
            <p:nvPr/>
          </p:nvSpPr>
          <p:spPr>
            <a:xfrm>
              <a:off x="3566160" y="2340864"/>
              <a:ext cx="54864" cy="694944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 37"/>
            <p:cNvSpPr/>
            <p:nvPr/>
          </p:nvSpPr>
          <p:spPr>
            <a:xfrm>
              <a:off x="3730752" y="2414016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MANDATORY</a:t>
              </a:r>
              <a:endParaRPr lang="en-US" sz="10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7635240" y="2432304"/>
              <a:ext cx="1143000" cy="20116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 39"/>
            <p:cNvSpPr/>
            <p:nvPr/>
          </p:nvSpPr>
          <p:spPr>
            <a:xfrm>
              <a:off x="7635240" y="2432304"/>
              <a:ext cx="1143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must have TX</a:t>
              </a:r>
              <a:endParaRPr lang="en-US" sz="75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3730752" y="2670048"/>
              <a:ext cx="49560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Throws if no active TX exists.</a:t>
              </a:r>
              <a:endParaRPr lang="en-US" sz="9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1B1D7FC-9F9A-687B-D7CA-CA0BFFA7C3A9}"/>
              </a:ext>
            </a:extLst>
          </p:cNvPr>
          <p:cNvGrpSpPr/>
          <p:nvPr/>
        </p:nvGrpSpPr>
        <p:grpSpPr>
          <a:xfrm>
            <a:off x="4572000" y="3127248"/>
            <a:ext cx="4297680" cy="694944"/>
            <a:chOff x="3566160" y="3127248"/>
            <a:chExt cx="5303520" cy="694944"/>
          </a:xfrm>
        </p:grpSpPr>
        <p:sp>
          <p:nvSpPr>
            <p:cNvPr id="43" name="Shape 41"/>
            <p:cNvSpPr/>
            <p:nvPr/>
          </p:nvSpPr>
          <p:spPr>
            <a:xfrm>
              <a:off x="3566160" y="3127248"/>
              <a:ext cx="5303520" cy="6949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Shape 42"/>
            <p:cNvSpPr/>
            <p:nvPr/>
          </p:nvSpPr>
          <p:spPr>
            <a:xfrm>
              <a:off x="3566160" y="3127248"/>
              <a:ext cx="54864" cy="694944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 43"/>
            <p:cNvSpPr/>
            <p:nvPr/>
          </p:nvSpPr>
          <p:spPr>
            <a:xfrm>
              <a:off x="3730752" y="3200400"/>
              <a:ext cx="210312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NEVER</a:t>
              </a:r>
              <a:endParaRPr lang="en-US" sz="10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7635240" y="3218688"/>
              <a:ext cx="1143000" cy="20116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 45"/>
            <p:cNvSpPr/>
            <p:nvPr/>
          </p:nvSpPr>
          <p:spPr>
            <a:xfrm>
              <a:off x="7635240" y="3218688"/>
              <a:ext cx="1143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forbid TX</a:t>
              </a:r>
              <a:endParaRPr lang="en-US" sz="75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3730752" y="3456432"/>
              <a:ext cx="4956048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Throws IllegalTransactionStateException if TX active.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&amp; Rollback Rules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8585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misunderstood aspect: only </a:t>
            </a: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exceptions trigger rollback by default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2352675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214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RuntimeException (unchecked)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73680" y="1481328"/>
            <a:ext cx="94107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73680" y="1481328"/>
            <a:ext cx="9410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38528"/>
            <a:ext cx="2352675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1993392"/>
            <a:ext cx="214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73680" y="1938528"/>
            <a:ext cx="94107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73680" y="1938528"/>
            <a:ext cx="9410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2352675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450592"/>
            <a:ext cx="214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Checked Exception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73680" y="2395728"/>
            <a:ext cx="94107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73680" y="2395728"/>
            <a:ext cx="9410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 (!)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98648"/>
            <a:ext cx="3323153" cy="356616"/>
          </a:xfrm>
          <a:prstGeom prst="rect">
            <a:avLst/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323492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Checked exception COMMITS by default — fix with rollbackFor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76674" y="1456562"/>
            <a:ext cx="4901565" cy="3092577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894814" y="1529715"/>
            <a:ext cx="4773698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DANGEROUS — InsufficientFundsException is checked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transfer(BigDecimal amount) throws InsufficientFundsException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accountRepo.debit(from, amount);   // saved to DB!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InsufficientFundsException("...");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Money debited but never credited — data corruption!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CORRECT — force rollback on checked exception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@Transactional(rollbackFor = InsufficientFundsException.class)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transfer(BigDecimal amount) throws InsufficientFundsException { ... 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Safest — rollback on ANY exception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@Transactional(rollbackFor = Exception.class)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transfer(BigDecimal amount) throws Exception { ... 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Suppress rollback for a specific runtime exception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@Transactional(noRollbackFor = NotFoundException.class)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findAndProcess(Long id) { ... }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46408-63D4-2C75-31B8-53EECED70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733C0C-9F65-D313-2E30-1296A9265E47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866477-D4F8-C4FA-642E-0A4079C5CEC4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2B27A7C-B561-06DA-4FAF-7BDE657BE4F9}"/>
              </a:ext>
            </a:extLst>
          </p:cNvPr>
          <p:cNvSpPr/>
          <p:nvPr/>
        </p:nvSpPr>
        <p:spPr>
          <a:xfrm>
            <a:off x="411480" y="533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This is a Spring-style transaction propagation matrix. 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8A92E104-D1B7-C67F-C941-48A282DB0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795315"/>
              </p:ext>
            </p:extLst>
          </p:nvPr>
        </p:nvGraphicFramePr>
        <p:xfrm>
          <a:off x="411480" y="908685"/>
          <a:ext cx="8170544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342">
                  <a:extLst>
                    <a:ext uri="{9D8B030D-6E8A-4147-A177-3AD203B41FA5}">
                      <a16:colId xmlns:a16="http://schemas.microsoft.com/office/drawing/2014/main" val="4046627279"/>
                    </a:ext>
                  </a:extLst>
                </a:gridCol>
                <a:gridCol w="1505023">
                  <a:extLst>
                    <a:ext uri="{9D8B030D-6E8A-4147-A177-3AD203B41FA5}">
                      <a16:colId xmlns:a16="http://schemas.microsoft.com/office/drawing/2014/main" val="3835671196"/>
                    </a:ext>
                  </a:extLst>
                </a:gridCol>
                <a:gridCol w="1714393">
                  <a:extLst>
                    <a:ext uri="{9D8B030D-6E8A-4147-A177-3AD203B41FA5}">
                      <a16:colId xmlns:a16="http://schemas.microsoft.com/office/drawing/2014/main" val="2220046791"/>
                    </a:ext>
                  </a:extLst>
                </a:gridCol>
                <a:gridCol w="1714393">
                  <a:extLst>
                    <a:ext uri="{9D8B030D-6E8A-4147-A177-3AD203B41FA5}">
                      <a16:colId xmlns:a16="http://schemas.microsoft.com/office/drawing/2014/main" val="1236494752"/>
                    </a:ext>
                  </a:extLst>
                </a:gridCol>
                <a:gridCol w="1714393">
                  <a:extLst>
                    <a:ext uri="{9D8B030D-6E8A-4147-A177-3AD203B41FA5}">
                      <a16:colId xmlns:a16="http://schemas.microsoft.com/office/drawing/2014/main" val="299308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solidFill>
                      <a:srgbClr val="0D9488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IN" sz="1400" dirty="0"/>
                        <a:t>Is there an Active Transaction?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sz="1400" dirty="0"/>
                    </a:p>
                  </a:txBody>
                  <a:tcPr>
                    <a:solidFill>
                      <a:srgbClr val="0D9488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IN" sz="1400" dirty="0"/>
                        <a:t>Exception Occurred?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dirty="0"/>
                    </a:p>
                  </a:txBody>
                  <a:tcPr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12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YES</a:t>
                      </a:r>
                      <a:endParaRPr lang="en-IN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OUTER Tx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INNER Tx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78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/>
                        <a:t>REQUIRED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Join Existing Tx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/>
                        <a:t>Create New Tx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Rollback everything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/>
                        <a:t>Rollback everything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434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REQUIRES_NEW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Suspend Old Tx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/>
                        <a:t>Create New Tx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Rollback Outer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/>
                        <a:t>Rollback Inner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061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/>
                        <a:t>SUPPORTS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Join Existing Tx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Run Without Tx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/>
                        <a:t>Rollback everything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/>
                        <a:t>Rollback everything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544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NOT_SUPPORTED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Suspend Tx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Run Without Tx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Rollback Outer; Commits Inner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Commits Outer;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Rollback Inner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199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MANDATORY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Join Existing Tx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❌ Throw Error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Rollback everything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Rollback everything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635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/>
                        <a:t>NEVER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❌ Throw Error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/>
                        <a:t>Run Without Tx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Rollback everything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Fails if Tx exists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16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NESTED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Execute within Nested Tx (</a:t>
                      </a:r>
                      <a:r>
                        <a:rPr lang="en-US" sz="1400" dirty="0" err="1"/>
                        <a:t>Savepoint</a:t>
                      </a:r>
                      <a:r>
                        <a:rPr lang="en-US" sz="1400" dirty="0"/>
                        <a:t>)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Create New Tx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Rollback everything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Rollback Inner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776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014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— Code Examples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(default)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11480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389534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@Transactional(propagation = Propagation.REQUIRED)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serviceA() { serviceB(); }  // B joins A's TX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@Transactional(propagation = Propagation.REQUIRED)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serviceB() { ... }  // Joins A's TX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177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REQUIRES_NEW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389888"/>
            <a:ext cx="416052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98873" y="1377315"/>
            <a:ext cx="394106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placeOrder()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orderRepo.save(order);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auditService.log("order.placed");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Even if placeOrder rolls back, audit is committed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@Transactional(propagation = Propagation.REQUIRES_NEW)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log(String event) { auditRepo.save(event); }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59689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— savepoint-based partial rollback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07792"/>
            <a:ext cx="8412480" cy="19019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" y="2980944"/>
            <a:ext cx="8193024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outer()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repo.saveA();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 inner(); } catch (Exception e) { /* outer continues */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repo.saveB();  // committed even if inner failed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@Transactional(propagation = Propagation.NESTED)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inner()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repo.saveC();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RuntimeException(); // only C is rolled back (savepoint)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Result: A and B saved, C rolled back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throws if no TX exists  |  NEVER throws if TX active  |  SUPPORTS joins or skips  |  NOT_SUPPORTED suspends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Levels — Concurrency Problems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anomalies that can occur when transactions run concurrently without proper isolation.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2697480" cy="3364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26974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956816"/>
            <a:ext cx="2487168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reads data written by T2 BEFORE T2 commits. If T2 rolls back, T1 operated on non-existent data.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3035808"/>
            <a:ext cx="2487168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23408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writes balance=0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reads balance=0  ← dirty!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ROLLBACK → balance still 1000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used wrong data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1481328"/>
            <a:ext cx="2697480" cy="3364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0" y="1481328"/>
            <a:ext cx="26974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310128" y="14813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956816"/>
            <a:ext cx="2487168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reads a row twice. T2 updates and commits between T1's two reads. T1 gets different values.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0128" y="3035808"/>
            <a:ext cx="2487168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83280" y="3127248"/>
            <a:ext cx="23408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reads price = 100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T2: updates price = 150, commits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reads price = 150  ← changed!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query, different result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1481328"/>
            <a:ext cx="2697480" cy="3364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0" y="1481328"/>
            <a:ext cx="2697480" cy="411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44768" y="14813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44768" y="1956816"/>
            <a:ext cx="2487168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runs a range query twice. T2 inserts or deletes rows between runs. T1 sees different row counts.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44768" y="3035808"/>
            <a:ext cx="2487168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17920" y="3127248"/>
            <a:ext cx="23408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SELECT COUNT(*) = 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T2: INSERT new row, commits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SELECT COUNT(*) = 6  ← phantom!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row appeared mid-TX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CC4CF-6622-6865-A305-E3E81D35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A0D908-74CA-F8F1-488B-2F66D7BF122D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FDD0E7-8390-6081-FBE3-AD95262E3815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D57F5A-D361-62D0-6EDA-73EFD68C8161}"/>
              </a:ext>
            </a:extLst>
          </p:cNvPr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endParaRPr lang="en-US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07AE4-CAD6-F3DD-C154-58D3D8C67657}"/>
              </a:ext>
            </a:extLst>
          </p:cNvPr>
          <p:cNvSpPr txBox="1"/>
          <p:nvPr/>
        </p:nvSpPr>
        <p:spPr>
          <a:xfrm>
            <a:off x="312421" y="1097280"/>
            <a:ext cx="3850003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READ_UNCOMMITTED (Dirty Read OCCURS)</a:t>
            </a:r>
          </a:p>
          <a:p>
            <a:r>
              <a:rPr lang="en-IN" sz="1100" dirty="0"/>
              <a:t>──────────────────────────────────────────────────</a:t>
            </a:r>
          </a:p>
          <a:p>
            <a:r>
              <a:rPr lang="en-IN" sz="1100" b="1" dirty="0"/>
              <a:t>TX-A                              	TX-B (READ_UNCOMMITTED)</a:t>
            </a:r>
          </a:p>
          <a:p>
            <a:r>
              <a:rPr lang="en-IN" sz="1100" dirty="0"/>
              <a:t>  │                                 	│</a:t>
            </a:r>
          </a:p>
          <a:p>
            <a:r>
              <a:rPr lang="en-IN" sz="1100" dirty="0"/>
              <a:t>  │ UPDATE balance = 99999        │</a:t>
            </a:r>
          </a:p>
          <a:p>
            <a:r>
              <a:rPr lang="en-IN" sz="1100" dirty="0"/>
              <a:t>  │ (NOT committed, in buffer)    │</a:t>
            </a:r>
          </a:p>
          <a:p>
            <a:r>
              <a:rPr lang="en-IN" sz="1100" dirty="0"/>
              <a:t>  │                       	 ──────►  	│ READ balance = 99999 ❌</a:t>
            </a:r>
          </a:p>
          <a:p>
            <a:r>
              <a:rPr lang="en-IN" sz="1100" dirty="0"/>
              <a:t>  │                                 	│ (reads TX-A's uncommitted 	  |		|buffer)</a:t>
            </a:r>
          </a:p>
          <a:p>
            <a:r>
              <a:rPr lang="en-IN" sz="1100" dirty="0"/>
              <a:t>  │ ROLLBACK!                       	│</a:t>
            </a:r>
          </a:p>
          <a:p>
            <a:r>
              <a:rPr lang="en-IN" sz="1100" dirty="0"/>
              <a:t>  │ balance reverts to 1000         	│</a:t>
            </a:r>
          </a:p>
          <a:p>
            <a:r>
              <a:rPr lang="en-IN" sz="1100" dirty="0"/>
              <a:t>  │                                 	│ Already used wrong data 💀</a:t>
            </a:r>
          </a:p>
          <a:p>
            <a:r>
              <a:rPr lang="en-IN" sz="1100" dirty="0"/>
              <a:t>──────────────────────────────────────────────────</a:t>
            </a:r>
          </a:p>
          <a:p>
            <a:endParaRPr lang="en-IN" sz="1100" dirty="0"/>
          </a:p>
          <a:p>
            <a:endParaRPr lang="en-IN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41561A-40DB-1151-E11A-5A5B96DA515D}"/>
              </a:ext>
            </a:extLst>
          </p:cNvPr>
          <p:cNvSpPr txBox="1"/>
          <p:nvPr/>
        </p:nvSpPr>
        <p:spPr>
          <a:xfrm>
            <a:off x="561021" y="3592577"/>
            <a:ext cx="3352801" cy="954107"/>
          </a:xfrm>
          <a:prstGeom prst="rect">
            <a:avLst/>
          </a:prstGeom>
          <a:noFill/>
          <a:ln>
            <a:solidFill>
              <a:srgbClr val="84B5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Transaction B reads </a:t>
            </a:r>
            <a:r>
              <a:rPr lang="en-US" sz="1400" b="1" dirty="0"/>
              <a:t>uncommitted data</a:t>
            </a:r>
            <a:r>
              <a:rPr lang="en-US" sz="1400" dirty="0"/>
              <a:t> from Transaction A, which later gets </a:t>
            </a:r>
            <a:r>
              <a:rPr lang="en-US" sz="1400" b="1" dirty="0"/>
              <a:t>rolled back</a:t>
            </a:r>
            <a:r>
              <a:rPr lang="en-US" sz="1400" dirty="0"/>
              <a:t> — B read data that never officially existed!</a:t>
            </a:r>
            <a:endParaRPr lang="en-IN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05AEB8-A9A6-4F11-D3FD-086A2EA18BD8}"/>
              </a:ext>
            </a:extLst>
          </p:cNvPr>
          <p:cNvSpPr txBox="1"/>
          <p:nvPr/>
        </p:nvSpPr>
        <p:spPr>
          <a:xfrm>
            <a:off x="4238625" y="1097280"/>
            <a:ext cx="45929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READ_COMMITTED (Dirty Read PREVENTED)</a:t>
            </a:r>
          </a:p>
          <a:p>
            <a:r>
              <a:rPr lang="en-IN" sz="1100" dirty="0"/>
              <a:t>─────────────────────────────────────────────────────</a:t>
            </a:r>
          </a:p>
          <a:p>
            <a:r>
              <a:rPr lang="en-IN" sz="1100" b="1" dirty="0"/>
              <a:t>TX-A   </a:t>
            </a:r>
            <a:r>
              <a:rPr lang="en-IN" sz="1100" dirty="0"/>
              <a:t>                           	</a:t>
            </a:r>
            <a:r>
              <a:rPr lang="en-IN" sz="1100" b="1" dirty="0"/>
              <a:t>TX-B (READ_COMMITTED)</a:t>
            </a:r>
          </a:p>
          <a:p>
            <a:r>
              <a:rPr lang="en-IN" sz="1100" dirty="0"/>
              <a:t>  │                                 	  	│</a:t>
            </a:r>
          </a:p>
          <a:p>
            <a:r>
              <a:rPr lang="en-IN" sz="1100" dirty="0"/>
              <a:t>  │ UPDATE balance = 99999         	 |</a:t>
            </a:r>
          </a:p>
          <a:p>
            <a:r>
              <a:rPr lang="en-IN" sz="1100" dirty="0"/>
              <a:t>  │ (NOT committed, in buffer)      	│</a:t>
            </a:r>
          </a:p>
          <a:p>
            <a:r>
              <a:rPr lang="en-IN" sz="1100" dirty="0"/>
              <a:t>  |			|</a:t>
            </a:r>
          </a:p>
          <a:p>
            <a:r>
              <a:rPr lang="en-IN" sz="1100" dirty="0"/>
              <a:t>│                        		──────►  	│ READ balance = ??? </a:t>
            </a:r>
          </a:p>
          <a:p>
            <a:r>
              <a:rPr lang="en-IN" sz="1100" dirty="0"/>
              <a:t>  │                                 		│ "Has TX-A committed?" →      |			| NO</a:t>
            </a:r>
          </a:p>
          <a:p>
            <a:r>
              <a:rPr lang="en-IN" sz="1100" dirty="0"/>
              <a:t>  │                                 		│ "Then I skip TX-A's buffer"</a:t>
            </a:r>
          </a:p>
          <a:p>
            <a:r>
              <a:rPr lang="en-IN" sz="1100" dirty="0"/>
              <a:t>  │                                 		│ READ last committed =         |			| 1000 ✅</a:t>
            </a:r>
          </a:p>
          <a:p>
            <a:r>
              <a:rPr lang="en-IN" sz="1100" dirty="0"/>
              <a:t>  │ ROLLBACK!                       		│</a:t>
            </a:r>
          </a:p>
          <a:p>
            <a:r>
              <a:rPr lang="en-IN" sz="1100" dirty="0"/>
              <a:t>  │ balance reverts to 1000         		│</a:t>
            </a:r>
          </a:p>
          <a:p>
            <a:r>
              <a:rPr lang="en-IN" sz="1100" dirty="0"/>
              <a:t>  │                                 		│ TX-B already read correct 			|  data ✅</a:t>
            </a:r>
          </a:p>
          <a:p>
            <a:r>
              <a:rPr lang="en-IN" sz="1100" dirty="0"/>
              <a:t>──────────────────────────────────────────────────────</a:t>
            </a:r>
          </a:p>
        </p:txBody>
      </p:sp>
    </p:spTree>
    <p:extLst>
      <p:ext uri="{BB962C8B-B14F-4D97-AF65-F5344CB8AC3E}">
        <p14:creationId xmlns:p14="http://schemas.microsoft.com/office/powerpoint/2010/main" val="1384159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92C01-3BE9-BAFD-D88B-D3638DF39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C73F55-3FD4-2B66-9B4A-8D6FB48EA5ED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1A0BF2-1491-C9B2-63D0-1C87586CABC7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666CA46-3527-6546-E261-266C3293EF09}"/>
              </a:ext>
            </a:extLst>
          </p:cNvPr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</a:t>
            </a:r>
            <a:endParaRPr lang="en-US" sz="3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4F9037-624E-4BF2-A420-AACEF0845B1F}"/>
              </a:ext>
            </a:extLst>
          </p:cNvPr>
          <p:cNvSpPr txBox="1"/>
          <p:nvPr/>
        </p:nvSpPr>
        <p:spPr>
          <a:xfrm>
            <a:off x="4238625" y="1097280"/>
            <a:ext cx="4592954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TX-1 (REPEATABLE_READ)                   	TX-2</a:t>
            </a:r>
          </a:p>
          <a:p>
            <a:r>
              <a:rPr lang="en-IN" sz="1100" dirty="0"/>
              <a:t>─────────────────────────────────────────────────────--------</a:t>
            </a:r>
            <a:endParaRPr lang="en-IN" sz="1100" b="1" dirty="0"/>
          </a:p>
          <a:p>
            <a:r>
              <a:rPr lang="en-IN" sz="1100" b="1" dirty="0"/>
              <a:t> </a:t>
            </a:r>
            <a:r>
              <a:rPr lang="en-IN" sz="1100" dirty="0"/>
              <a:t> │                                        		│</a:t>
            </a:r>
          </a:p>
          <a:p>
            <a:r>
              <a:rPr lang="en-IN" sz="1100" dirty="0"/>
              <a:t>  │ READ balance → 1000.0                  	│</a:t>
            </a:r>
          </a:p>
          <a:p>
            <a:r>
              <a:rPr lang="en-IN" sz="1100" dirty="0"/>
              <a:t>  │ DB takes snapshot of this row 	| snapshot: {id:1,                        at this exact moment 		| balance:1000.0}</a:t>
            </a:r>
          </a:p>
          <a:p>
            <a:r>
              <a:rPr lang="en-IN" sz="1100" dirty="0"/>
              <a:t>  │ 			│</a:t>
            </a:r>
          </a:p>
          <a:p>
            <a:r>
              <a:rPr lang="en-IN" sz="1100" dirty="0"/>
              <a:t>  │                                        		│</a:t>
            </a:r>
          </a:p>
          <a:p>
            <a:r>
              <a:rPr lang="en-IN" sz="1100" dirty="0"/>
              <a:t>  │                                        		│ UPDATE balance = 333.0</a:t>
            </a:r>
          </a:p>
          <a:p>
            <a:r>
              <a:rPr lang="en-IN" sz="1100" dirty="0"/>
              <a:t>  │                                        		│ COMMIT ✅</a:t>
            </a:r>
          </a:p>
          <a:p>
            <a:r>
              <a:rPr lang="en-IN" sz="1100" dirty="0"/>
              <a:t>  │                                        		│ (row updated in DB)</a:t>
            </a:r>
          </a:p>
          <a:p>
            <a:r>
              <a:rPr lang="en-IN" sz="1100" dirty="0"/>
              <a:t>  │                                        		│</a:t>
            </a:r>
          </a:p>
          <a:p>
            <a:r>
              <a:rPr lang="en-IN" sz="1100" dirty="0"/>
              <a:t>  │ READ balance → 1000.0 ✅               	│</a:t>
            </a:r>
          </a:p>
          <a:p>
            <a:r>
              <a:rPr lang="en-IN" sz="1100" dirty="0"/>
              <a:t>  │ (reads from snapshot, not live DB!)    	│</a:t>
            </a:r>
          </a:p>
          <a:p>
            <a:r>
              <a:rPr lang="en-IN" sz="1100" dirty="0"/>
              <a:t>  │ "My snapshot says 1000, I return 1000" 	│</a:t>
            </a:r>
          </a:p>
          <a:p>
            <a:r>
              <a:rPr lang="en-IN" sz="1100" dirty="0"/>
              <a:t>  │                                        		│</a:t>
            </a:r>
          </a:p>
          <a:p>
            <a:r>
              <a:rPr lang="en-IN" sz="1100" dirty="0"/>
              <a:t>  │ TX-1 COMMITS                           	│</a:t>
            </a:r>
          </a:p>
          <a:p>
            <a:r>
              <a:rPr lang="en-IN" sz="1100" dirty="0"/>
              <a:t>  │ NOW sees 333.0 (snapshot released)     	│</a:t>
            </a:r>
          </a:p>
          <a:p>
            <a:r>
              <a:rPr lang="en-IN" sz="1100" dirty="0"/>
              <a:t>─────────────────────────────────────────────────────────</a:t>
            </a:r>
          </a:p>
          <a:p>
            <a:r>
              <a:rPr lang="en-IN" sz="1400" dirty="0"/>
              <a:t>✅ Same query, same transaction, SAME result every time!</a:t>
            </a:r>
          </a:p>
          <a:p>
            <a:r>
              <a:rPr lang="en-IN" sz="1400" dirty="0"/>
              <a:t>   Non-Repeatable Read PREVENTED!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56FA4-BD47-0CB0-18CD-9C4DAA46B113}"/>
              </a:ext>
            </a:extLst>
          </p:cNvPr>
          <p:cNvSpPr txBox="1"/>
          <p:nvPr/>
        </p:nvSpPr>
        <p:spPr>
          <a:xfrm>
            <a:off x="411480" y="1097280"/>
            <a:ext cx="3827145" cy="348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TX-1 (READ_COMMITTED) 	TX-2</a:t>
            </a:r>
          </a:p>
          <a:p>
            <a:r>
              <a:rPr lang="en-IN" sz="1050" dirty="0"/>
              <a:t>─────────────────────────────────────────────────────</a:t>
            </a:r>
            <a:endParaRPr lang="en-IN" sz="1050" b="1" dirty="0"/>
          </a:p>
          <a:p>
            <a:r>
              <a:rPr lang="en-IN" sz="1050" dirty="0"/>
              <a:t>  │                                        	│</a:t>
            </a:r>
          </a:p>
          <a:p>
            <a:r>
              <a:rPr lang="en-IN" sz="1050" dirty="0"/>
              <a:t>  │ READ balance → 1000.0            	│</a:t>
            </a:r>
          </a:p>
          <a:p>
            <a:r>
              <a:rPr lang="en-IN" sz="1050" dirty="0"/>
              <a:t>  │ (first read)                           	│</a:t>
            </a:r>
          </a:p>
          <a:p>
            <a:r>
              <a:rPr lang="en-IN" sz="1050" dirty="0"/>
              <a:t>  │                                        	│</a:t>
            </a:r>
          </a:p>
          <a:p>
            <a:r>
              <a:rPr lang="en-IN" sz="1050" dirty="0"/>
              <a:t>  │                                        	│ UPDATE balance = 333.0</a:t>
            </a:r>
          </a:p>
          <a:p>
            <a:r>
              <a:rPr lang="en-IN" sz="1050" dirty="0"/>
              <a:t>  │                                        	│ COMMIT ✅</a:t>
            </a:r>
          </a:p>
          <a:p>
            <a:r>
              <a:rPr lang="en-IN" sz="1050" dirty="0"/>
              <a:t>  │                                        	│</a:t>
            </a:r>
          </a:p>
          <a:p>
            <a:r>
              <a:rPr lang="en-IN" sz="1050" dirty="0"/>
              <a:t>  │ READ balance → 333.0 ❌       │</a:t>
            </a:r>
          </a:p>
          <a:p>
            <a:r>
              <a:rPr lang="en-IN" sz="1050" dirty="0"/>
              <a:t>  │ (second read — 	|</a:t>
            </a:r>
          </a:p>
          <a:p>
            <a:r>
              <a:rPr lang="en-IN" sz="1050" dirty="0"/>
              <a:t>  |DIFFERENT VALUE!)       	│</a:t>
            </a:r>
          </a:p>
          <a:p>
            <a:r>
              <a:rPr lang="en-IN" sz="1050" dirty="0"/>
              <a:t>  │                                        	│</a:t>
            </a:r>
          </a:p>
          <a:p>
            <a:r>
              <a:rPr lang="en-IN" sz="1050" dirty="0"/>
              <a:t>  │ "Wait... I read 1000 just now,   │</a:t>
            </a:r>
          </a:p>
          <a:p>
            <a:r>
              <a:rPr lang="en-IN" sz="1050" dirty="0"/>
              <a:t>  │  why is it 333 now?!"                  │</a:t>
            </a:r>
          </a:p>
          <a:p>
            <a:r>
              <a:rPr lang="en-IN" sz="1050" dirty="0"/>
              <a:t>  │                                        	│  </a:t>
            </a:r>
          </a:p>
          <a:p>
            <a:r>
              <a:rPr lang="en-IN" sz="1050" dirty="0"/>
              <a:t>─────────────────────────────────────────────────────</a:t>
            </a:r>
            <a:r>
              <a:rPr lang="en-IN" sz="1400" dirty="0"/>
              <a:t>❌ Same query, same transaction, DIFFERENT results!</a:t>
            </a:r>
          </a:p>
          <a:p>
            <a:r>
              <a:rPr lang="en-IN" sz="1400" dirty="0"/>
              <a:t>   This is Non-Repeatable Read!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499222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61738-65E8-A432-07FD-61065DD4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494D1F-D825-EE03-ECBE-9439DF589645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A71471-B0A6-FC86-A2C3-B9D7949C1DBC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2F6D20-6287-E061-E126-84757AAC6B92}"/>
              </a:ext>
            </a:extLst>
          </p:cNvPr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</a:t>
            </a:r>
            <a:endParaRPr lang="en-US" sz="3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70B1BE-A3EE-A835-926F-55DEFAA116C7}"/>
              </a:ext>
            </a:extLst>
          </p:cNvPr>
          <p:cNvSpPr txBox="1"/>
          <p:nvPr/>
        </p:nvSpPr>
        <p:spPr>
          <a:xfrm>
            <a:off x="4238625" y="1097280"/>
            <a:ext cx="4592954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TX-1 (SERIALIZABLE)                      	TX-2</a:t>
            </a:r>
          </a:p>
          <a:p>
            <a:r>
              <a:rPr lang="en-IN" sz="1100" dirty="0"/>
              <a:t>──────────────────────────────────────────────────────</a:t>
            </a:r>
            <a:endParaRPr lang="en-IN" sz="1100" b="1" dirty="0"/>
          </a:p>
          <a:p>
            <a:r>
              <a:rPr lang="en-IN" sz="1100" dirty="0"/>
              <a:t>  │                                        		│</a:t>
            </a:r>
          </a:p>
          <a:p>
            <a:r>
              <a:rPr lang="en-IN" sz="1100" dirty="0"/>
              <a:t>  │ SELECT * WHERE balance &gt; 1000          	│</a:t>
            </a:r>
          </a:p>
          <a:p>
            <a:r>
              <a:rPr lang="en-IN" sz="1100" dirty="0"/>
              <a:t>  │ Result → [Alice 1500, Bob 2000]        	│</a:t>
            </a:r>
          </a:p>
          <a:p>
            <a:r>
              <a:rPr lang="en-IN" sz="1100" dirty="0"/>
              <a:t>  │ count  → 2 rows                        	│</a:t>
            </a:r>
          </a:p>
          <a:p>
            <a:r>
              <a:rPr lang="en-IN" sz="1100" dirty="0"/>
              <a:t>  │                                        		│</a:t>
            </a:r>
          </a:p>
          <a:p>
            <a:r>
              <a:rPr lang="en-IN" sz="1100" dirty="0"/>
              <a:t>  │ DB locks the entire RANGE              	│</a:t>
            </a:r>
          </a:p>
          <a:p>
            <a:r>
              <a:rPr lang="en-IN" sz="1100" dirty="0"/>
              <a:t>  │ "balance &gt; 1000" ──────────────────── ►│ INSERT Phantom (balance 			| 9999)</a:t>
            </a:r>
          </a:p>
          <a:p>
            <a:r>
              <a:rPr lang="en-IN" sz="1100" dirty="0"/>
              <a:t>  │                                        		│ TX-2 BLOCKED! ⏳</a:t>
            </a:r>
          </a:p>
          <a:p>
            <a:r>
              <a:rPr lang="en-IN" sz="1100" dirty="0"/>
              <a:t>  │                                        		│ waiting for TX-1 to finish...</a:t>
            </a:r>
          </a:p>
          <a:p>
            <a:r>
              <a:rPr lang="en-IN" sz="1100" dirty="0"/>
              <a:t>  │ SELECT * WHERE balance &gt; 1000          	│</a:t>
            </a:r>
          </a:p>
          <a:p>
            <a:r>
              <a:rPr lang="en-IN" sz="1100" dirty="0"/>
              <a:t>  │ Result → [Alice 1500, Bob 2000] ✅     	│</a:t>
            </a:r>
          </a:p>
          <a:p>
            <a:r>
              <a:rPr lang="en-IN" sz="1100" dirty="0"/>
              <a:t>  │ count  → 2 rows (no phantom!)          	│</a:t>
            </a:r>
          </a:p>
          <a:p>
            <a:r>
              <a:rPr lang="en-IN" sz="1100" dirty="0"/>
              <a:t>  │                                        		│</a:t>
            </a:r>
          </a:p>
          <a:p>
            <a:r>
              <a:rPr lang="en-IN" sz="1100" dirty="0"/>
              <a:t>  │ TX-1 COMMITS                           	│</a:t>
            </a:r>
          </a:p>
          <a:p>
            <a:r>
              <a:rPr lang="en-IN" sz="1100" dirty="0"/>
              <a:t>  │                                 ───── ►		│ TX-2 now allowed to 			| INSERT ✅</a:t>
            </a:r>
          </a:p>
          <a:p>
            <a:r>
              <a:rPr lang="en-IN" sz="1100" dirty="0"/>
              <a:t>  │                                        		│ COMMIT</a:t>
            </a:r>
          </a:p>
          <a:p>
            <a:r>
              <a:rPr lang="en-IN" sz="1100" dirty="0"/>
              <a:t>─────────────────────────────────────────────────────────</a:t>
            </a:r>
          </a:p>
          <a:p>
            <a:r>
              <a:rPr lang="en-IN" sz="1400" dirty="0"/>
              <a:t>✅ Same query, same transaction, SAME rows every time!</a:t>
            </a:r>
          </a:p>
          <a:p>
            <a:r>
              <a:rPr lang="en-IN" sz="1400" dirty="0"/>
              <a:t>   Phantom Read PREVENTED!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CBB49E-ED69-8698-AFA3-5576D892A2AE}"/>
              </a:ext>
            </a:extLst>
          </p:cNvPr>
          <p:cNvSpPr txBox="1"/>
          <p:nvPr/>
        </p:nvSpPr>
        <p:spPr>
          <a:xfrm>
            <a:off x="411480" y="1097280"/>
            <a:ext cx="3827145" cy="3916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TX-1 (READ_COMMITTED)                   	TX-2</a:t>
            </a:r>
          </a:p>
          <a:p>
            <a:r>
              <a:rPr lang="en-IN" sz="1050" dirty="0"/>
              <a:t>──────────────────────────────────────────────────────</a:t>
            </a:r>
          </a:p>
          <a:p>
            <a:r>
              <a:rPr lang="en-IN" sz="1050" dirty="0"/>
              <a:t>  │                                        		│</a:t>
            </a:r>
          </a:p>
          <a:p>
            <a:r>
              <a:rPr lang="en-IN" sz="1050" dirty="0"/>
              <a:t>  │ SELECT * WHERE balance &gt; 1000          	│</a:t>
            </a:r>
          </a:p>
          <a:p>
            <a:r>
              <a:rPr lang="en-IN" sz="1050" dirty="0"/>
              <a:t>  │ Result → [Alice 1500, Bob 2000]        	│</a:t>
            </a:r>
          </a:p>
          <a:p>
            <a:r>
              <a:rPr lang="en-IN" sz="1050" dirty="0"/>
              <a:t>  │ count  → 2 rows                        		│</a:t>
            </a:r>
          </a:p>
          <a:p>
            <a:r>
              <a:rPr lang="en-IN" sz="1050" dirty="0"/>
              <a:t>  │                                        		│</a:t>
            </a:r>
          </a:p>
          <a:p>
            <a:r>
              <a:rPr lang="en-IN" sz="1050" dirty="0"/>
              <a:t>  │                                        		│ INSERT 			Phantom 			(balance 9999)</a:t>
            </a:r>
          </a:p>
          <a:p>
            <a:r>
              <a:rPr lang="en-IN" sz="1050" dirty="0"/>
              <a:t>  │                                        		│ COMMIT ✅</a:t>
            </a:r>
          </a:p>
          <a:p>
            <a:r>
              <a:rPr lang="en-IN" sz="1050" dirty="0"/>
              <a:t>  │                                        		│</a:t>
            </a:r>
          </a:p>
          <a:p>
            <a:r>
              <a:rPr lang="en-IN" sz="1050" dirty="0"/>
              <a:t>  │ SELECT * WHERE balance &gt; 1000          	│</a:t>
            </a:r>
          </a:p>
          <a:p>
            <a:r>
              <a:rPr lang="en-IN" sz="1050" dirty="0"/>
              <a:t>  │ Result → [Alice 1500, Bob 2000,        	│</a:t>
            </a:r>
          </a:p>
          <a:p>
            <a:r>
              <a:rPr lang="en-IN" sz="1050" dirty="0"/>
              <a:t>  │           Phantom 9999] ❌             	│</a:t>
            </a:r>
          </a:p>
          <a:p>
            <a:r>
              <a:rPr lang="en-IN" sz="1050" dirty="0"/>
              <a:t>  │ count  → 3 rows                        		│</a:t>
            </a:r>
          </a:p>
          <a:p>
            <a:r>
              <a:rPr lang="en-IN" sz="1050" dirty="0"/>
              <a:t>  │                                        		│</a:t>
            </a:r>
          </a:p>
          <a:p>
            <a:r>
              <a:rPr lang="en-IN" sz="1050" dirty="0"/>
              <a:t>  │ "Wait... where did this                	│</a:t>
            </a:r>
          </a:p>
          <a:p>
            <a:r>
              <a:rPr lang="en-IN" sz="1050" dirty="0"/>
              <a:t>  │  new row come from?!" 😱               	│</a:t>
            </a:r>
          </a:p>
          <a:p>
            <a:r>
              <a:rPr lang="en-IN" sz="1050" dirty="0"/>
              <a:t>  │                                        		│</a:t>
            </a:r>
          </a:p>
          <a:p>
            <a:r>
              <a:rPr lang="en-IN" sz="1050" dirty="0"/>
              <a:t>──────────────────────────────────────────────────────</a:t>
            </a:r>
          </a:p>
          <a:p>
            <a:r>
              <a:rPr lang="en-IN" sz="1400" dirty="0"/>
              <a:t>❌ Same query, same transaction, NEW row appeared!  This is Phantom Read!</a:t>
            </a:r>
          </a:p>
        </p:txBody>
      </p:sp>
    </p:spTree>
    <p:extLst>
      <p:ext uri="{BB962C8B-B14F-4D97-AF65-F5344CB8AC3E}">
        <p14:creationId xmlns:p14="http://schemas.microsoft.com/office/powerpoint/2010/main" val="624348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 Comparison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98423"/>
            <a:ext cx="2286000" cy="329184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1098423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97480" y="1098423"/>
            <a:ext cx="1417320" cy="329184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70632" y="1098423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60520" y="1098423"/>
            <a:ext cx="1554480" cy="329184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33672" y="1098423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60720" y="1098423"/>
            <a:ext cx="1280160" cy="329184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33872" y="1098423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86600" y="1098423"/>
            <a:ext cx="1691640" cy="329184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159752" y="1098423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464183"/>
            <a:ext cx="84124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1509903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READ_UNCOMMITTED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97480" y="1509903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60520" y="150990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150990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86600" y="1537335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/ approx. counts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1967103"/>
            <a:ext cx="841248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2012823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READ_COMMITTED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97480" y="2012823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60520" y="201282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201282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86600" y="2040255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web apps (PG / Oracle default)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470023"/>
            <a:ext cx="84124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2515743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REPEATABLE_READ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97480" y="2515743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60520" y="251574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251574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2543175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(MySQL InnoDB default)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2972943"/>
            <a:ext cx="841248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3018663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SERIALIZABLE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97480" y="3018663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60520" y="3018663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0720" y="301866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3046095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/ seat booking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356730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example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3878198"/>
            <a:ext cx="8412480" cy="1151001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5488" y="3951351"/>
            <a:ext cx="819302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Prevent stale balance reads in a financial operation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@Transactional(isolation = Isolation.REPEATABLE_READ)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generateStatement(Long accountId)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BigDecimal open  = accountRepo.findBalance(accountId);  // 1000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processing ...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BigDecimal same  = accountRepo.findBalance(accountId);  // still 1000 ✓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Other transactions cannot change this row until our TX completes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C4297-7426-6FB9-2BFC-2C219553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5CE075-D2BC-3604-395F-710FEFC2FB53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450332-C803-863F-9FA3-18197626F7AE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B56CEE-6656-46F6-8D6E-F72939C213D0}"/>
              </a:ext>
            </a:extLst>
          </p:cNvPr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Isolation Levels</a:t>
            </a:r>
            <a:endParaRPr lang="en-US" sz="3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888BBC-BAE3-F0FC-FF43-12B73C5DA124}"/>
              </a:ext>
            </a:extLst>
          </p:cNvPr>
          <p:cNvSpPr txBox="1"/>
          <p:nvPr/>
        </p:nvSpPr>
        <p:spPr>
          <a:xfrm>
            <a:off x="485774" y="1266825"/>
            <a:ext cx="82467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Spring Framework, the default isolation level for a transaction is </a:t>
            </a:r>
            <a:r>
              <a:rPr lang="en-US" b="1" dirty="0" err="1"/>
              <a:t>Isolation.DEFAULT</a:t>
            </a:r>
            <a:r>
              <a:rPr lang="en-US" dirty="0"/>
              <a:t>. </a:t>
            </a:r>
          </a:p>
          <a:p>
            <a:r>
              <a:rPr lang="en-US" dirty="0"/>
              <a:t>This setting instructs Spring to use the </a:t>
            </a:r>
            <a:r>
              <a:rPr lang="en-US" b="1" dirty="0"/>
              <a:t>default isolation level of the underlying database</a:t>
            </a:r>
            <a:r>
              <a:rPr lang="en-US" dirty="0"/>
              <a:t> (datastore) being used.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Google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"/>
              </a:rPr>
              <a:t>[MySQL (</a:t>
            </a:r>
            <a:r>
              <a:rPr lang="en-US" altLang="en-US" b="1" dirty="0" err="1">
                <a:latin typeface="Google Sans"/>
              </a:rPr>
              <a:t>InnoDB</a:t>
            </a:r>
            <a:r>
              <a:rPr lang="en-US" altLang="en-US" b="1" dirty="0">
                <a:latin typeface="Google Sans"/>
              </a:rPr>
              <a:t>)]:</a:t>
            </a:r>
            <a:r>
              <a:rPr lang="en-US" altLang="en-US" dirty="0">
                <a:latin typeface="Google Sans"/>
              </a:rPr>
              <a:t> REPEATABLE READ.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"/>
              </a:rPr>
              <a:t>[PostgreSQL]:</a:t>
            </a:r>
            <a:r>
              <a:rPr lang="en-US" altLang="en-US" dirty="0">
                <a:latin typeface="Google Sans"/>
              </a:rPr>
              <a:t> READ COMMITTED.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"/>
              </a:rPr>
              <a:t>[SQL Server]:</a:t>
            </a:r>
            <a:r>
              <a:rPr lang="en-US" altLang="en-US" dirty="0">
                <a:latin typeface="Google Sans"/>
              </a:rPr>
              <a:t> READ COMMITTED.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Google Sans"/>
              </a:rPr>
              <a:t>[Oracle]:</a:t>
            </a:r>
            <a:r>
              <a:rPr lang="en-US" altLang="en-US" dirty="0">
                <a:latin typeface="Google Sans"/>
              </a:rPr>
              <a:t> READ COMMITTED.</a:t>
            </a:r>
            <a:r>
              <a:rPr lang="en-US" altLang="en-US" sz="800" dirty="0"/>
              <a:t> </a:t>
            </a:r>
            <a:endParaRPr lang="en-US" altLang="en-US" sz="28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2091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N+1 Problem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990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N entities triggers N additional queries to load associations — 1 + N total queries.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31595"/>
            <a:ext cx="4114800" cy="256032"/>
          </a:xfrm>
          <a:prstGeom prst="rect">
            <a:avLst/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331595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N+1 queries with LAZY loading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33347"/>
            <a:ext cx="41148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" y="1706499"/>
            <a:ext cx="389534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@Transactional(readOnly = true)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List&lt;Order&gt; getAllOrders()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 query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List&lt;Order&gt; orders = orderRepo.findAll();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(Order o : orders)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1 query PER order!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o.getItems().size();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1000 orders = 1001 queries!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331595"/>
            <a:ext cx="411480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331595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Solution: JOIN FETCH (1 query)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633347"/>
            <a:ext cx="41148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73168" y="1706499"/>
            <a:ext cx="389534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OrderRepository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JpaRepository&lt;Order, Long&gt; {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JPQL JOIN FETCH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@Query("SELECT o FROM Order 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JOIN FETCH o.items")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List&lt;Order&gt; findAllWithItems();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Single query — any number of orders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681603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Solutions at a glance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01643"/>
            <a:ext cx="41148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4001643"/>
            <a:ext cx="5486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4038219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FETCH (JPQL)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4239387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JPQL JOIN FETCH — best performance for known associations.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4504563"/>
            <a:ext cx="41148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4504563"/>
            <a:ext cx="5486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30352" y="4541139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@EntityGraph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4742307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LEFT JOIN FETCH via Spring Data annotation.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17720" y="4001643"/>
            <a:ext cx="41148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17720" y="4001643"/>
            <a:ext cx="5486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82312" y="4038219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@BatchSize(size=N)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82312" y="4239387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loads N records' associations in one query — ceil(N/50).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17720" y="4504563"/>
            <a:ext cx="41148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17720" y="4504563"/>
            <a:ext cx="5486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82312" y="4541139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 Projections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82312" y="4742307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only needed fields via constructor expression — no lazy loading.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Solutions — Code Examples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64133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@EntityGraph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38453"/>
            <a:ext cx="4114800" cy="74980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1411605"/>
            <a:ext cx="389534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@EntityGraph(attributePaths = {"items","customer"})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List&lt;Order&gt; findByStatus(String status);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 generates LEFT JOIN FETCH automatically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0" y="1064133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@BatchSize (Hibernate)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38453"/>
            <a:ext cx="4114800" cy="74980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73168" y="1411605"/>
            <a:ext cx="389534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@OneToMany(mappedBy="order", fetch=FetchType.LAZY)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@BatchSize(size = 50)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List&lt;OrderItem&gt; items;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1000 orders → 20 queries (ceil(1000/50))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216277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Projection (fastest)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77262"/>
            <a:ext cx="8412480" cy="12618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" y="2477262"/>
            <a:ext cx="819302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@Query("""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new com.app.dto.OrderSummary(o.id, o.total, COUNT(oi))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Order o LEFT JOIN o.items oi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o.userId = :userId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o.id, o.total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List&lt;OrderSummary&gt; findOrderSummaries(@Param("userId") Long userId);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entity = no lazy loading possible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807333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N+1 in development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09085"/>
            <a:ext cx="841248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" y="4182237"/>
            <a:ext cx="819302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application.yml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spring.jpa.show-sql: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spring.jpa.properties.hibernate.generate_statistics: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datasource-proxy / p6spy to count exact queries per request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9914A-8DB4-14A0-F0B7-B3FB8052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184BAF-5589-7E45-12B9-EBABB6AA9D6F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31CF49-C6DD-800E-6E96-C49274B43BD9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PROBLEM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D59E02-0D3A-3F11-3737-CC28551E8904}"/>
              </a:ext>
            </a:extLst>
          </p:cNvPr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Solutions Comparison</a:t>
            </a:r>
            <a:endParaRPr lang="en-US" sz="30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B257F37-0442-2881-5F0F-FD6BF1C3D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567432"/>
              </p:ext>
            </p:extLst>
          </p:nvPr>
        </p:nvGraphicFramePr>
        <p:xfrm>
          <a:off x="411479" y="1179513"/>
          <a:ext cx="8399144" cy="3579390"/>
        </p:xfrm>
        <a:graphic>
          <a:graphicData uri="http://schemas.openxmlformats.org/drawingml/2006/table">
            <a:tbl>
              <a:tblPr/>
              <a:tblGrid>
                <a:gridCol w="1017271">
                  <a:extLst>
                    <a:ext uri="{9D8B030D-6E8A-4147-A177-3AD203B41FA5}">
                      <a16:colId xmlns:a16="http://schemas.microsoft.com/office/drawing/2014/main" val="1146164466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43505139"/>
                    </a:ext>
                  </a:extLst>
                </a:gridCol>
                <a:gridCol w="1246583">
                  <a:extLst>
                    <a:ext uri="{9D8B030D-6E8A-4147-A177-3AD203B41FA5}">
                      <a16:colId xmlns:a16="http://schemas.microsoft.com/office/drawing/2014/main" val="113380427"/>
                    </a:ext>
                  </a:extLst>
                </a:gridCol>
                <a:gridCol w="1049893">
                  <a:extLst>
                    <a:ext uri="{9D8B030D-6E8A-4147-A177-3AD203B41FA5}">
                      <a16:colId xmlns:a16="http://schemas.microsoft.com/office/drawing/2014/main" val="3106879691"/>
                    </a:ext>
                  </a:extLst>
                </a:gridCol>
                <a:gridCol w="1049893">
                  <a:extLst>
                    <a:ext uri="{9D8B030D-6E8A-4147-A177-3AD203B41FA5}">
                      <a16:colId xmlns:a16="http://schemas.microsoft.com/office/drawing/2014/main" val="1201569576"/>
                    </a:ext>
                  </a:extLst>
                </a:gridCol>
                <a:gridCol w="1049893">
                  <a:extLst>
                    <a:ext uri="{9D8B030D-6E8A-4147-A177-3AD203B41FA5}">
                      <a16:colId xmlns:a16="http://schemas.microsoft.com/office/drawing/2014/main" val="2672766737"/>
                    </a:ext>
                  </a:extLst>
                </a:gridCol>
                <a:gridCol w="1049893">
                  <a:extLst>
                    <a:ext uri="{9D8B030D-6E8A-4147-A177-3AD203B41FA5}">
                      <a16:colId xmlns:a16="http://schemas.microsoft.com/office/drawing/2014/main" val="4270865718"/>
                    </a:ext>
                  </a:extLst>
                </a:gridCol>
                <a:gridCol w="1049893">
                  <a:extLst>
                    <a:ext uri="{9D8B030D-6E8A-4147-A177-3AD203B41FA5}">
                      <a16:colId xmlns:a16="http://schemas.microsoft.com/office/drawing/2014/main" val="1098708739"/>
                    </a:ext>
                  </a:extLst>
                </a:gridCol>
              </a:tblGrid>
              <a:tr h="50747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1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1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Pagination Safe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N+1 Safe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Cases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498982"/>
                  </a:ext>
                </a:extLst>
              </a:tr>
              <a:tr h="50747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FETCH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Fast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Medium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Medium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Small datasets, No pagination</a:t>
                      </a:r>
                      <a:endParaRPr lang="en-IN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459755"/>
                  </a:ext>
                </a:extLst>
              </a:tr>
              <a:tr h="50747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EntityGraph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Good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Low–Medium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Low–Medium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Pagination is required</a:t>
                      </a:r>
                      <a:endParaRPr lang="en-IN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295842"/>
                  </a:ext>
                </a:extLst>
              </a:tr>
              <a:tr h="50747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@BatchSize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 + N/50</a:t>
                      </a:r>
                      <a:endParaRPr lang="en-IN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Medium–Good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Very low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Medium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Partial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Large entity graphs accessed iteratively</a:t>
                      </a:r>
                      <a:endParaRPr lang="en-IN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612750"/>
                  </a:ext>
                </a:extLst>
              </a:tr>
              <a:tr h="50747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DTO Projection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Best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High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Lowest runtime but No Dirty checking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Large datasets (1000s of rows)</a:t>
                      </a:r>
                      <a:endParaRPr lang="en-IN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72496" marR="72496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007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945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456E5C3C-FADA-57BC-5661-C15A8EAA2D01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AE6183E-7445-36E3-A72C-778C63945735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CCF51-AEB4-29EB-B5CF-6968EF217E91}"/>
              </a:ext>
            </a:extLst>
          </p:cNvPr>
          <p:cNvSpPr txBox="1"/>
          <p:nvPr/>
        </p:nvSpPr>
        <p:spPr>
          <a:xfrm>
            <a:off x="365760" y="647700"/>
            <a:ext cx="8311515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</a:t>
            </a:r>
            <a:r>
              <a:rPr lang="en-US" b="1" dirty="0"/>
              <a:t>Why REQUIRES_NEW is Expensive Internally</a:t>
            </a:r>
          </a:p>
          <a:p>
            <a:r>
              <a:rPr lang="en-US" sz="1400" dirty="0"/>
              <a:t>Step 1: suspend old transaction</a:t>
            </a:r>
            <a:br>
              <a:rPr lang="en-US" sz="1400" dirty="0"/>
            </a:br>
            <a:r>
              <a:rPr lang="en-US" sz="1400" dirty="0"/>
              <a:t>Step 2: get NEW DB connection</a:t>
            </a:r>
            <a:br>
              <a:rPr lang="en-US" sz="1400" dirty="0"/>
            </a:br>
            <a:r>
              <a:rPr lang="en-US" sz="1400" dirty="0"/>
              <a:t>Step 3: start NEW transaction</a:t>
            </a:r>
            <a:br>
              <a:rPr lang="en-US" sz="1400" dirty="0"/>
            </a:br>
            <a:r>
              <a:rPr lang="en-US" sz="1400" dirty="0"/>
              <a:t>Step 4: commit NEW transaction</a:t>
            </a:r>
            <a:br>
              <a:rPr lang="en-US" sz="1400" dirty="0"/>
            </a:br>
            <a:r>
              <a:rPr lang="en-US" sz="1400" dirty="0"/>
              <a:t>Step 5: resume old transaction</a:t>
            </a:r>
          </a:p>
          <a:p>
            <a:endParaRPr lang="en-US" sz="1400" dirty="0"/>
          </a:p>
          <a:p>
            <a:r>
              <a:rPr lang="en-US" sz="1400" b="1" dirty="0"/>
              <a:t>Reasons :  </a:t>
            </a:r>
          </a:p>
          <a:p>
            <a:pPr marL="228600" indent="-228600">
              <a:buAutoNum type="arabicPeriod"/>
            </a:pPr>
            <a:r>
              <a:rPr lang="en-US" sz="1400" dirty="0"/>
              <a:t>Connection switching cost</a:t>
            </a:r>
          </a:p>
          <a:p>
            <a:pPr marL="228600" indent="-228600">
              <a:buAutoNum type="arabicPeriod"/>
            </a:pPr>
            <a:r>
              <a:rPr lang="en-IN" sz="1400" dirty="0"/>
              <a:t>Transaction boundary flush</a:t>
            </a:r>
          </a:p>
          <a:p>
            <a:pPr lvl="1"/>
            <a:r>
              <a:rPr lang="en-US" sz="1400" dirty="0"/>
              <a:t>Every REQUIRES_NEW:</a:t>
            </a:r>
          </a:p>
          <a:p>
            <a:pPr lvl="1"/>
            <a:r>
              <a:rPr lang="en-US" sz="1400" dirty="0"/>
              <a:t>forces flush to DB </a:t>
            </a:r>
          </a:p>
          <a:p>
            <a:pPr lvl="1"/>
            <a:r>
              <a:rPr lang="en-US" sz="1400" dirty="0"/>
              <a:t>forces commit</a:t>
            </a:r>
            <a:endParaRPr lang="en-IN" sz="1400" dirty="0"/>
          </a:p>
          <a:p>
            <a:r>
              <a:rPr lang="en-IN" sz="1400" dirty="0"/>
              <a:t>3. Pool pressure</a:t>
            </a:r>
          </a:p>
          <a:p>
            <a:pPr lvl="1"/>
            <a:r>
              <a:rPr lang="en-US" sz="1400" dirty="0"/>
              <a:t>If many REQUIRES_NEW calls:</a:t>
            </a:r>
          </a:p>
          <a:p>
            <a:pPr lvl="1"/>
            <a:r>
              <a:rPr lang="en-US" sz="1400" dirty="0"/>
              <a:t>Thread A → holds TX1</a:t>
            </a:r>
            <a:br>
              <a:rPr lang="en-US" sz="1400" dirty="0"/>
            </a:br>
            <a:r>
              <a:rPr lang="en-US" sz="1400" dirty="0"/>
              <a:t>Thread A → opens TX2 (REQUIRES_NEW)</a:t>
            </a:r>
            <a:br>
              <a:rPr lang="en-US" sz="1400" dirty="0"/>
            </a:br>
            <a:r>
              <a:rPr lang="en-US" sz="1400" dirty="0"/>
              <a:t>Thread pool gets stressed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64659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C5910-D567-8B1C-09B4-EA12AEC9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295BDABE-452A-EB5A-20E6-C3E4EA829EB8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F4F9466-A4F0-6B0C-4A27-1B83371E7D9A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D7F67-8D58-08F8-5AAC-90C7DB063B20}"/>
              </a:ext>
            </a:extLst>
          </p:cNvPr>
          <p:cNvSpPr txBox="1"/>
          <p:nvPr/>
        </p:nvSpPr>
        <p:spPr>
          <a:xfrm>
            <a:off x="365760" y="647700"/>
            <a:ext cx="831151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2. Why Postgres prevents Dirty read automatically</a:t>
            </a:r>
          </a:p>
          <a:p>
            <a:r>
              <a:rPr lang="en-US" sz="1400" dirty="0"/>
              <a:t>PostgreSQL uses:</a:t>
            </a:r>
          </a:p>
          <a:p>
            <a:r>
              <a:rPr lang="en-US" sz="1400" dirty="0"/>
              <a:t>	</a:t>
            </a:r>
            <a:r>
              <a:rPr lang="en-US" sz="1400" b="1" dirty="0"/>
              <a:t>MVCC (Multi-Version Concurrency Control)</a:t>
            </a:r>
          </a:p>
          <a:p>
            <a:r>
              <a:rPr lang="en-US" sz="1400" dirty="0"/>
              <a:t>which guarantees readers only see committed row versions.</a:t>
            </a:r>
          </a:p>
          <a:p>
            <a:endParaRPr lang="en-US" sz="1400" dirty="0"/>
          </a:p>
          <a:p>
            <a:r>
              <a:rPr lang="en-US" sz="1400" dirty="0"/>
              <a:t>So, this is impossible in PostgreSQL:</a:t>
            </a:r>
          </a:p>
          <a:p>
            <a:pPr lvl="1"/>
            <a:r>
              <a:rPr lang="en-US" sz="1400" dirty="0"/>
              <a:t>T1 updates balance to 5000 (uncommitted)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rgbClr val="FF0000"/>
                </a:solidFill>
              </a:rPr>
              <a:t>T2 reads 5000 before commit</a:t>
            </a:r>
          </a:p>
          <a:p>
            <a:pPr lvl="1"/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/>
              <a:t>PostgreSQL simply will not expose that row version.</a:t>
            </a:r>
          </a:p>
          <a:p>
            <a:endParaRPr lang="en-US" sz="1100" dirty="0"/>
          </a:p>
          <a:p>
            <a:r>
              <a:rPr lang="en-US" sz="1400" dirty="0"/>
              <a:t>Even if you try:</a:t>
            </a:r>
          </a:p>
          <a:p>
            <a:r>
              <a:rPr lang="en-US" sz="1400" dirty="0"/>
              <a:t>	@Transactional(isolation = </a:t>
            </a:r>
            <a:r>
              <a:rPr lang="en-US" sz="1400" dirty="0" err="1"/>
              <a:t>Isolation.READ_UNCOMMITTED</a:t>
            </a:r>
            <a:r>
              <a:rPr lang="en-US" sz="1400" dirty="0"/>
              <a:t>)</a:t>
            </a:r>
          </a:p>
          <a:p>
            <a:r>
              <a:rPr lang="en-US" sz="1400" dirty="0"/>
              <a:t>PostgreSQL internally upgrades it to:</a:t>
            </a:r>
          </a:p>
          <a:p>
            <a:r>
              <a:rPr lang="en-US" sz="1400" dirty="0"/>
              <a:t>	READ_COMMITTED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31084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 Self-invocation allowed inside @Transactional 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@Transactional method from within the same class bypasses the proxy — transaction does NOT start.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60520" cy="256032"/>
          </a:xfrm>
          <a:prstGeom prst="rect">
            <a:avLst/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Does NOT work — self-invocation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16052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3941064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OrderService {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@Transactional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placeOrder() { ...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bulkOrder()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Calls this.placeOrder() — bypasses proxy!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Transaction WON'T start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placeOrder();  // 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1480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Fix: inject self or separate beans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411480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73168" y="1901952"/>
            <a:ext cx="3895344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OrderService {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@Autowired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OrderService self; // inject proxy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@Transactional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placeOrder() { ...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bulkOrder()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self.placeOrder(); // ✅ Goes through proxy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315968"/>
            <a:ext cx="841248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43159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Also remember: @Transactional on private methods is silently ignored — AOP proxy can only intercept public methods.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0C7B8A-64BD-7610-99BD-EE6FE7F3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439859-32D8-7262-B2B0-6545DBD5BB56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C7D925-1D0C-5556-E421-DB2E8CDB42C4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1B8DB2-56F7-CCF1-F4A7-B76FBA481C4F}"/>
              </a:ext>
            </a:extLst>
          </p:cNvPr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When there is an external call inside @Transaction and that returns 500. How do we handle it ?</a:t>
            </a:r>
            <a:endParaRPr lang="en-US" sz="20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D4EF4AF4-C419-7A9D-8D78-9FBCEF140F9C}"/>
              </a:ext>
            </a:extLst>
          </p:cNvPr>
          <p:cNvSpPr/>
          <p:nvPr/>
        </p:nvSpPr>
        <p:spPr>
          <a:xfrm>
            <a:off x="4526280" y="1755648"/>
            <a:ext cx="416052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A1648BED-F5AC-A46B-1F76-D50ACB43839D}"/>
              </a:ext>
            </a:extLst>
          </p:cNvPr>
          <p:cNvSpPr/>
          <p:nvPr/>
        </p:nvSpPr>
        <p:spPr>
          <a:xfrm>
            <a:off x="4636008" y="1828800"/>
            <a:ext cx="3941064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200" dirty="0">
                <a:solidFill>
                  <a:srgbClr val="84B5F0"/>
                </a:solidFill>
              </a:rPr>
              <a:t>@Transactional</a:t>
            </a:r>
            <a:br>
              <a:rPr lang="en-IN" sz="1200" dirty="0">
                <a:solidFill>
                  <a:srgbClr val="84B5F0"/>
                </a:solidFill>
              </a:rPr>
            </a:br>
            <a:r>
              <a:rPr lang="en-IN" sz="1200" dirty="0">
                <a:solidFill>
                  <a:srgbClr val="84B5F0"/>
                </a:solidFill>
              </a:rPr>
              <a:t>public void placeOrder(OrderRequest request) {</a:t>
            </a:r>
            <a:br>
              <a:rPr lang="en-IN" sz="1200" dirty="0">
                <a:solidFill>
                  <a:srgbClr val="84B5F0"/>
                </a:solidFill>
              </a:rPr>
            </a:br>
            <a:br>
              <a:rPr lang="en-IN" sz="1200" dirty="0">
                <a:solidFill>
                  <a:srgbClr val="84B5F0"/>
                </a:solidFill>
              </a:rPr>
            </a:br>
            <a:r>
              <a:rPr lang="en-IN" sz="1200" dirty="0">
                <a:solidFill>
                  <a:srgbClr val="84B5F0"/>
                </a:solidFill>
              </a:rPr>
              <a:t>    // DB operation</a:t>
            </a:r>
            <a:br>
              <a:rPr lang="en-IN" sz="1200" dirty="0">
                <a:solidFill>
                  <a:srgbClr val="84B5F0"/>
                </a:solidFill>
              </a:rPr>
            </a:br>
            <a:r>
              <a:rPr lang="en-IN" sz="1200" dirty="0">
                <a:solidFill>
                  <a:srgbClr val="84B5F0"/>
                </a:solidFill>
              </a:rPr>
              <a:t>    orderRepository.save(order);</a:t>
            </a:r>
            <a:br>
              <a:rPr lang="en-IN" sz="1200" dirty="0">
                <a:solidFill>
                  <a:srgbClr val="84B5F0"/>
                </a:solidFill>
              </a:rPr>
            </a:br>
            <a:br>
              <a:rPr lang="en-IN" sz="1200" dirty="0">
                <a:solidFill>
                  <a:srgbClr val="84B5F0"/>
                </a:solidFill>
              </a:rPr>
            </a:br>
            <a:r>
              <a:rPr lang="en-IN" sz="1200" dirty="0">
                <a:solidFill>
                  <a:srgbClr val="84B5F0"/>
                </a:solidFill>
              </a:rPr>
              <a:t>    </a:t>
            </a:r>
            <a:r>
              <a:rPr lang="en-IN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External service call</a:t>
            </a:r>
            <a:br>
              <a:rPr lang="en-IN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IN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paymentClient.pay(request); // returns 500</a:t>
            </a:r>
            <a:br>
              <a:rPr lang="en-IN" sz="1200" dirty="0">
                <a:solidFill>
                  <a:srgbClr val="84B5F0"/>
                </a:solidFill>
              </a:rPr>
            </a:br>
            <a:br>
              <a:rPr lang="en-IN" sz="1200" dirty="0">
                <a:solidFill>
                  <a:srgbClr val="84B5F0"/>
                </a:solidFill>
              </a:rPr>
            </a:br>
            <a:r>
              <a:rPr lang="en-IN" sz="1200" dirty="0">
                <a:solidFill>
                  <a:srgbClr val="84B5F0"/>
                </a:solidFill>
              </a:rPr>
              <a:t>    // more DB operations</a:t>
            </a:r>
            <a:br>
              <a:rPr lang="en-IN" sz="1200" dirty="0">
                <a:solidFill>
                  <a:srgbClr val="84B5F0"/>
                </a:solidFill>
              </a:rPr>
            </a:br>
            <a:r>
              <a:rPr lang="en-IN" sz="1200" dirty="0">
                <a:solidFill>
                  <a:srgbClr val="84B5F0"/>
                </a:solidFill>
              </a:rPr>
              <a:t>}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064A0B9E-979B-53D6-D479-9670F8A3DE74}"/>
              </a:ext>
            </a:extLst>
          </p:cNvPr>
          <p:cNvSpPr/>
          <p:nvPr/>
        </p:nvSpPr>
        <p:spPr>
          <a:xfrm>
            <a:off x="457200" y="1424940"/>
            <a:ext cx="3693795" cy="3139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If paymentClient.pay() throws a RuntimeException:</a:t>
            </a:r>
          </a:p>
          <a:p>
            <a:r>
              <a:rPr lang="en-US" sz="1200" b="1" dirty="0">
                <a:solidFill>
                  <a:schemeClr val="bg2">
                    <a:lumMod val="25000"/>
                  </a:schemeClr>
                </a:solidFill>
              </a:rPr>
              <a:t>throw new RuntimeException("Payment failed");</a:t>
            </a:r>
          </a:p>
          <a:p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Then Spring:</a:t>
            </a:r>
          </a:p>
          <a:p>
            <a:pPr lvl="1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marks transaction for rollback </a:t>
            </a:r>
          </a:p>
          <a:p>
            <a:pPr lvl="1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DB changes are rolled back</a:t>
            </a:r>
          </a:p>
          <a:p>
            <a:pPr lvl="1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	</a:t>
            </a:r>
          </a:p>
          <a:p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BUT:</a:t>
            </a:r>
          </a:p>
          <a:p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It is a BIG </a:t>
            </a:r>
            <a:r>
              <a:rPr lang="en-US" sz="1200" b="1" dirty="0">
                <a:solidFill>
                  <a:schemeClr val="bg2">
                    <a:lumMod val="25000"/>
                  </a:schemeClr>
                </a:solidFill>
              </a:rPr>
              <a:t>Distributed Systems problem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. </a:t>
            </a:r>
            <a:r>
              <a:rPr lang="en-IN" sz="1200" dirty="0">
                <a:solidFill>
                  <a:schemeClr val="bg2">
                    <a:lumMod val="25000"/>
                  </a:schemeClr>
                </a:solidFill>
              </a:rPr>
              <a:t>External calls inside DB transactions are dangerous</a:t>
            </a:r>
          </a:p>
          <a:p>
            <a:r>
              <a:rPr lang="en-US" sz="1200" b="1" dirty="0">
                <a:solidFill>
                  <a:schemeClr val="bg2">
                    <a:lumMod val="25000"/>
                  </a:schemeClr>
                </a:solidFill>
              </a:rPr>
              <a:t>Why bad?</a:t>
            </a:r>
          </a:p>
          <a:p>
            <a:pPr lvl="1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transaction remains open during network call </a:t>
            </a:r>
          </a:p>
          <a:p>
            <a:pPr lvl="1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DB locks held longer </a:t>
            </a:r>
          </a:p>
          <a:p>
            <a:pPr lvl="1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external latency affects DB </a:t>
            </a:r>
          </a:p>
          <a:p>
            <a:pPr lvl="1"/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rollback cannot undo external side effects</a:t>
            </a:r>
          </a:p>
          <a:p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1200" b="1" dirty="0">
                <a:solidFill>
                  <a:schemeClr val="bg2">
                    <a:lumMod val="25000"/>
                  </a:schemeClr>
                </a:solidFill>
              </a:rPr>
              <a:t>Solutions: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Using Queues/Events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Saga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Outbox Patterns</a:t>
            </a:r>
          </a:p>
        </p:txBody>
      </p:sp>
    </p:spTree>
    <p:extLst>
      <p:ext uri="{BB962C8B-B14F-4D97-AF65-F5344CB8AC3E}">
        <p14:creationId xmlns:p14="http://schemas.microsoft.com/office/powerpoint/2010/main" val="488257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E9B12-7E89-C8E3-2D2C-4AE2287F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241ED9-07E2-3971-41F6-66795B0B2D24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0D2D77-0396-19C2-6433-835E179F8D83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8E2D7C-19AC-38EC-2E4C-1F23BBAA5531}"/>
              </a:ext>
            </a:extLst>
          </p:cNvPr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dirty read never occurs in PostgreSQL ?</a:t>
            </a:r>
            <a:endParaRPr lang="en-US" sz="20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E177FE5B-E0F1-6323-6103-3600E8B28306}"/>
              </a:ext>
            </a:extLst>
          </p:cNvPr>
          <p:cNvSpPr/>
          <p:nvPr/>
        </p:nvSpPr>
        <p:spPr>
          <a:xfrm>
            <a:off x="457200" y="1424940"/>
            <a:ext cx="3693795" cy="3139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948F253-D259-E33E-012B-8C6ABBB62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083" y="1179576"/>
            <a:ext cx="7819834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The Secret — MVCC (Multi-Version Concurrency Control)</a:t>
            </a:r>
          </a:p>
          <a:p>
            <a:r>
              <a:rPr lang="en-US" sz="1400" dirty="0"/>
              <a:t>When TX-A updates a row, the database does </a:t>
            </a:r>
            <a:r>
              <a:rPr lang="en-US" sz="1400" b="1" dirty="0"/>
              <a:t>NOT overwrite</a:t>
            </a:r>
            <a:r>
              <a:rPr lang="en-US" sz="1400" dirty="0"/>
              <a:t> the original value immediately. It keeps </a:t>
            </a:r>
            <a:r>
              <a:rPr lang="en-US" sz="1400" b="1" dirty="0"/>
              <a:t>both versions</a:t>
            </a:r>
            <a:r>
              <a:rPr lang="en-US" sz="1400" dirty="0"/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ACCOUNT TABLE (internally)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──────────────────────────────────────────────────────────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 id │ name  │ balance │ </a:t>
            </a:r>
            <a:r>
              <a:rPr lang="en-US" altLang="en-US" sz="1200" dirty="0" err="1">
                <a:latin typeface="Arial" panose="020B0604020202020204" pitchFamily="34" charset="0"/>
              </a:rPr>
              <a:t>committed_by</a:t>
            </a:r>
            <a:r>
              <a:rPr lang="en-US" altLang="en-US" sz="1200" dirty="0">
                <a:latin typeface="Arial" panose="020B0604020202020204" pitchFamily="34" charset="0"/>
              </a:rPr>
              <a:t>  │ version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─  ┼───────┼─────────┼──────┼─────────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  1 │ Alice │ 1000.0  │ TX-old ✅     │ version-1  ← last committed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  1 │ Alice │ 99999.0 │ TX-A ⏳       │ version-2  ← uncommitted buffer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Arial" panose="020B0604020202020204" pitchFamily="34" charset="0"/>
              </a:rPr>
              <a:t>──────────────────────────────────────────────────────────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Arial" panose="020B0604020202020204" pitchFamily="34" charset="0"/>
              </a:rPr>
              <a:t>READ_UNCOMMITTED → reads version-2 (latest, even if uncommitted) ❌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Arial" panose="020B0604020202020204" pitchFamily="34" charset="0"/>
              </a:rPr>
              <a:t>READ_COMMITTED   → reads version-1 (only last committed version)  ✅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76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65143-638E-B81F-A5D0-053A73F3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FF5459-CB2F-63E2-9ABA-D387931A6A92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A4BFC6-DEA5-46F3-23DC-79ECC40C9B71}"/>
              </a:ext>
            </a:extLst>
          </p:cNvPr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A5B50F-CE52-147C-0D2F-2E28005233E6}"/>
              </a:ext>
            </a:extLst>
          </p:cNvPr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r>
              <a:rPr lang="en-US" sz="2000" b="1" dirty="0"/>
              <a:t> Why Phantom Reads Don't Occur in PostgreSQL </a:t>
            </a: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3078EBCF-5192-C5BA-8B0E-0F3CB7852588}"/>
              </a:ext>
            </a:extLst>
          </p:cNvPr>
          <p:cNvSpPr/>
          <p:nvPr/>
        </p:nvSpPr>
        <p:spPr>
          <a:xfrm>
            <a:off x="457200" y="1424940"/>
            <a:ext cx="3693795" cy="3139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6638FC3-7092-E6A7-66EC-4A83F7960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083" y="1502741"/>
            <a:ext cx="781983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primary reason is PostgreSQL's use of </a:t>
            </a:r>
            <a:r>
              <a:rPr lang="en-US" b="1" dirty="0"/>
              <a:t>Multiversion Concurrency Control (MVCC)</a:t>
            </a:r>
            <a:r>
              <a:rPr lang="en-US" dirty="0"/>
              <a:t> and </a:t>
            </a:r>
            <a:r>
              <a:rPr lang="en-IN" b="1" dirty="0"/>
              <a:t>Serializable Snapshot Isolation</a:t>
            </a:r>
            <a:r>
              <a:rPr lang="en-US" dirty="0"/>
              <a:t>. </a:t>
            </a:r>
          </a:p>
          <a:p>
            <a:endParaRPr lang="en-US" b="1" dirty="0"/>
          </a:p>
          <a:p>
            <a:r>
              <a:rPr lang="en-IN" b="1" dirty="0"/>
              <a:t>Serializable Snapshot Isolation</a:t>
            </a:r>
            <a:r>
              <a:rPr lang="en-US" b="1" dirty="0"/>
              <a:t>: </a:t>
            </a:r>
            <a:r>
              <a:rPr lang="en-US" dirty="0"/>
              <a:t>When a transaction starts at the Repeatable Read level, it takes a "snapshot" of the database at that exact moment.</a:t>
            </a:r>
          </a:p>
          <a:p>
            <a:endParaRPr lang="en-US" dirty="0"/>
          </a:p>
          <a:p>
            <a:r>
              <a:rPr lang="en-US" b="1" dirty="0"/>
              <a:t>Invisible Changes:</a:t>
            </a:r>
            <a:r>
              <a:rPr lang="en-US" dirty="0"/>
              <a:t> Any rows inserted or deleted by other transactions </a:t>
            </a:r>
            <a:r>
              <a:rPr lang="en-US" i="1" dirty="0"/>
              <a:t>after</a:t>
            </a:r>
            <a:r>
              <a:rPr lang="en-US" dirty="0"/>
              <a:t> this snapshot was taken are invisible to the transaction.</a:t>
            </a:r>
          </a:p>
        </p:txBody>
      </p:sp>
    </p:spTree>
    <p:extLst>
      <p:ext uri="{BB962C8B-B14F-4D97-AF65-F5344CB8AC3E}">
        <p14:creationId xmlns:p14="http://schemas.microsoft.com/office/powerpoint/2010/main" val="3303037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Cheat Sheet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60520" cy="2743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09344"/>
            <a:ext cx="41605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57400" y="16733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 create (default)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956816"/>
            <a:ext cx="416052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0208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REQUIRES_NEW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57400" y="20208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new TX, suspend existing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41605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36829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57400" y="23682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— partial rollback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416052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271576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MANDATORY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57400" y="27157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if no active TX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999232"/>
            <a:ext cx="41605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57400" y="30632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if exists, else no TX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346704"/>
            <a:ext cx="416052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341071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NOT_SUPPORTED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57400" y="341071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TX, run non-TX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694176"/>
            <a:ext cx="41605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375818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57400" y="37581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if TX is active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1298448"/>
            <a:ext cx="4114800" cy="2743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0" y="1298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609344"/>
            <a:ext cx="41148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16733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READ_UNCOMMITTED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12280" y="1673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problems possible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1956816"/>
            <a:ext cx="411480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2020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READ_COMMITTED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12280" y="20208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dirty reads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2304288"/>
            <a:ext cx="41148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23682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REPEATABLE_READ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12280" y="23682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dirty/non-repeatable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2651760"/>
            <a:ext cx="411480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54880" y="27157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SERIALIZABLE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12280" y="27157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problems prevented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3063240"/>
            <a:ext cx="4114800" cy="2743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754880" y="3063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rules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374136"/>
            <a:ext cx="41148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754880" y="34381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RuntimeException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86600" y="343814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✓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3721608"/>
            <a:ext cx="411480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754880" y="37856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086600" y="37856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✓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63440" y="4069080"/>
            <a:ext cx="41148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754880" y="41330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Checked Exception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086600" y="41330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(!) ← fix it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4416552"/>
            <a:ext cx="411480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754880" y="44805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rollbackFor=Ex.class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086600" y="44805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on checked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4798848"/>
            <a:ext cx="8321040" cy="25603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02920" y="4798848"/>
            <a:ext cx="8140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Pitfalls: self-invocation bypasses proxy  |  @Transactional on private methods = ignored  |  checked exceptions COMMIT by default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1148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Proxy mechanism (AOP)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369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7 Propagation levels with use cases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4 Isolation levels and concurrency anomalies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587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Rollback rules: checked vs unchecked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69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N+1 detection and 4 solutions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1735</TotalTime>
  <Words>3976</Words>
  <Application>Microsoft Office PowerPoint</Application>
  <PresentationFormat>On-screen Show (16:9)</PresentationFormat>
  <Paragraphs>682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@Transactional – Deep Dive</dc:title>
  <dc:subject>PptxGenJS Presentation</dc:subject>
  <dc:creator>Session Presentation</dc:creator>
  <cp:lastModifiedBy>Sujith Babu Ramesh</cp:lastModifiedBy>
  <cp:revision>10</cp:revision>
  <dcterms:created xsi:type="dcterms:W3CDTF">2026-05-14T05:22:08Z</dcterms:created>
  <dcterms:modified xsi:type="dcterms:W3CDTF">2026-05-15T10:20:24Z</dcterms:modified>
</cp:coreProperties>
</file>