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2" r:id="rId5"/>
    <p:sldId id="259" r:id="rId6"/>
    <p:sldId id="260" r:id="rId7"/>
    <p:sldId id="262" r:id="rId8"/>
    <p:sldId id="273" r:id="rId9"/>
    <p:sldId id="263" r:id="rId10"/>
    <p:sldId id="275" r:id="rId11"/>
    <p:sldId id="276" r:id="rId12"/>
    <p:sldId id="277" r:id="rId13"/>
    <p:sldId id="278" r:id="rId14"/>
    <p:sldId id="265" r:id="rId15"/>
    <p:sldId id="266" r:id="rId16"/>
    <p:sldId id="267" r:id="rId17"/>
    <p:sldId id="268" r:id="rId18"/>
    <p:sldId id="270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JPA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JPA Basics, Entity Lifecycle, Relations, JPQL, and Inheritance Strategies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JPA Basics and Architecture</a:t>
            </a:r>
          </a:p>
          <a:p>
            <a:pPr>
              <a:defRPr sz="2000"/>
            </a:pPr>
            <a:r>
              <a:t>EntityManager and Persistence Context</a:t>
            </a:r>
          </a:p>
          <a:p>
            <a:pPr>
              <a:defRPr sz="2000"/>
            </a:pPr>
            <a:r>
              <a:t>Entity Lifecycle States</a:t>
            </a:r>
          </a:p>
          <a:p>
            <a:pPr>
              <a:defRPr sz="2000"/>
            </a:pPr>
            <a:r>
              <a:t>Relationships and mappedBy</a:t>
            </a:r>
          </a:p>
          <a:p>
            <a:pPr>
              <a:defRPr sz="2000"/>
            </a:pPr>
            <a:r>
              <a:t>JPQL</a:t>
            </a:r>
          </a:p>
          <a:p>
            <a:pPr>
              <a:defRPr sz="2000"/>
            </a:pPr>
            <a:r>
              <a:t>JPA Inheritance Strategies</a:t>
            </a:r>
          </a:p>
          <a:p>
            <a:pPr>
              <a:defRPr sz="2000"/>
            </a:pPr>
            <a:r>
              <a:t>Code Demos and FAQs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JPA?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>
              <a:defRPr sz="2000"/>
            </a:pPr>
            <a:r>
              <a:rPr dirty="0"/>
              <a:t>JPA = Java Persistence API</a:t>
            </a:r>
          </a:p>
          <a:p>
            <a:pPr>
              <a:defRPr sz="2000"/>
            </a:pPr>
            <a:r>
              <a:rPr dirty="0"/>
              <a:t>Specification for ORM in Java</a:t>
            </a:r>
          </a:p>
          <a:p>
            <a:pPr>
              <a:defRPr sz="2000"/>
            </a:pPr>
            <a:r>
              <a:rPr dirty="0"/>
              <a:t>Hibernate is the most popular implementation</a:t>
            </a:r>
          </a:p>
          <a:p>
            <a:pPr>
              <a:defRPr sz="2000"/>
            </a:pPr>
            <a:r>
              <a:rPr dirty="0"/>
              <a:t>Maps Java Objects to Database Tables</a:t>
            </a:r>
          </a:p>
          <a:p>
            <a:pPr>
              <a:defRPr sz="2000"/>
            </a:pPr>
            <a:r>
              <a:rPr dirty="0"/>
              <a:t>Reduces boilerplate JDBC code</a:t>
            </a:r>
            <a:endParaRPr lang="en-US" dirty="0"/>
          </a:p>
          <a:p>
            <a:pPr>
              <a:defRPr sz="2000"/>
            </a:pPr>
            <a:endParaRPr lang="en-IN" dirty="0"/>
          </a:p>
          <a:p>
            <a:pPr>
              <a:defRPr sz="2000"/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2D7B08-5A6D-BA99-7201-525DED110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3392042"/>
            <a:ext cx="4315427" cy="3191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1141-73AC-6738-CCC7-94079AAFE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536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Key Features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D9D22-B8E3-FAA4-CC63-A9C1E8DBB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600" b="1" dirty="0"/>
              <a:t>ORM (Object-Relational Mapping):</a:t>
            </a:r>
            <a:r>
              <a:rPr lang="en-IN" sz="2600" dirty="0"/>
              <a:t> Maps Java classes to database tables </a:t>
            </a:r>
          </a:p>
          <a:p>
            <a:r>
              <a:rPr lang="en-IN" sz="2600" b="1" dirty="0"/>
              <a:t>Entity Management:</a:t>
            </a:r>
            <a:r>
              <a:rPr lang="en-IN" sz="2600" dirty="0"/>
              <a:t> Uses @Entity to mark classes as database tables </a:t>
            </a:r>
          </a:p>
          <a:p>
            <a:r>
              <a:rPr lang="en-IN" sz="2600" b="1" dirty="0"/>
              <a:t>Database Independence:</a:t>
            </a:r>
            <a:r>
              <a:rPr lang="en-IN" sz="2600" dirty="0"/>
              <a:t> Works with different databases (MySQL, PostgreSQL, etc.) </a:t>
            </a:r>
          </a:p>
          <a:p>
            <a:r>
              <a:rPr lang="en-IN" sz="2600" b="1" dirty="0"/>
              <a:t>CRUD Operations:</a:t>
            </a:r>
            <a:r>
              <a:rPr lang="en-IN" sz="2600" dirty="0"/>
              <a:t> Create, Read, Update, Delete made simple </a:t>
            </a:r>
          </a:p>
          <a:p>
            <a:r>
              <a:rPr lang="en-IN" sz="2600" b="1" dirty="0"/>
              <a:t>Query Support:</a:t>
            </a:r>
            <a:r>
              <a:rPr lang="en-IN" sz="2600" dirty="0"/>
              <a:t> JPQL (Java Persistence Query Language)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8724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JPA Annotations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@Entity -&gt; Marks a class as JPA Entity</a:t>
            </a:r>
          </a:p>
          <a:p>
            <a:pPr>
              <a:defRPr sz="2000"/>
            </a:pPr>
            <a:r>
              <a:rPr dirty="0"/>
              <a:t>@Table -&gt; Maps entity to DB table</a:t>
            </a:r>
          </a:p>
          <a:p>
            <a:pPr>
              <a:defRPr sz="2000"/>
            </a:pPr>
            <a:r>
              <a:rPr dirty="0"/>
              <a:t>@Id -&gt; Primary key</a:t>
            </a:r>
          </a:p>
          <a:p>
            <a:pPr>
              <a:defRPr sz="2000"/>
            </a:pPr>
            <a:r>
              <a:rPr dirty="0"/>
              <a:t>@GeneratedValue -&gt; Auto generation strategy</a:t>
            </a:r>
          </a:p>
          <a:p>
            <a:pPr>
              <a:defRPr sz="2000"/>
            </a:pPr>
            <a:r>
              <a:rPr dirty="0"/>
              <a:t>@Column -&gt; Column mapping</a:t>
            </a:r>
          </a:p>
          <a:p>
            <a:pPr>
              <a:defRPr sz="2000"/>
            </a:pPr>
            <a:r>
              <a:rPr dirty="0"/>
              <a:t>@Transient -&gt; Ignore field from persistence</a:t>
            </a:r>
          </a:p>
          <a:p>
            <a:pPr>
              <a:defRPr sz="2000"/>
            </a:pPr>
            <a:r>
              <a:rPr dirty="0"/>
              <a:t>@OneToMany, @ManyToOne, @OneToOne, @ManyToMany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JPA Entity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37733"/>
            <a:ext cx="1828800" cy="9144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dirty="0">
                <a:solidFill>
                  <a:schemeClr val="tx1"/>
                </a:solidFill>
              </a:rPr>
              <a:t>Transient</a:t>
            </a:r>
          </a:p>
          <a:p>
            <a:r>
              <a:rPr dirty="0">
                <a:solidFill>
                  <a:schemeClr val="tx1"/>
                </a:solidFill>
              </a:rPr>
              <a:t>(new object)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6133" y="1337733"/>
            <a:ext cx="1828800" cy="9144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dirty="0">
                <a:solidFill>
                  <a:schemeClr val="tx1"/>
                </a:solidFill>
              </a:rPr>
              <a:t>Persistent</a:t>
            </a:r>
          </a:p>
          <a:p>
            <a:r>
              <a:rPr dirty="0">
                <a:solidFill>
                  <a:schemeClr val="tx1"/>
                </a:solidFill>
              </a:rPr>
              <a:t>(managed by EM)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1746" y="1329267"/>
            <a:ext cx="1828800" cy="9144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dirty="0">
                <a:solidFill>
                  <a:schemeClr val="tx1"/>
                </a:solidFill>
              </a:rPr>
              <a:t>Detached</a:t>
            </a:r>
          </a:p>
          <a:p>
            <a:r>
              <a:rPr dirty="0">
                <a:solidFill>
                  <a:schemeClr val="tx1"/>
                </a:solidFill>
              </a:rPr>
              <a:t>(not managed)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58190A93-C1A6-D6CF-B5C0-A64D0441FA60}"/>
              </a:ext>
            </a:extLst>
          </p:cNvPr>
          <p:cNvSpPr/>
          <p:nvPr/>
        </p:nvSpPr>
        <p:spPr>
          <a:xfrm>
            <a:off x="6858000" y="1329267"/>
            <a:ext cx="1828800" cy="9144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lang="en-US" dirty="0">
                <a:solidFill>
                  <a:schemeClr val="tx1"/>
                </a:solidFill>
              </a:rPr>
              <a:t>Removed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(</a:t>
            </a:r>
            <a:r>
              <a:rPr lang="en-US" dirty="0">
                <a:solidFill>
                  <a:schemeClr val="tx1"/>
                </a:solidFill>
              </a:rPr>
              <a:t>scheduled</a:t>
            </a:r>
            <a:r>
              <a:rPr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0901910-C7D2-3D49-C1C8-B67CF4D70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550" y="3362957"/>
            <a:ext cx="7556500" cy="1851005"/>
          </a:xfrm>
          <a:prstGeom prst="roundRect">
            <a:avLst>
              <a:gd name="adj" fmla="val 347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3200" dirty="0"/>
              <a:t>Entity Lifecycle States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Transient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en-IN" sz="2000" dirty="0"/>
              <a:t>Object not associated with Persistence Context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Managed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Persisted in the context; changes are tracked.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Detached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en-IN" sz="2000" dirty="0"/>
              <a:t>Exists in DB but no longer managed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en-IN" sz="2000" dirty="0"/>
              <a:t>Scheduled for deletion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Core JPA interface</a:t>
            </a:r>
          </a:p>
          <a:p>
            <a:pPr>
              <a:defRPr sz="2000"/>
            </a:pPr>
            <a:r>
              <a:rPr dirty="0"/>
              <a:t>Handles persist, merge, remove, find operations</a:t>
            </a:r>
          </a:p>
          <a:p>
            <a:pPr>
              <a:defRPr sz="2000"/>
            </a:pPr>
            <a:r>
              <a:rPr dirty="0"/>
              <a:t>Maintains Persistence Context</a:t>
            </a:r>
          </a:p>
          <a:p>
            <a:pPr>
              <a:defRPr sz="2000"/>
            </a:pPr>
            <a:r>
              <a:rPr dirty="0"/>
              <a:t>Tracks entity changes automatically (Dirty Checking)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53427-018D-6E23-FD01-E52A4FCF5F1F}"/>
              </a:ext>
            </a:extLst>
          </p:cNvPr>
          <p:cNvSpPr txBox="1"/>
          <p:nvPr/>
        </p:nvSpPr>
        <p:spPr>
          <a:xfrm>
            <a:off x="457200" y="3398335"/>
            <a:ext cx="5836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Key point: </a:t>
            </a:r>
            <a:r>
              <a:rPr lang="en-IN" dirty="0"/>
              <a:t>A bridge between Java objects and the database.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333CC-1B5F-0EAD-6AC1-73A6C9BEE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Persistence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ADFC5-65C7-CF3B-05DC-6BC2EDBA4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0706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A cache/storage area where </a:t>
            </a:r>
            <a:r>
              <a:rPr lang="en-IN" sz="1800" dirty="0" err="1"/>
              <a:t>EntityManager</a:t>
            </a:r>
            <a:r>
              <a:rPr lang="en-IN" sz="1800" dirty="0"/>
              <a:t> keeps managed entity objects.</a:t>
            </a:r>
          </a:p>
          <a:p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Inside it:</a:t>
            </a:r>
          </a:p>
          <a:p>
            <a:pPr lvl="1"/>
            <a:r>
              <a:rPr lang="en-IN" sz="1600" dirty="0"/>
              <a:t>JPA tracks entity state </a:t>
            </a:r>
          </a:p>
          <a:p>
            <a:pPr lvl="1"/>
            <a:r>
              <a:rPr lang="en-IN" sz="1600" dirty="0"/>
              <a:t>Tracks modifications </a:t>
            </a:r>
          </a:p>
          <a:p>
            <a:pPr lvl="1"/>
            <a:r>
              <a:rPr lang="en-IN" sz="1600" dirty="0"/>
              <a:t>Avoids duplicate objects </a:t>
            </a:r>
          </a:p>
          <a:p>
            <a:pPr lvl="1"/>
            <a:r>
              <a:rPr lang="en-IN" sz="1600" dirty="0"/>
              <a:t>Synchronizes with DB</a:t>
            </a:r>
          </a:p>
          <a:p>
            <a:pPr lvl="1"/>
            <a:endParaRPr lang="en-IN" sz="1600" dirty="0"/>
          </a:p>
          <a:p>
            <a:r>
              <a:rPr lang="en-IN" sz="1800" dirty="0"/>
              <a:t>Persistence Context is also called “First-Level Cache”</a:t>
            </a:r>
          </a:p>
        </p:txBody>
      </p:sp>
    </p:spTree>
    <p:extLst>
      <p:ext uri="{BB962C8B-B14F-4D97-AF65-F5344CB8AC3E}">
        <p14:creationId xmlns:p14="http://schemas.microsoft.com/office/powerpoint/2010/main" val="2960459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Relationship Mapping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1508" y="1700107"/>
            <a:ext cx="1127759" cy="63669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lang="en-US" dirty="0">
                <a:solidFill>
                  <a:schemeClr val="tx1"/>
                </a:solidFill>
              </a:rPr>
              <a:t>Traveler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834640" y="1698413"/>
            <a:ext cx="1127759" cy="63669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lang="en-US" dirty="0">
                <a:solidFill>
                  <a:schemeClr val="tx1"/>
                </a:solidFill>
              </a:rPr>
              <a:t>Passport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62197C5C-DAF6-6D89-7794-C9C7D8A5153B}"/>
              </a:ext>
            </a:extLst>
          </p:cNvPr>
          <p:cNvSpPr/>
          <p:nvPr/>
        </p:nvSpPr>
        <p:spPr>
          <a:xfrm>
            <a:off x="2738121" y="3427734"/>
            <a:ext cx="1190414" cy="5765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lang="en-US" dirty="0">
                <a:solidFill>
                  <a:schemeClr val="tx1"/>
                </a:solidFill>
              </a:rPr>
              <a:t>Employee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6D6AB60C-8B0F-BAAE-D942-9F765A86451A}"/>
              </a:ext>
            </a:extLst>
          </p:cNvPr>
          <p:cNvSpPr/>
          <p:nvPr/>
        </p:nvSpPr>
        <p:spPr>
          <a:xfrm>
            <a:off x="235376" y="4257891"/>
            <a:ext cx="1364825" cy="57827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dirty="0">
                <a:solidFill>
                  <a:schemeClr val="tx1"/>
                </a:solidFill>
              </a:rPr>
              <a:t>Department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FAD861-E698-9561-ECF4-6FCFEFBCDDDA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1329267" y="2016760"/>
            <a:ext cx="1505373" cy="1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822FCDAF-5A32-CEAE-B32A-AD7F7AB0C67A}"/>
              </a:ext>
            </a:extLst>
          </p:cNvPr>
          <p:cNvSpPr/>
          <p:nvPr/>
        </p:nvSpPr>
        <p:spPr>
          <a:xfrm>
            <a:off x="2738121" y="4257891"/>
            <a:ext cx="1190414" cy="5765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lang="en-US" dirty="0">
                <a:solidFill>
                  <a:schemeClr val="tx1"/>
                </a:solidFill>
              </a:rPr>
              <a:t>Employee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" name="Rounded Rectangle 2">
            <a:extLst>
              <a:ext uri="{FF2B5EF4-FFF2-40B4-BE49-F238E27FC236}">
                <a16:creationId xmlns:a16="http://schemas.microsoft.com/office/drawing/2014/main" id="{6363D8A8-181D-AE4D-1037-318C6C840E73}"/>
              </a:ext>
            </a:extLst>
          </p:cNvPr>
          <p:cNvSpPr/>
          <p:nvPr/>
        </p:nvSpPr>
        <p:spPr>
          <a:xfrm>
            <a:off x="2738121" y="5180337"/>
            <a:ext cx="1190414" cy="5765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lang="en-US" dirty="0">
                <a:solidFill>
                  <a:schemeClr val="tx1"/>
                </a:solidFill>
              </a:rPr>
              <a:t>Employee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0BC727C-7098-EBEF-E363-5A428F79049D}"/>
              </a:ext>
            </a:extLst>
          </p:cNvPr>
          <p:cNvCxnSpPr>
            <a:stCxn id="7" idx="3"/>
            <a:endCxn id="6" idx="1"/>
          </p:cNvCxnSpPr>
          <p:nvPr/>
        </p:nvCxnSpPr>
        <p:spPr>
          <a:xfrm flipV="1">
            <a:off x="1600201" y="3716023"/>
            <a:ext cx="1137920" cy="831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E452336-D9AF-7180-F120-6945524F740B}"/>
              </a:ext>
            </a:extLst>
          </p:cNvPr>
          <p:cNvCxnSpPr>
            <a:stCxn id="7" idx="3"/>
            <a:endCxn id="13" idx="1"/>
          </p:cNvCxnSpPr>
          <p:nvPr/>
        </p:nvCxnSpPr>
        <p:spPr>
          <a:xfrm flipV="1">
            <a:off x="1600201" y="4546180"/>
            <a:ext cx="1137920" cy="8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5D1F22A-5892-280B-FBBA-6007D4BFA33C}"/>
              </a:ext>
            </a:extLst>
          </p:cNvPr>
          <p:cNvCxnSpPr>
            <a:stCxn id="7" idx="3"/>
            <a:endCxn id="14" idx="1"/>
          </p:cNvCxnSpPr>
          <p:nvPr/>
        </p:nvCxnSpPr>
        <p:spPr>
          <a:xfrm>
            <a:off x="1600201" y="4547027"/>
            <a:ext cx="1137920" cy="921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">
            <a:extLst>
              <a:ext uri="{FF2B5EF4-FFF2-40B4-BE49-F238E27FC236}">
                <a16:creationId xmlns:a16="http://schemas.microsoft.com/office/drawing/2014/main" id="{CE41AFB3-F848-6F54-384A-F8F0DCCC45CC}"/>
              </a:ext>
            </a:extLst>
          </p:cNvPr>
          <p:cNvSpPr/>
          <p:nvPr/>
        </p:nvSpPr>
        <p:spPr>
          <a:xfrm>
            <a:off x="5638804" y="2166623"/>
            <a:ext cx="895772" cy="5765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lang="en-US" dirty="0">
                <a:solidFill>
                  <a:schemeClr val="tx1"/>
                </a:solidFill>
              </a:rPr>
              <a:t>Student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" name="Rounded Rectangle 2">
            <a:extLst>
              <a:ext uri="{FF2B5EF4-FFF2-40B4-BE49-F238E27FC236}">
                <a16:creationId xmlns:a16="http://schemas.microsoft.com/office/drawing/2014/main" id="{20C5CB2C-E02A-4CEB-3D06-3D6AE049B9AB}"/>
              </a:ext>
            </a:extLst>
          </p:cNvPr>
          <p:cNvSpPr/>
          <p:nvPr/>
        </p:nvSpPr>
        <p:spPr>
          <a:xfrm>
            <a:off x="5651504" y="3660995"/>
            <a:ext cx="895772" cy="5765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lang="en-US" dirty="0">
                <a:solidFill>
                  <a:schemeClr val="tx1"/>
                </a:solidFill>
              </a:rPr>
              <a:t>Student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" name="Rounded Rectangle 2">
            <a:extLst>
              <a:ext uri="{FF2B5EF4-FFF2-40B4-BE49-F238E27FC236}">
                <a16:creationId xmlns:a16="http://schemas.microsoft.com/office/drawing/2014/main" id="{6DEA56E4-065B-58BF-82F6-F3C9F044D9AF}"/>
              </a:ext>
            </a:extLst>
          </p:cNvPr>
          <p:cNvSpPr/>
          <p:nvPr/>
        </p:nvSpPr>
        <p:spPr>
          <a:xfrm>
            <a:off x="5651504" y="2913809"/>
            <a:ext cx="895772" cy="5765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lang="en-US" dirty="0">
                <a:solidFill>
                  <a:schemeClr val="tx1"/>
                </a:solidFill>
              </a:rPr>
              <a:t>Student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4" name="Rounded Rectangle 2">
            <a:extLst>
              <a:ext uri="{FF2B5EF4-FFF2-40B4-BE49-F238E27FC236}">
                <a16:creationId xmlns:a16="http://schemas.microsoft.com/office/drawing/2014/main" id="{8F196F95-9030-B68B-67DF-5898C80AD8BE}"/>
              </a:ext>
            </a:extLst>
          </p:cNvPr>
          <p:cNvSpPr/>
          <p:nvPr/>
        </p:nvSpPr>
        <p:spPr>
          <a:xfrm>
            <a:off x="7713138" y="2913809"/>
            <a:ext cx="895772" cy="5765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lang="en-US" dirty="0">
                <a:solidFill>
                  <a:schemeClr val="tx1"/>
                </a:solidFill>
              </a:rPr>
              <a:t>Course</a:t>
            </a:r>
          </a:p>
        </p:txBody>
      </p:sp>
      <p:sp>
        <p:nvSpPr>
          <p:cNvPr id="25" name="Rounded Rectangle 2">
            <a:extLst>
              <a:ext uri="{FF2B5EF4-FFF2-40B4-BE49-F238E27FC236}">
                <a16:creationId xmlns:a16="http://schemas.microsoft.com/office/drawing/2014/main" id="{60A26295-E3C5-0D0D-455A-90C502C19833}"/>
              </a:ext>
            </a:extLst>
          </p:cNvPr>
          <p:cNvSpPr/>
          <p:nvPr/>
        </p:nvSpPr>
        <p:spPr>
          <a:xfrm>
            <a:off x="7713138" y="3664390"/>
            <a:ext cx="895772" cy="5765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lang="en-US" dirty="0">
                <a:solidFill>
                  <a:schemeClr val="tx1"/>
                </a:solidFill>
              </a:rPr>
              <a:t>Course</a:t>
            </a:r>
          </a:p>
        </p:txBody>
      </p:sp>
      <p:sp>
        <p:nvSpPr>
          <p:cNvPr id="26" name="Rounded Rectangle 2">
            <a:extLst>
              <a:ext uri="{FF2B5EF4-FFF2-40B4-BE49-F238E27FC236}">
                <a16:creationId xmlns:a16="http://schemas.microsoft.com/office/drawing/2014/main" id="{01D4B469-D474-F9AF-C42D-320664A6D4B1}"/>
              </a:ext>
            </a:extLst>
          </p:cNvPr>
          <p:cNvSpPr/>
          <p:nvPr/>
        </p:nvSpPr>
        <p:spPr>
          <a:xfrm>
            <a:off x="7681811" y="2164929"/>
            <a:ext cx="895772" cy="5765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lang="en-US" dirty="0">
                <a:solidFill>
                  <a:schemeClr val="tx1"/>
                </a:solidFill>
              </a:rPr>
              <a:t>Course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D133E7E-FE9F-A947-AB63-007DF8C1F8DA}"/>
              </a:ext>
            </a:extLst>
          </p:cNvPr>
          <p:cNvCxnSpPr>
            <a:stCxn id="21" idx="3"/>
            <a:endCxn id="24" idx="1"/>
          </p:cNvCxnSpPr>
          <p:nvPr/>
        </p:nvCxnSpPr>
        <p:spPr>
          <a:xfrm>
            <a:off x="6534576" y="2454912"/>
            <a:ext cx="1178562" cy="7471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E757598-DC8D-1567-0669-96D8AAE374A7}"/>
              </a:ext>
            </a:extLst>
          </p:cNvPr>
          <p:cNvCxnSpPr>
            <a:stCxn id="21" idx="3"/>
            <a:endCxn id="25" idx="1"/>
          </p:cNvCxnSpPr>
          <p:nvPr/>
        </p:nvCxnSpPr>
        <p:spPr>
          <a:xfrm>
            <a:off x="6534576" y="2454912"/>
            <a:ext cx="1178562" cy="1497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4448114-C916-D7F3-BF66-E1E7BD880270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6547276" y="3202098"/>
            <a:ext cx="1165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7A5E590-163D-2007-BCD8-4E9777765AC3}"/>
              </a:ext>
            </a:extLst>
          </p:cNvPr>
          <p:cNvCxnSpPr>
            <a:stCxn id="23" idx="3"/>
            <a:endCxn id="26" idx="1"/>
          </p:cNvCxnSpPr>
          <p:nvPr/>
        </p:nvCxnSpPr>
        <p:spPr>
          <a:xfrm flipV="1">
            <a:off x="6547276" y="2453218"/>
            <a:ext cx="1134535" cy="748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97BC6C4-24BF-63AB-73CC-F0ACB0E8E618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 flipV="1">
            <a:off x="6547276" y="3202098"/>
            <a:ext cx="1165862" cy="7471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FE9A110-751B-1CAC-CDF5-DC3E5D3FD761}"/>
              </a:ext>
            </a:extLst>
          </p:cNvPr>
          <p:cNvSpPr txBox="1"/>
          <p:nvPr/>
        </p:nvSpPr>
        <p:spPr>
          <a:xfrm>
            <a:off x="765387" y="2556933"/>
            <a:ext cx="1266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One to One</a:t>
            </a:r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92BC58-CF65-805C-9A36-575765E9150F}"/>
              </a:ext>
            </a:extLst>
          </p:cNvPr>
          <p:cNvSpPr txBox="1"/>
          <p:nvPr/>
        </p:nvSpPr>
        <p:spPr>
          <a:xfrm>
            <a:off x="6506348" y="4638494"/>
            <a:ext cx="1546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Many to Many</a:t>
            </a:r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095AA8-58B9-EC31-BE09-F03F22080A55}"/>
              </a:ext>
            </a:extLst>
          </p:cNvPr>
          <p:cNvSpPr txBox="1"/>
          <p:nvPr/>
        </p:nvSpPr>
        <p:spPr>
          <a:xfrm>
            <a:off x="885333" y="5925410"/>
            <a:ext cx="2822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One to Many / Many to One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7DD99-3357-D18C-298C-211DA1FE9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530B8-3E5C-3E40-2129-38070E419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to One</a:t>
            </a:r>
          </a:p>
          <a:p>
            <a:r>
              <a:rPr lang="en-US" dirty="0"/>
              <a:t>One to Many</a:t>
            </a:r>
          </a:p>
          <a:p>
            <a:r>
              <a:rPr lang="en-US" dirty="0"/>
              <a:t>Many to One</a:t>
            </a:r>
          </a:p>
          <a:p>
            <a:r>
              <a:rPr lang="en-US" dirty="0"/>
              <a:t>Many to Many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7530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68091-61DF-CFA2-16F3-978F8ECF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A3278-BEAA-106D-1A59-7C8AB3053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JoinColumn</a:t>
            </a:r>
            <a:r>
              <a:rPr lang="en-IN" sz="2400" dirty="0"/>
              <a:t>: </a:t>
            </a:r>
            <a:r>
              <a:rPr lang="en-IN" sz="2000" dirty="0"/>
              <a:t>Create foreign key column </a:t>
            </a:r>
            <a:r>
              <a:rPr lang="en-IN" sz="2000" dirty="0" err="1"/>
              <a:t>person_id</a:t>
            </a:r>
            <a:r>
              <a:rPr lang="en-IN" sz="2000" dirty="0"/>
              <a:t> exists in Passport table</a:t>
            </a:r>
            <a:endParaRPr lang="en-IN" sz="2400" dirty="0"/>
          </a:p>
          <a:p>
            <a:r>
              <a:rPr lang="en-IN" sz="2400" dirty="0" err="1"/>
              <a:t>MappedBy</a:t>
            </a:r>
            <a:r>
              <a:rPr lang="en-IN" sz="2400" dirty="0"/>
              <a:t>: </a:t>
            </a:r>
            <a:r>
              <a:rPr lang="en-IN" sz="2000" dirty="0"/>
              <a:t>I am NOT the owner of the relationship</a:t>
            </a:r>
            <a:endParaRPr lang="en-IN" sz="2400" dirty="0"/>
          </a:p>
          <a:p>
            <a:r>
              <a:rPr lang="en-IN" sz="2400" dirty="0"/>
              <a:t>Cascade: </a:t>
            </a:r>
            <a:r>
              <a:rPr lang="en-IN" sz="2000" dirty="0"/>
              <a:t>Parent operation affects child entities.</a:t>
            </a:r>
            <a:endParaRPr lang="en-IN" sz="2400" dirty="0"/>
          </a:p>
          <a:p>
            <a:r>
              <a:rPr lang="en-IN" sz="2400" dirty="0"/>
              <a:t>Fetch Types: Lazy and Eager</a:t>
            </a:r>
          </a:p>
          <a:p>
            <a:r>
              <a:rPr lang="en-IN" sz="2400" dirty="0"/>
              <a:t>Owning Side : </a:t>
            </a:r>
            <a:r>
              <a:rPr lang="en-IN" sz="2000" dirty="0"/>
              <a:t>The side having @JoinColumn</a:t>
            </a:r>
            <a:endParaRPr lang="en-IN" sz="2400" dirty="0"/>
          </a:p>
          <a:p>
            <a:r>
              <a:rPr lang="en-IN" sz="2400" dirty="0"/>
              <a:t>Inverse Side: </a:t>
            </a:r>
            <a:r>
              <a:rPr lang="en-IN" sz="2000" dirty="0"/>
              <a:t>The side having </a:t>
            </a:r>
            <a:r>
              <a:rPr lang="en-IN" sz="2000" dirty="0" err="1"/>
              <a:t>mappedBy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30179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F8C87-01BB-3D91-8FEF-AEB3A9D2B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Cascade Types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BD716C1-CEEA-2C1F-CB29-FBE86776331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583021"/>
          <a:ext cx="8229600" cy="25603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16972437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1894507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Cascade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005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Save child automatically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35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MERGE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Merge child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08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REMOVE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 child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878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REFRESH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Refresh child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190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Detach child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9165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All above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091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6969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9020-0F79-4D05-1D83-0F09A6A2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Fetch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560B0-2286-54D4-1F75-1BAB74FA2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EAGER Fetch</a:t>
            </a:r>
          </a:p>
          <a:p>
            <a:r>
              <a:rPr lang="en-IN" dirty="0"/>
              <a:t>Loads relationship immediately.</a:t>
            </a:r>
          </a:p>
          <a:p>
            <a:pPr marL="0" indent="0">
              <a:buNone/>
            </a:pPr>
            <a:r>
              <a:rPr lang="en-IN" b="1" dirty="0"/>
              <a:t>LAZY Fetch</a:t>
            </a:r>
          </a:p>
          <a:p>
            <a:r>
              <a:rPr lang="en-IN" dirty="0"/>
              <a:t>Loads only when needed.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885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JPQL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Object-oriented query language</a:t>
            </a:r>
          </a:p>
          <a:p>
            <a:pPr>
              <a:defRPr sz="2000"/>
            </a:pPr>
            <a:r>
              <a:t>Queries entities instead of tables</a:t>
            </a:r>
          </a:p>
          <a:p>
            <a:pPr>
              <a:defRPr sz="2000"/>
            </a:pPr>
            <a:r>
              <a:t>Uses entity names and field names</a:t>
            </a:r>
          </a:p>
          <a:p>
            <a:pPr>
              <a:defRPr sz="2000"/>
            </a:pPr>
            <a:r>
              <a:t>Supports joins, aggregates, subqueries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JPQL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SELECT e FROM Employee e</a:t>
            </a:r>
          </a:p>
          <a:p>
            <a:pPr>
              <a:defRPr sz="2000"/>
            </a:pPr>
            <a:r>
              <a:t>SELECT e FROM Employee e WHERE e.salary &gt; 50000</a:t>
            </a:r>
          </a:p>
          <a:p>
            <a:pPr>
              <a:defRPr sz="2000"/>
            </a:pPr>
            <a:r>
              <a:t>SELECT d.name, COUNT(e) FROM Department d JOIN d.employees e GROUP BY d.name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Inheritance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SINGLE_TABLE -&gt; One table for entire hierarchy</a:t>
            </a:r>
          </a:p>
          <a:p>
            <a:pPr>
              <a:defRPr sz="2000"/>
            </a:pPr>
            <a:r>
              <a:t>JOINED -&gt; Separate tables with joins</a:t>
            </a:r>
          </a:p>
          <a:p>
            <a:pPr>
              <a:defRPr sz="2000"/>
            </a:pPr>
            <a:r>
              <a:t>TABLE_PER_CLASS -&gt; Separate table for each class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Inheritance Strategy Comparison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82619D-931D-6BB5-275D-280D284C517D}"/>
              </a:ext>
            </a:extLst>
          </p:cNvPr>
          <p:cNvSpPr txBox="1"/>
          <p:nvPr/>
        </p:nvSpPr>
        <p:spPr>
          <a:xfrm>
            <a:off x="643467" y="1159933"/>
            <a:ext cx="41148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600"/>
            </a:pPr>
            <a:r>
              <a:rPr lang="en-IN" b="1" dirty="0"/>
              <a:t>SINGLE_TABLE</a:t>
            </a:r>
          </a:p>
          <a:p>
            <a:pPr lvl="1"/>
            <a:r>
              <a:rPr lang="en-IN" sz="2400" dirty="0"/>
              <a:t>Fast Reads</a:t>
            </a:r>
          </a:p>
          <a:p>
            <a:pPr lvl="1"/>
            <a:r>
              <a:rPr lang="en-IN" sz="2400" dirty="0"/>
              <a:t>Many NULL columns</a:t>
            </a:r>
          </a:p>
          <a:p>
            <a:endParaRPr lang="en-IN" sz="2400" dirty="0"/>
          </a:p>
          <a:p>
            <a:pPr>
              <a:defRPr sz="1600"/>
            </a:pPr>
            <a:r>
              <a:rPr lang="en-IN" b="1" dirty="0"/>
              <a:t>JOINED</a:t>
            </a:r>
          </a:p>
          <a:p>
            <a:pPr lvl="1"/>
            <a:r>
              <a:rPr lang="en-IN" sz="2400" dirty="0"/>
              <a:t>Normalized</a:t>
            </a:r>
          </a:p>
          <a:p>
            <a:pPr lvl="1"/>
            <a:r>
              <a:rPr lang="en-IN" sz="2400" dirty="0"/>
              <a:t>Uses JOINs</a:t>
            </a:r>
          </a:p>
          <a:p>
            <a:endParaRPr lang="en-IN" sz="2400" dirty="0"/>
          </a:p>
          <a:p>
            <a:pPr>
              <a:defRPr sz="1600"/>
            </a:pPr>
            <a:r>
              <a:rPr lang="en-IN" b="1" dirty="0"/>
              <a:t>TABLE_PER_CLASS</a:t>
            </a:r>
          </a:p>
          <a:p>
            <a:pPr lvl="1"/>
            <a:r>
              <a:rPr lang="en-IN" sz="2400" dirty="0"/>
              <a:t>Independent Tables</a:t>
            </a:r>
          </a:p>
          <a:p>
            <a:pPr lvl="1"/>
            <a:r>
              <a:rPr lang="en-IN" sz="2400" dirty="0"/>
              <a:t>Union Queries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Frequently Asked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Difference between save() and persist()?</a:t>
            </a:r>
          </a:p>
          <a:p>
            <a:pPr>
              <a:defRPr sz="2000"/>
            </a:pPr>
            <a:r>
              <a:rPr dirty="0"/>
              <a:t>What is Persistence Context?</a:t>
            </a:r>
          </a:p>
          <a:p>
            <a:pPr>
              <a:defRPr sz="2000"/>
            </a:pPr>
            <a:r>
              <a:rPr dirty="0"/>
              <a:t>Difference between eager and lazy loading?</a:t>
            </a:r>
          </a:p>
          <a:p>
            <a:pPr>
              <a:defRPr sz="2000"/>
            </a:pPr>
            <a:r>
              <a:rPr dirty="0"/>
              <a:t>Why </a:t>
            </a:r>
            <a:r>
              <a:rPr dirty="0" err="1"/>
              <a:t>mappedBy</a:t>
            </a:r>
            <a:r>
              <a:rPr dirty="0"/>
              <a:t> is required?</a:t>
            </a:r>
          </a:p>
          <a:p>
            <a:pPr>
              <a:defRPr sz="2000"/>
            </a:pPr>
            <a:r>
              <a:rPr dirty="0"/>
              <a:t>When to use JOINED vs SINGLE_TABLE?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1383</TotalTime>
  <Words>601</Words>
  <Application>Microsoft Office PowerPoint</Application>
  <PresentationFormat>On-screen Show (4:3)</PresentationFormat>
  <Paragraphs>140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JPA</vt:lpstr>
      <vt:lpstr>Agenda</vt:lpstr>
      <vt:lpstr>What is JPA?</vt:lpstr>
      <vt:lpstr>Key Features </vt:lpstr>
      <vt:lpstr>Important JPA Annotations</vt:lpstr>
      <vt:lpstr>PowerPoint Presentation</vt:lpstr>
      <vt:lpstr>EntityManager</vt:lpstr>
      <vt:lpstr>Persistence Context</vt:lpstr>
      <vt:lpstr>PowerPoint Presentation</vt:lpstr>
      <vt:lpstr>Relations</vt:lpstr>
      <vt:lpstr>Key Attributes</vt:lpstr>
      <vt:lpstr>Cascade Types</vt:lpstr>
      <vt:lpstr>Fetch Types</vt:lpstr>
      <vt:lpstr>JPQL</vt:lpstr>
      <vt:lpstr>JPQL Examples</vt:lpstr>
      <vt:lpstr>Inheritance Strategies</vt:lpstr>
      <vt:lpstr>PowerPoint Presentation</vt:lpstr>
      <vt:lpstr>Frequently Asked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Bharath Bhushan Sunkara</cp:lastModifiedBy>
  <cp:revision>14</cp:revision>
  <dcterms:created xsi:type="dcterms:W3CDTF">2013-01-27T09:14:16Z</dcterms:created>
  <dcterms:modified xsi:type="dcterms:W3CDTF">2026-05-14T09:45:27Z</dcterms:modified>
  <cp:category/>
</cp:coreProperties>
</file>