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7" r:id="rId2"/>
    <p:sldId id="268" r:id="rId3"/>
    <p:sldId id="269" r:id="rId4"/>
    <p:sldId id="270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Marcellus" panose="020E0602050203020307" pitchFamily="34" charset="0"/>
      <p:regular r:id="rId21"/>
    </p:embeddedFont>
    <p:embeddedFont>
      <p:font typeface="Montserrat" pitchFamily="2" charset="77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6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276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818555"/>
            <a:ext cx="2629793" cy="3506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486421"/>
            <a:ext cx="4722763" cy="158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ORM: Speaking the Database's Language, Effortlessly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925119" y="3288506"/>
            <a:ext cx="4722763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practical guide to understanding Object-Relational Mapping in Java — with real-world examples that make it click.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9" y="806723"/>
            <a:ext cx="2647504" cy="35300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7654" y="373410"/>
            <a:ext cx="4877693" cy="89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Problem: Two Worlds Collide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3847654" y="1532260"/>
            <a:ext cx="2292921" cy="878681"/>
          </a:xfrm>
          <a:prstGeom prst="roundRect">
            <a:avLst>
              <a:gd name="adj" fmla="val 7805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33366" y="1532260"/>
            <a:ext cx="57150" cy="878681"/>
          </a:xfrm>
          <a:prstGeom prst="roundRect">
            <a:avLst>
              <a:gd name="adj" fmla="val 87907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024387" y="1666131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☕</a:t>
            </a: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App Code (OOP)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24387" y="1990576"/>
            <a:ext cx="1982316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 — your code thinks in </a:t>
            </a: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objects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classes, and methods.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47654" y="2511847"/>
            <a:ext cx="2292921" cy="1021928"/>
          </a:xfrm>
          <a:prstGeom prst="roundRect">
            <a:avLst>
              <a:gd name="adj" fmla="val 6711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833366" y="2511847"/>
            <a:ext cx="57150" cy="1021928"/>
          </a:xfrm>
          <a:prstGeom prst="roundRect">
            <a:avLst>
              <a:gd name="adj" fmla="val 87907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24387" y="2645718"/>
            <a:ext cx="1894136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🗄️</a:t>
            </a: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Database (Relational)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24387" y="2970163"/>
            <a:ext cx="1982316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SQL, tables, rows, columns — the database thinks in </a:t>
            </a: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sets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847654" y="3634680"/>
            <a:ext cx="2292921" cy="1021928"/>
          </a:xfrm>
          <a:prstGeom prst="roundRect">
            <a:avLst>
              <a:gd name="adj" fmla="val 6711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833366" y="3634680"/>
            <a:ext cx="57150" cy="1021928"/>
          </a:xfrm>
          <a:prstGeom prst="roundRect">
            <a:avLst>
              <a:gd name="adj" fmla="val 87907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24387" y="3768551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⚡</a:t>
            </a: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The Mismatch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24387" y="4092997"/>
            <a:ext cx="1982316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Bridging these two worlds manually is </a:t>
            </a: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complex, repetitive, and error-prone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37188" y="1532260"/>
            <a:ext cx="2292921" cy="1140768"/>
          </a:xfrm>
          <a:prstGeom prst="roundRect">
            <a:avLst>
              <a:gd name="adj" fmla="val 4404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772" y="1691283"/>
            <a:ext cx="149498" cy="11958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25853" y="1663005"/>
            <a:ext cx="1784672" cy="859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 bridge, developers must hand-write SQL for every query, manually map results to objects, and risk SQL injection bugs — all just to do basic data operations.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437188" y="2786509"/>
            <a:ext cx="2292921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friction is called the </a:t>
            </a: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"impedance mismatch"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a classic pain point every developer eventually faces.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95126"/>
            <a:ext cx="3545756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Enter ORM: The Translator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6605" y="822424"/>
            <a:ext cx="7030715" cy="22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ORM (Object-Relational Mapping)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a technique that bridges the gap between your object-oriented code and the relational database — automatically.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307" y="1132359"/>
            <a:ext cx="4129311" cy="245075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4554" y="1731364"/>
            <a:ext cx="351524" cy="3515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381368" y="2877112"/>
            <a:ext cx="1026450" cy="4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Store &amp; Return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7647" y="1732023"/>
            <a:ext cx="351524" cy="3515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87760" y="2877112"/>
            <a:ext cx="1026450" cy="4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ORM Translates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14038" y="1732023"/>
            <a:ext cx="351524" cy="35152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773060" y="2877112"/>
            <a:ext cx="1026450" cy="47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Write Objects</a:t>
            </a:r>
            <a:endParaRPr lang="en-US" sz="1400" dirty="0"/>
          </a:p>
        </p:txBody>
      </p:sp>
      <p:sp>
        <p:nvSpPr>
          <p:cNvPr id="11" name="Shape 5"/>
          <p:cNvSpPr/>
          <p:nvPr/>
        </p:nvSpPr>
        <p:spPr>
          <a:xfrm>
            <a:off x="1056605" y="3747864"/>
            <a:ext cx="1658913" cy="1018059"/>
          </a:xfrm>
          <a:prstGeom prst="roundRect">
            <a:avLst>
              <a:gd name="adj" fmla="val 4204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6"/>
          <p:cNvSpPr/>
          <p:nvPr/>
        </p:nvSpPr>
        <p:spPr>
          <a:xfrm>
            <a:off x="1168003" y="3859262"/>
            <a:ext cx="1436117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Map Objects → Tables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1168003" y="4313188"/>
            <a:ext cx="1436117" cy="341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Java class becomes a database table. Each field becomes a column.</a:t>
            </a:r>
            <a:endParaRPr lang="en-US" sz="800" dirty="0"/>
          </a:p>
        </p:txBody>
      </p:sp>
      <p:sp>
        <p:nvSpPr>
          <p:cNvPr id="14" name="Shape 8"/>
          <p:cNvSpPr/>
          <p:nvPr/>
        </p:nvSpPr>
        <p:spPr>
          <a:xfrm>
            <a:off x="2788741" y="3747864"/>
            <a:ext cx="1658913" cy="1018059"/>
          </a:xfrm>
          <a:prstGeom prst="roundRect">
            <a:avLst>
              <a:gd name="adj" fmla="val 4204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2900139" y="3859262"/>
            <a:ext cx="143611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Auto-Generate SQL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2900139" y="4122837"/>
            <a:ext cx="1436117" cy="35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call </a:t>
            </a:r>
            <a:r>
              <a:rPr lang="en-US" sz="8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student.save()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Hibernate writes </a:t>
            </a:r>
            <a:r>
              <a:rPr lang="en-US" sz="8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students...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you.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4700960" y="3747864"/>
            <a:ext cx="1658913" cy="827708"/>
          </a:xfrm>
          <a:prstGeom prst="roundRect">
            <a:avLst>
              <a:gd name="adj" fmla="val 5170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4812357" y="3859262"/>
            <a:ext cx="143611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Popular ORM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812357" y="4122837"/>
            <a:ext cx="1436117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Hibernate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(Java)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6433096" y="3747864"/>
            <a:ext cx="1658913" cy="827708"/>
          </a:xfrm>
          <a:prstGeom prst="roundRect">
            <a:avLst>
              <a:gd name="adj" fmla="val 5170"/>
            </a:avLst>
          </a:prstGeom>
          <a:solidFill>
            <a:srgbClr val="FFFFF4"/>
          </a:solidFill>
          <a:ln w="9525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544494" y="3859262"/>
            <a:ext cx="143611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Think of It As...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6544494" y="4122837"/>
            <a:ext cx="1436117" cy="341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smart translator: you speak </a:t>
            </a:r>
            <a:r>
              <a:rPr lang="en-US" sz="8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Java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ORM speaks </a:t>
            </a:r>
            <a:r>
              <a:rPr lang="en-US" sz="8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57634"/>
            <a:ext cx="5518249" cy="405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Real-World Example: Fetching Students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827336" y="929357"/>
            <a:ext cx="7489254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the difference ORM makes with a simple, everyday task — retrieving all students from a database.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49201" y="1147390"/>
            <a:ext cx="3768477" cy="3638401"/>
          </a:xfrm>
          <a:prstGeom prst="roundRect">
            <a:avLst>
              <a:gd name="adj" fmla="val 2148"/>
            </a:avLst>
          </a:prstGeom>
          <a:solidFill>
            <a:srgbClr val="532418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7696" y="1230437"/>
            <a:ext cx="199511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❌</a:t>
            </a:r>
            <a:r>
              <a:rPr lang="en-US" sz="1200" dirty="0">
                <a:solidFill>
                  <a:srgbClr val="FFFFF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Without ORM (Raw SQL)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7696" y="1526753"/>
            <a:ext cx="3551486" cy="2583805"/>
          </a:xfrm>
          <a:prstGeom prst="roundRect">
            <a:avLst>
              <a:gd name="adj" fmla="val 1764"/>
            </a:avLst>
          </a:prstGeom>
          <a:solidFill>
            <a:srgbClr val="6031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2339" y="1526753"/>
            <a:ext cx="3562201" cy="2583805"/>
          </a:xfrm>
          <a:prstGeom prst="roundRect">
            <a:avLst>
              <a:gd name="adj" fmla="val 630"/>
            </a:avLst>
          </a:prstGeom>
          <a:solidFill>
            <a:srgbClr val="60312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996" y="1635249"/>
            <a:ext cx="3290888" cy="236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java.sql.Connection;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java.sql.DriverManager;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java.sql.ResultSet;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java.sql.Statement;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conn = DriverManager.getConnection("jdbc:sqlite:school.db");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 stmt = conn.createStatement();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ResultSet rs = stmt.executeQuery(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 * FROM students WHERE active=1"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(rs.next()) {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System.out.println(rs.getString(1) + " " + rs.getString(2)); // index guessing!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60312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conn.close();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57696" y="4204022"/>
            <a:ext cx="3551486" cy="488305"/>
          </a:xfrm>
          <a:prstGeom prst="roundRect">
            <a:avLst>
              <a:gd name="adj" fmla="val 9336"/>
            </a:avLst>
          </a:prstGeom>
          <a:solidFill>
            <a:srgbClr val="FFB3B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192" y="4344665"/>
            <a:ext cx="135657" cy="1084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10345" y="4314155"/>
            <a:ext cx="3090342" cy="24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connection, raw SQL strings, index-based access — fragile and hard to maintain.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09071" y="1230437"/>
            <a:ext cx="248572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✅</a:t>
            </a:r>
            <a:r>
              <a:rPr lang="en-US" sz="1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With ORM (Hibernate Example)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071" y="1526753"/>
            <a:ext cx="3612207" cy="1462683"/>
          </a:xfrm>
          <a:prstGeom prst="roundRect">
            <a:avLst>
              <a:gd name="adj" fmla="val 3117"/>
            </a:avLst>
          </a:prstGeom>
          <a:solidFill>
            <a:srgbClr val="F2F2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03713" y="1526753"/>
            <a:ext cx="3622923" cy="1537246"/>
          </a:xfrm>
          <a:prstGeom prst="roundRect">
            <a:avLst>
              <a:gd name="adj" fmla="val 1113"/>
            </a:avLst>
          </a:prstGeom>
          <a:solidFill>
            <a:srgbClr val="F2F2E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39370" y="1635249"/>
            <a:ext cx="3351609" cy="124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session = sessionFactory.openSession();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students = session.createQuery(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"FROM Student WHERE active = true",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Student.class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).getResultList();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(Student student : students) {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System.out.println(student.getName() + " " + student.getEmail());</a:t>
            </a:r>
            <a:endParaRPr lang="en-US" sz="850" dirty="0"/>
          </a:p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071" y="3082900"/>
            <a:ext cx="3612207" cy="488305"/>
          </a:xfrm>
          <a:prstGeom prst="roundRect">
            <a:avLst>
              <a:gd name="adj" fmla="val 9336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566" y="3223543"/>
            <a:ext cx="135657" cy="1084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61719" y="3193033"/>
            <a:ext cx="3151063" cy="24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readable, and Java-friendly — no SQL written. Hibernate handles the rest.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709071" y="3664669"/>
            <a:ext cx="3612207" cy="37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ORM code is </a:t>
            </a:r>
            <a:r>
              <a:rPr lang="en-US" sz="8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shorter, safer, and easier to read</a:t>
            </a: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Changing the database engine? Just update the config — your code stays the same.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290" y="818555"/>
            <a:ext cx="2629793" cy="3506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59210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Hibernate: Mastering Data Persistence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96119" y="2931468"/>
            <a:ext cx="4722763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deep dive into design patterns, loading strategies, caching, native queries, and the key annotations that power enterprise Java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988" y="914102"/>
            <a:ext cx="1090985" cy="232395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560043" y="956593"/>
            <a:ext cx="920874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474988" y="1203201"/>
            <a:ext cx="5177582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Object-Relational Mapping (ORM)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474988" y="2404616"/>
            <a:ext cx="5177582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Hibernate bridges the gap between </a:t>
            </a: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object-oriented Java code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relational databases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It maps Java objects to database tables — acting as a translator so your application can persist data without writing raw SQL directly.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74988" y="3301082"/>
            <a:ext cx="5177582" cy="928315"/>
          </a:xfrm>
          <a:prstGeom prst="roundRect">
            <a:avLst>
              <a:gd name="adj" fmla="val 641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747" y="3497089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5685" y="3478262"/>
            <a:ext cx="4575125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Think of Hibernate as a smart middleman: your Java code speaks objects, your database speaks tables — Hibernate handles the conversation.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1" y="809104"/>
            <a:ext cx="2643932" cy="35252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63132" y="395362"/>
            <a:ext cx="4033614" cy="4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Design Patterns in Action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863132" y="1021705"/>
            <a:ext cx="4846737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Hibernate's architecture is built on proven design patterns that promote clean, maintainable code.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863132" y="1446014"/>
            <a:ext cx="4846737" cy="1031528"/>
          </a:xfrm>
          <a:prstGeom prst="roundRect">
            <a:avLst>
              <a:gd name="adj" fmla="val 6648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48844" y="1446014"/>
            <a:ext cx="57150" cy="1031528"/>
          </a:xfrm>
          <a:prstGeom prst="roundRect">
            <a:avLst>
              <a:gd name="adj" fmla="val 91163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44255" y="1584275"/>
            <a:ext cx="1783110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Mapper Pattern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044255" y="1881113"/>
            <a:ext cx="4527352" cy="458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Hibernate abstracts direct database interactions via a clean API. Instead of writing SQL, you simply call </a:t>
            </a:r>
            <a:r>
              <a:rPr lang="en-US" sz="95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session.save(customer)</a:t>
            </a: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Hibernate handles the rest.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63132" y="2586038"/>
            <a:ext cx="4846737" cy="1026765"/>
          </a:xfrm>
          <a:prstGeom prst="roundRect">
            <a:avLst>
              <a:gd name="adj" fmla="val 6679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48844" y="2586038"/>
            <a:ext cx="57150" cy="1026765"/>
          </a:xfrm>
          <a:prstGeom prst="roundRect">
            <a:avLst>
              <a:gd name="adj" fmla="val 91163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044255" y="2724299"/>
            <a:ext cx="1783110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Unit of Work Pattern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44255" y="3021137"/>
            <a:ext cx="4527352" cy="45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Manages transactions and ensures data consistency. Updating a customer's address </a:t>
            </a:r>
            <a:r>
              <a:rPr lang="en-US" sz="9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</a:t>
            </a: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placing an order are committed or rolled back together — atomically.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63132" y="3721298"/>
            <a:ext cx="4846737" cy="1026765"/>
          </a:xfrm>
          <a:prstGeom prst="roundRect">
            <a:avLst>
              <a:gd name="adj" fmla="val 6679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848844" y="3721298"/>
            <a:ext cx="57150" cy="1026765"/>
          </a:xfrm>
          <a:prstGeom prst="roundRect">
            <a:avLst>
              <a:gd name="adj" fmla="val 91163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44255" y="3859560"/>
            <a:ext cx="1783110" cy="231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Proxy Pattern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44255" y="4156397"/>
            <a:ext cx="4527352" cy="45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Hibernate uses proxy objects to support lazy loading. The actual data is fetched only when a method on the proxy is invoked, deferring expensive DB calls.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29133"/>
            <a:ext cx="5600849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Loading Strategies: When to Fetch Data?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03759" y="885974"/>
            <a:ext cx="7336408" cy="120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Choosing the right loading strategy is critical for application performance.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759" y="1186235"/>
            <a:ext cx="3538463" cy="353846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759" y="1186235"/>
            <a:ext cx="3538463" cy="353846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06392" y="2304827"/>
            <a:ext cx="3538463" cy="608186"/>
          </a:xfrm>
          <a:prstGeom prst="roundRect">
            <a:avLst>
              <a:gd name="adj" fmla="val 734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655" y="2439888"/>
            <a:ext cx="132904" cy="1062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51822" y="2411090"/>
            <a:ext cx="3086770" cy="3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Eager Example: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Loading a </a:t>
            </a:r>
            <a:r>
              <a:rPr lang="en-US" sz="800" dirty="0">
                <a:solidFill>
                  <a:srgbClr val="000000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object and immediately needing all their </a:t>
            </a:r>
            <a:r>
              <a:rPr lang="en-US" sz="800" dirty="0">
                <a:solidFill>
                  <a:srgbClr val="000000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use </a:t>
            </a:r>
            <a:r>
              <a:rPr lang="en-US" sz="800" dirty="0">
                <a:solidFill>
                  <a:srgbClr val="000000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FetchType.EAGER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800" dirty="0"/>
          </a:p>
        </p:txBody>
      </p:sp>
      <p:sp>
        <p:nvSpPr>
          <p:cNvPr id="9" name="Shape 4"/>
          <p:cNvSpPr/>
          <p:nvPr/>
        </p:nvSpPr>
        <p:spPr>
          <a:xfrm>
            <a:off x="4706392" y="3002682"/>
            <a:ext cx="3538463" cy="603424"/>
          </a:xfrm>
          <a:prstGeom prst="roundRect">
            <a:avLst>
              <a:gd name="adj" fmla="val 7401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2655" y="3137743"/>
            <a:ext cx="132904" cy="1062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051822" y="3108945"/>
            <a:ext cx="3086770" cy="372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Lazy Example: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Loading a </a:t>
            </a:r>
            <a:r>
              <a:rPr lang="en-US" sz="800" dirty="0">
                <a:solidFill>
                  <a:srgbClr val="000000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but only fetching </a:t>
            </a:r>
            <a:r>
              <a:rPr lang="en-US" sz="800" dirty="0">
                <a:solidFill>
                  <a:srgbClr val="000000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when you iterate them — use </a:t>
            </a:r>
            <a:r>
              <a:rPr lang="en-US" sz="800" dirty="0">
                <a:solidFill>
                  <a:srgbClr val="000000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FetchType.LAZY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Watch for the N+1 problem!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9439"/>
            <a:ext cx="6348933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Caching: Speeding Up Data Access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922785"/>
            <a:ext cx="81517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Hibernate offers a two-level caching architecture to drastically reduce database round-trips.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66504"/>
            <a:ext cx="2622724" cy="1767557"/>
          </a:xfrm>
          <a:prstGeom prst="roundRect">
            <a:avLst>
              <a:gd name="adj" fmla="val 3369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2165" y="242255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🗂️</a:t>
            </a: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First-Level Cache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165" y="2772519"/>
            <a:ext cx="2310631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Single </a:t>
            </a: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only. Automatically active — no configuration needed. Retrieving the same </a:t>
            </a: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twice in one session returns the cached object.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266504"/>
            <a:ext cx="2622724" cy="1767557"/>
          </a:xfrm>
          <a:prstGeom prst="roundRect">
            <a:avLst>
              <a:gd name="adj" fmla="val 3369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16647" y="2422550"/>
            <a:ext cx="215971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🌐</a:t>
            </a: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Second-Level Cache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16647" y="2772519"/>
            <a:ext cx="2310631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Shared across all </a:t>
            </a: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SessionFactory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Requires explicit configuration (e.g., EhCache, Infinispan). Ideal for frequently accessed, rarely changed data.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266504"/>
            <a:ext cx="2622724" cy="1767557"/>
          </a:xfrm>
          <a:prstGeom prst="roundRect">
            <a:avLst>
              <a:gd name="adj" fmla="val 3369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81130" y="2422550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🔍</a:t>
            </a: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Query Cache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81130" y="2772519"/>
            <a:ext cx="2310631" cy="1105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Caches the results of HQL/Criteria queries. Works alongside the second-level cache. Best for queries with stable results and high repeat frequency.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355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346" y="811485"/>
            <a:ext cx="2640360" cy="35205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9610" y="531316"/>
            <a:ext cx="4780806" cy="48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Caching Strategies Explained</a:t>
            </a:r>
            <a:endParaRPr lang="en-US" sz="2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" y="1186086"/>
            <a:ext cx="642342" cy="7708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08336" y="1314524"/>
            <a:ext cx="1846808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READ_ONLY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208336" y="1624385"/>
            <a:ext cx="4057055" cy="159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Immutable data only. Fastest strategy — no locking overhead.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" y="1956941"/>
            <a:ext cx="642342" cy="88508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08336" y="2085380"/>
            <a:ext cx="2196405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NONSTRICT_READ_WRITE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208336" y="2395240"/>
            <a:ext cx="4057055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Allows writes. No guaranteed immediate consistency. Best for most use cases.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610" y="2842022"/>
            <a:ext cx="642342" cy="88508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08336" y="2970461"/>
            <a:ext cx="1846808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READ_WRITE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208336" y="3280321"/>
            <a:ext cx="4057055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soft locks for consistency. Slightly slower but reliable for concurrent updates.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610" y="3727103"/>
            <a:ext cx="642342" cy="88508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08336" y="3855541"/>
            <a:ext cx="1846808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TRANSACTIONAL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1208336" y="4165402"/>
            <a:ext cx="4057055" cy="31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ACID compliance. Slowest but safest for critical transactional data.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0053"/>
            <a:ext cx="5177582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Native Queries: Direct Database Access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861468"/>
            <a:ext cx="5177582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Hibernate's HQL or Criteria API falls short, Native SQL gives you full control.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357512"/>
            <a:ext cx="5177582" cy="1204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Case: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Complex stored procedures, database-specific functions, or highly optimised SQL.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 </a:t>
            </a: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session.createNativeQuery("SELECT * FROM products WHERE ...")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Caution: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Bypasses Hibernate optimisations and reduces portability across databases.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3721596"/>
            <a:ext cx="5177582" cy="744066"/>
          </a:xfrm>
          <a:prstGeom prst="roundRect">
            <a:avLst>
              <a:gd name="adj" fmla="val 8002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17603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3898776"/>
            <a:ext cx="4575125" cy="36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native queries sparingly — they tightly couple your code to a specific database dialect.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339" y="1257598"/>
            <a:ext cx="2628230" cy="26282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68139"/>
            <a:ext cx="8186142" cy="49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Hibernate Annotations: The Building Blocks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65162" y="1213991"/>
            <a:ext cx="8213675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annotations form the foundation of every Hibernate entity.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65162" y="1521470"/>
            <a:ext cx="4044553" cy="1514624"/>
          </a:xfrm>
          <a:prstGeom prst="roundRect">
            <a:avLst>
              <a:gd name="adj" fmla="val 3685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9450" y="1535757"/>
            <a:ext cx="4015978" cy="398711"/>
          </a:xfrm>
          <a:prstGeom prst="roundRect">
            <a:avLst>
              <a:gd name="adj" fmla="val 9700"/>
            </a:avLst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387724" y="1598414"/>
            <a:ext cx="199355" cy="259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2353" y="2059037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@Entity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353" y="2382069"/>
            <a:ext cx="3750171" cy="50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Marks a Java class as a persistent entity mapped to a DB table.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@Entity public class Product { ... 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34285" y="1521470"/>
            <a:ext cx="4044553" cy="1514624"/>
          </a:xfrm>
          <a:prstGeom prst="roundRect">
            <a:avLst>
              <a:gd name="adj" fmla="val 3685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48572" y="1535757"/>
            <a:ext cx="4015978" cy="398711"/>
          </a:xfrm>
          <a:prstGeom prst="roundRect">
            <a:avLst>
              <a:gd name="adj" fmla="val 9700"/>
            </a:avLst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56846" y="1598414"/>
            <a:ext cx="199355" cy="259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81476" y="2059037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@Table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81476" y="2382069"/>
            <a:ext cx="3750171" cy="339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Specifies the exact table name in the database.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 = "products_catalog")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162" y="3160663"/>
            <a:ext cx="4044553" cy="1514624"/>
          </a:xfrm>
          <a:prstGeom prst="roundRect">
            <a:avLst>
              <a:gd name="adj" fmla="val 3685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9450" y="3174950"/>
            <a:ext cx="4015978" cy="398711"/>
          </a:xfrm>
          <a:prstGeom prst="roundRect">
            <a:avLst>
              <a:gd name="adj" fmla="val 9700"/>
            </a:avLst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87724" y="3237607"/>
            <a:ext cx="199355" cy="259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12353" y="3698230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@Id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353" y="4021262"/>
            <a:ext cx="3750171" cy="339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Designates the primary key field of the entity.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@Id private Long id;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34285" y="3160663"/>
            <a:ext cx="4044553" cy="1514624"/>
          </a:xfrm>
          <a:prstGeom prst="roundRect">
            <a:avLst>
              <a:gd name="adj" fmla="val 3685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48572" y="3174950"/>
            <a:ext cx="4015978" cy="398711"/>
          </a:xfrm>
          <a:prstGeom prst="roundRect">
            <a:avLst>
              <a:gd name="adj" fmla="val 9700"/>
            </a:avLst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56846" y="3237607"/>
            <a:ext cx="199355" cy="259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781476" y="3698230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@GeneratedValue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81476" y="4021262"/>
            <a:ext cx="3750171" cy="506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Configures primary key generation strategy (e.g., auto-increment).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@GeneratedValue(strategy = GenerationType.IDENTITY)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9286"/>
            <a:ext cx="8151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More Key Annotations: Relationships &amp; Caching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62460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106737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@Column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56816" y="2456706"/>
            <a:ext cx="352655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Maps a field to a specific column with constraints.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@Column(name = "product_name", nullable = false, length = 255)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062460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106737"/>
            <a:ext cx="290512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@OneToMany / @ManyToOne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121250" y="2456706"/>
            <a:ext cx="3526631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Defines entity relationships. </a:t>
            </a: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@ManyToOne @JoinColumn(name = "category_id") private Category category;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92971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3337247"/>
            <a:ext cx="290512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@ManyToMany / @OneToOne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56816" y="3687217"/>
            <a:ext cx="352655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complex relationships. Use </a:t>
            </a: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@JoinTable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for many-to-many mappings between entities like </a:t>
            </a: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292971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3337247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@Cache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121250" y="3687217"/>
            <a:ext cx="3526631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Enables second-level caching on an entity.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67534F"/>
                </a:solidFill>
                <a:highlight>
                  <a:srgbClr val="F2F2E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@Cache(usage = CacheConcurrencyStrategy.NONSTRICT_READ_WRITE)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6" y="804342"/>
            <a:ext cx="2651075" cy="35348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32101" y="322808"/>
            <a:ext cx="4908798" cy="86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Building Efficient Applications with Hibernate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832101" y="1324124"/>
            <a:ext cx="4908798" cy="27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Hibernate is far more than a query tool — it's a comprehensive persistence framework.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832101" y="1700659"/>
            <a:ext cx="4908798" cy="3120033"/>
          </a:xfrm>
          <a:prstGeom prst="roundRect">
            <a:avLst>
              <a:gd name="adj" fmla="val 1551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846388" y="1714946"/>
            <a:ext cx="4880223" cy="772864"/>
          </a:xfrm>
          <a:prstGeom prst="roundRect">
            <a:avLst>
              <a:gd name="adj" fmla="val 6260"/>
            </a:avLst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961507" y="1830065"/>
            <a:ext cx="165578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Design Patterns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61507" y="2101379"/>
            <a:ext cx="4649986" cy="27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Mapper, Unit of Work, and Proxy patterns keep your code clean and maintainable.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46388" y="2487811"/>
            <a:ext cx="4880223" cy="772864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46388" y="2487811"/>
            <a:ext cx="4880223" cy="14288"/>
          </a:xfrm>
          <a:prstGeom prst="roundRect">
            <a:avLst>
              <a:gd name="adj" fmla="val 338593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961507" y="2602929"/>
            <a:ext cx="165578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 Loading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61507" y="2874243"/>
            <a:ext cx="4649986" cy="27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Eager vs. Lazy loading based on your access patterns to avoid performance pitfalls.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46388" y="3260675"/>
            <a:ext cx="4880223" cy="772864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846388" y="3260675"/>
            <a:ext cx="4880223" cy="14288"/>
          </a:xfrm>
          <a:prstGeom prst="roundRect">
            <a:avLst>
              <a:gd name="adj" fmla="val 338593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961507" y="3375794"/>
            <a:ext cx="165578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Caching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961507" y="3647108"/>
            <a:ext cx="4649986" cy="27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Leverage L1 and L2 caches with the right strategy to minimise costly database round-trips.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846388" y="4033540"/>
            <a:ext cx="4880223" cy="772864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846388" y="4033540"/>
            <a:ext cx="4880223" cy="14288"/>
          </a:xfrm>
          <a:prstGeom prst="roundRect">
            <a:avLst>
              <a:gd name="adj" fmla="val 338593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61507" y="4148658"/>
            <a:ext cx="1655787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Annotations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961507" y="4419972"/>
            <a:ext cx="4649986" cy="271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core annotations to build robust, well-mapped entities and relationships confidently.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1340</Words>
  <Application>Microsoft Macintosh PowerPoint</Application>
  <PresentationFormat>On-screen Show 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Marcellus</vt:lpstr>
      <vt:lpstr>Montserrat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Abhijeet B Patil</cp:lastModifiedBy>
  <cp:revision>3</cp:revision>
  <dcterms:created xsi:type="dcterms:W3CDTF">2026-05-14T07:56:42Z</dcterms:created>
  <dcterms:modified xsi:type="dcterms:W3CDTF">2026-05-14T08:39:44Z</dcterms:modified>
</cp:coreProperties>
</file>