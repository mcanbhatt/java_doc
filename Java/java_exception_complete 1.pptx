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283" r:id="rId4"/>
    <p:sldId id="280" r:id="rId5"/>
    <p:sldId id="258" r:id="rId6"/>
    <p:sldId id="259" r:id="rId7"/>
    <p:sldId id="260" r:id="rId8"/>
    <p:sldId id="261" r:id="rId9"/>
    <p:sldId id="282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4" r:id="rId25"/>
    <p:sldId id="285" r:id="rId26"/>
    <p:sldId id="277" r:id="rId27"/>
    <p:sldId id="27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80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E9876-D46C-339D-F21C-0B31E2F2DF9F}"/>
              </a:ext>
            </a:extLst>
          </p:cNvPr>
          <p:cNvSpPr txBox="1"/>
          <p:nvPr/>
        </p:nvSpPr>
        <p:spPr>
          <a:xfrm>
            <a:off x="4773457" y="1341752"/>
            <a:ext cx="3604497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Java Exception Handling</a:t>
            </a:r>
          </a:p>
        </p:txBody>
      </p:sp>
      <p:pic>
        <p:nvPicPr>
          <p:cNvPr id="41" name="Graphic 40" descr="User">
            <a:extLst>
              <a:ext uri="{FF2B5EF4-FFF2-40B4-BE49-F238E27FC236}">
                <a16:creationId xmlns:a16="http://schemas.microsoft.com/office/drawing/2014/main" id="{61B03E52-8549-361F-4E30-9DE040BF8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56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dirty="0"/>
              <a:t>Topics:</a:t>
            </a:r>
          </a:p>
          <a:p>
            <a:r>
              <a:rPr lang="en-US" dirty="0"/>
              <a:t>1. Exception Hierarchy</a:t>
            </a:r>
          </a:p>
          <a:p>
            <a:r>
              <a:rPr lang="en-US" dirty="0"/>
              <a:t>2. Checked vs Unchecked</a:t>
            </a:r>
          </a:p>
          <a:p>
            <a:r>
              <a:rPr lang="en-US" dirty="0"/>
              <a:t>3. Custom Exceptions</a:t>
            </a:r>
          </a:p>
          <a:p>
            <a:r>
              <a:rPr lang="en-US" dirty="0"/>
              <a:t>4. Try-Catch-Finally</a:t>
            </a:r>
          </a:p>
          <a:p>
            <a:r>
              <a:rPr lang="en-US" dirty="0"/>
              <a:t>5. Resource Management</a:t>
            </a:r>
          </a:p>
          <a:p>
            <a:r>
              <a:rPr lang="en-US" dirty="0"/>
              <a:t>6. Multiple Exceptions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E52D-887E-E384-C9BA-2B0FA4BD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27C7-EECF-E6E3-B7A7-16A818173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Java, an </a:t>
            </a:r>
            <a:r>
              <a:rPr lang="en-US" b="1" dirty="0"/>
              <a:t>exception</a:t>
            </a:r>
            <a:r>
              <a:rPr lang="en-US" dirty="0"/>
              <a:t> is an event that disrupts the normal flow of a program while it is running.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Java provides a way to handle </a:t>
            </a:r>
            <a:r>
              <a:rPr lang="en-US" dirty="0" err="1"/>
              <a:t>exceptions,Pr</a:t>
            </a:r>
            <a:r>
              <a:rPr lang="en-IN" dirty="0"/>
              <a:t>event program crashes, Helps manage errors gracefully using: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try-catch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try-catch with multiple catches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try-catch-finally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throws keyword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throw keyword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48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31010C1-4939-A5AD-7AF7-998E9902BF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896111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00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Checked vs Unchecked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512070-9387-7F4E-7F82-15B0FEFE6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" y="1258827"/>
            <a:ext cx="8961119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exceptions are exceptions that the compiler forces you to handle.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method can throw a checked exception, it must either: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Catch it using try-catch, or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Declare it using throws in the method signature.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Unchecked exceptions are exceptions that the compiler does not require you to handle.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subclasses of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RuntimeException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(and Error is also unchecked but usually represents fatal conditions).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Checked Exception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import java.io.*;</a:t>
            </a:r>
          </a:p>
          <a:p>
            <a:pPr marL="0" indent="0">
              <a:buNone/>
            </a:pPr>
            <a:r>
              <a:rPr dirty="0"/>
              <a:t>class Test {</a:t>
            </a:r>
          </a:p>
          <a:p>
            <a:pPr marL="0" indent="0">
              <a:buNone/>
            </a:pPr>
            <a:r>
              <a:rPr dirty="0"/>
              <a:t>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try {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FileReader</a:t>
            </a:r>
            <a:r>
              <a:rPr dirty="0"/>
              <a:t> </a:t>
            </a:r>
            <a:r>
              <a:rPr dirty="0" err="1"/>
              <a:t>fr</a:t>
            </a:r>
            <a:r>
              <a:rPr dirty="0"/>
              <a:t> = new </a:t>
            </a:r>
            <a:r>
              <a:rPr dirty="0" err="1"/>
              <a:t>FileReader</a:t>
            </a:r>
            <a:r>
              <a:rPr dirty="0"/>
              <a:t>("file.txt");</a:t>
            </a:r>
          </a:p>
          <a:p>
            <a:pPr marL="0" indent="0">
              <a:buNone/>
            </a:pPr>
            <a:r>
              <a:rPr dirty="0"/>
              <a:t>    } catch(</a:t>
            </a:r>
            <a:r>
              <a:rPr dirty="0" err="1"/>
              <a:t>IOException</a:t>
            </a:r>
            <a:r>
              <a:rPr dirty="0"/>
              <a:t> e) {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System.out.println</a:t>
            </a:r>
            <a:r>
              <a:rPr dirty="0"/>
              <a:t>(</a:t>
            </a:r>
            <a:r>
              <a:rPr dirty="0" err="1"/>
              <a:t>e.getMessage</a:t>
            </a:r>
            <a:r>
              <a:rPr dirty="0"/>
              <a:t>());</a:t>
            </a:r>
          </a:p>
          <a:p>
            <a:pPr marL="0" indent="0">
              <a:buNone/>
            </a:pPr>
            <a:r>
              <a:rPr dirty="0"/>
              <a:t>    }</a:t>
            </a:r>
          </a:p>
          <a:p>
            <a:pPr marL="0" indent="0">
              <a:buNone/>
            </a:pPr>
            <a:r>
              <a:rPr dirty="0"/>
              <a:t>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Unchecked Exception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class Test {</a:t>
            </a:r>
          </a:p>
          <a:p>
            <a:pPr marL="0" indent="0">
              <a:buNone/>
            </a:pPr>
            <a:r>
              <a:rPr dirty="0"/>
              <a:t>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int a = 10/0; // </a:t>
            </a:r>
            <a:r>
              <a:rPr dirty="0" err="1"/>
              <a:t>ArithmeticException</a:t>
            </a:r>
            <a:endParaRPr dirty="0"/>
          </a:p>
          <a:p>
            <a:pPr marL="0" indent="0">
              <a:buNone/>
            </a:pPr>
            <a:r>
              <a:rPr dirty="0"/>
              <a:t>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When to Use 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3648" cy="4525963"/>
          </a:xfrm>
        </p:spPr>
        <p:txBody>
          <a:bodyPr/>
          <a:lstStyle/>
          <a:p>
            <a:r>
              <a:rPr dirty="0">
                <a:solidFill>
                  <a:schemeClr val="accent6">
                    <a:lumMod val="75000"/>
                  </a:schemeClr>
                </a:solidFill>
              </a:rPr>
              <a:t>Checked: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Checked exceptions represent </a:t>
            </a:r>
            <a:r>
              <a:rPr lang="en-US" b="1" dirty="0"/>
              <a:t>recoverable conditions</a:t>
            </a:r>
            <a:r>
              <a:rPr lang="en-US" dirty="0"/>
              <a:t>, meaning the caller can take an alternative action or gracefully degrade instead of crashing.</a:t>
            </a:r>
            <a:br>
              <a:rPr lang="en-US" dirty="0"/>
            </a:br>
            <a:r>
              <a:rPr lang="en-US" dirty="0"/>
              <a:t>catch handles the recovery, finally ensures resources like files, DB connections, or sockets are </a:t>
            </a:r>
            <a:r>
              <a:rPr lang="en-US" b="1" dirty="0"/>
              <a:t>always released</a:t>
            </a:r>
            <a:r>
              <a:rPr lang="en-US" dirty="0"/>
              <a:t>, preventing leaks.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7EE62-0CAD-95DF-3F8F-6A8D5644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96BBC-08FF-4D8E-049B-44EC75FBA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40664"/>
            <a:ext cx="8613648" cy="5385499"/>
          </a:xfrm>
        </p:spPr>
        <p:txBody>
          <a:bodyPr/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Un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Checked: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Unchecked exceptions represent </a:t>
            </a:r>
            <a:r>
              <a:rPr lang="en-US" b="1" dirty="0"/>
              <a:t>programming errors or logic bugs</a:t>
            </a:r>
            <a:r>
              <a:rPr lang="en-US" dirty="0"/>
              <a:t> that are typically </a:t>
            </a:r>
            <a:r>
              <a:rPr lang="en-US" b="1" dirty="0"/>
              <a:t>unrecoverable at runtime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 </a:t>
            </a:r>
            <a:r>
              <a:rPr lang="en-US" b="1" dirty="0"/>
              <a:t>may catch them</a:t>
            </a:r>
            <a:r>
              <a:rPr lang="en-US" dirty="0"/>
              <a:t> to log or take optional fallback actions, but they are generally meant to signal bugs.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503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your own exception by extending Exception or </a:t>
            </a:r>
            <a:r>
              <a:rPr dirty="0" err="1"/>
              <a:t>RuntimeException</a:t>
            </a:r>
            <a:endParaRPr lang="en-IN" dirty="0"/>
          </a:p>
          <a:p>
            <a:r>
              <a:rPr lang="en-US" dirty="0"/>
              <a:t>Extend Exception -&gt; checked</a:t>
            </a:r>
          </a:p>
          <a:p>
            <a:r>
              <a:rPr lang="en-US" dirty="0"/>
              <a:t>Extend </a:t>
            </a:r>
            <a:r>
              <a:rPr lang="en-US" dirty="0" err="1"/>
              <a:t>RuntimeException</a:t>
            </a:r>
            <a:r>
              <a:rPr lang="en-US" dirty="0"/>
              <a:t> -&gt; unchecked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 Checked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MyException extends Exception {</a:t>
            </a:r>
          </a:p>
          <a:p>
            <a:r>
              <a:t>  public MyException(String msg) {</a:t>
            </a:r>
          </a:p>
          <a:p>
            <a:r>
              <a:t>    super(msg);</a:t>
            </a:r>
          </a:p>
          <a:p>
            <a:r>
              <a:t>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 Unchecked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 </a:t>
            </a:r>
            <a:r>
              <a:rPr dirty="0" err="1"/>
              <a:t>MyRuntimeException</a:t>
            </a:r>
            <a:r>
              <a:rPr dirty="0"/>
              <a:t> extends </a:t>
            </a:r>
            <a:r>
              <a:rPr dirty="0" err="1"/>
              <a:t>RuntimeException</a:t>
            </a:r>
            <a:r>
              <a:rPr dirty="0"/>
              <a:t> {</a:t>
            </a:r>
          </a:p>
          <a:p>
            <a:r>
              <a:rPr dirty="0"/>
              <a:t>  public </a:t>
            </a:r>
            <a:r>
              <a:rPr dirty="0" err="1"/>
              <a:t>MyRuntimeException</a:t>
            </a:r>
            <a:r>
              <a:rPr dirty="0"/>
              <a:t>(String msg) {</a:t>
            </a:r>
          </a:p>
          <a:p>
            <a:r>
              <a:rPr dirty="0"/>
              <a:t>    super(msg);</a:t>
            </a:r>
          </a:p>
          <a:p>
            <a:r>
              <a:rPr dirty="0"/>
              <a:t>  }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(Custom)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Use meaningful names</a:t>
            </a:r>
          </a:p>
          <a:p>
            <a:r>
              <a:rPr dirty="0"/>
              <a:t>Add constructors</a:t>
            </a:r>
            <a:endParaRPr lang="en-IN" dirty="0"/>
          </a:p>
          <a:p>
            <a:r>
              <a:rPr lang="en-IN" dirty="0"/>
              <a:t>Don't overuse custom exceptions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Hundreds of tiny exception classes make it hard to maintain.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Other developers may not know which exception to catch.</a:t>
            </a:r>
          </a:p>
          <a:p>
            <a:r>
              <a:rPr lang="en-US" dirty="0"/>
              <a:t>When an error is </a:t>
            </a:r>
            <a:r>
              <a:rPr lang="en-US" b="1" dirty="0"/>
              <a:t>specific to your application or business logic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Try-Catch-Finally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try: risky code</a:t>
            </a:r>
          </a:p>
          <a:p>
            <a:r>
              <a:t>catch: handle exception</a:t>
            </a:r>
          </a:p>
          <a:p>
            <a:r>
              <a:t>finally: always executes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Try-Catch-Finally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 {</a:t>
            </a:r>
          </a:p>
          <a:p>
            <a:pPr marL="0" indent="0">
              <a:buNone/>
            </a:pPr>
            <a:r>
              <a:rPr dirty="0"/>
              <a:t>  int a = 10/0;</a:t>
            </a:r>
          </a:p>
          <a:p>
            <a:pPr marL="0" indent="0">
              <a:buNone/>
            </a:pPr>
            <a:r>
              <a:rPr dirty="0"/>
              <a:t>} catch(</a:t>
            </a:r>
            <a:r>
              <a:rPr dirty="0" err="1"/>
              <a:t>ArithmeticException</a:t>
            </a:r>
            <a:r>
              <a:rPr dirty="0"/>
              <a:t> e) {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System.out.println</a:t>
            </a:r>
            <a:r>
              <a:rPr dirty="0"/>
              <a:t>("Error");</a:t>
            </a:r>
          </a:p>
          <a:p>
            <a:pPr marL="0" indent="0">
              <a:buNone/>
            </a:pPr>
            <a:r>
              <a:rPr dirty="0"/>
              <a:t>} finally {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System.out.println</a:t>
            </a:r>
            <a:r>
              <a:rPr dirty="0"/>
              <a:t>("Cleanup");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Best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152071-9CFE-B8E4-8E87-D0F4FF336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124008"/>
              </p:ext>
            </p:extLst>
          </p:nvPr>
        </p:nvGraphicFramePr>
        <p:xfrm>
          <a:off x="109728" y="1417638"/>
          <a:ext cx="8942832" cy="5367210"/>
        </p:xfrm>
        <a:graphic>
          <a:graphicData uri="http://schemas.openxmlformats.org/drawingml/2006/table">
            <a:tbl>
              <a:tblPr/>
              <a:tblGrid>
                <a:gridCol w="2980944">
                  <a:extLst>
                    <a:ext uri="{9D8B030D-6E8A-4147-A177-3AD203B41FA5}">
                      <a16:colId xmlns:a16="http://schemas.microsoft.com/office/drawing/2014/main" val="1218664602"/>
                    </a:ext>
                  </a:extLst>
                </a:gridCol>
                <a:gridCol w="2980944">
                  <a:extLst>
                    <a:ext uri="{9D8B030D-6E8A-4147-A177-3AD203B41FA5}">
                      <a16:colId xmlns:a16="http://schemas.microsoft.com/office/drawing/2014/main" val="2190707372"/>
                    </a:ext>
                  </a:extLst>
                </a:gridCol>
                <a:gridCol w="2980944">
                  <a:extLst>
                    <a:ext uri="{9D8B030D-6E8A-4147-A177-3AD203B41FA5}">
                      <a16:colId xmlns:a16="http://schemas.microsoft.com/office/drawing/2014/main" val="302057120"/>
                    </a:ext>
                  </a:extLst>
                </a:gridCol>
              </a:tblGrid>
              <a:tr h="350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Aspect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Checked Custom Exceptions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Unchecked Custom Exceptions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682170"/>
                  </a:ext>
                </a:extLst>
              </a:tr>
              <a:tr h="350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Base Class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Extends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Exception</a:t>
                      </a:r>
                      <a:r>
                        <a:rPr lang="en-IN" sz="900"/>
                        <a:t> (not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RuntimeException</a:t>
                      </a:r>
                      <a:r>
                        <a:rPr lang="en-IN" sz="900"/>
                        <a:t>)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Extends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RuntimeException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594338"/>
                  </a:ext>
                </a:extLst>
              </a:tr>
              <a:tr h="350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Declaration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Must be declared with </a:t>
                      </a:r>
                      <a:r>
                        <a:rPr lang="en-US" sz="900">
                          <a:latin typeface="Courier New" panose="02070309020205020404" pitchFamily="49" charset="0"/>
                        </a:rPr>
                        <a:t>throws</a:t>
                      </a:r>
                      <a:r>
                        <a:rPr lang="en-US" sz="900"/>
                        <a:t> or caught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No need to declare or catch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683135"/>
                  </a:ext>
                </a:extLst>
              </a:tr>
              <a:tr h="652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When to Use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Recoverable conditions where </a:t>
                      </a:r>
                      <a:r>
                        <a:rPr lang="en-US" sz="900" b="1"/>
                        <a:t>caller can take corrective action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Programming errors or illegal usage where </a:t>
                      </a:r>
                      <a:r>
                        <a:rPr lang="en-US" sz="900" b="1" dirty="0"/>
                        <a:t>caller cannot reasonably recover</a:t>
                      </a:r>
                      <a:endParaRPr lang="en-US" sz="900" dirty="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358952"/>
                  </a:ext>
                </a:extLst>
              </a:tr>
              <a:tr h="50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Typical Scenarios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External resources (DB, files, network), business operations that can fail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Invalid arguments, illegal state, logic errors, validation failures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140835"/>
                  </a:ext>
                </a:extLst>
              </a:tr>
              <a:tr h="652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Example 1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PaymentFailedException</a:t>
                      </a:r>
                      <a:r>
                        <a:rPr lang="en-IN" sz="900"/>
                        <a:t>,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OrderPersistenceException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NegativeAmountException</a:t>
                      </a:r>
                      <a:r>
                        <a:rPr lang="en-IN" sz="900"/>
                        <a:t>,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InvalidOrderStateException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566815"/>
                  </a:ext>
                </a:extLst>
              </a:tr>
              <a:tr h="652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Example 2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 err="1">
                          <a:latin typeface="Courier New" panose="02070309020205020404" pitchFamily="49" charset="0"/>
                        </a:rPr>
                        <a:t>FileMissingException</a:t>
                      </a:r>
                      <a:r>
                        <a:rPr lang="en-IN" sz="900" dirty="0"/>
                        <a:t>, </a:t>
                      </a:r>
                      <a:r>
                        <a:rPr lang="en-IN" sz="900" dirty="0" err="1">
                          <a:latin typeface="Courier New" panose="02070309020205020404" pitchFamily="49" charset="0"/>
                        </a:rPr>
                        <a:t>ConfigurationNotFoundException</a:t>
                      </a:r>
                      <a:endParaRPr lang="en-IN" sz="900" dirty="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IllegalCustomerIdException</a:t>
                      </a:r>
                      <a:r>
                        <a:rPr lang="en-IN" sz="900"/>
                        <a:t>,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InvalidOperationException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871322"/>
                  </a:ext>
                </a:extLst>
              </a:tr>
              <a:tr h="501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Handling Expectation</a:t>
                      </a:r>
                      <a:endParaRPr lang="en-IN" sz="900" dirty="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Caller is </a:t>
                      </a:r>
                      <a:r>
                        <a:rPr lang="en-US" sz="900" b="1"/>
                        <a:t>expected to handle or propagate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Caller usually </a:t>
                      </a:r>
                      <a:r>
                        <a:rPr lang="en-US" sz="900" b="1"/>
                        <a:t>does not handle</a:t>
                      </a:r>
                      <a:r>
                        <a:rPr lang="en-US" sz="900"/>
                        <a:t>, often global logging or runtime failure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77432"/>
                  </a:ext>
                </a:extLst>
              </a:tr>
              <a:tr h="350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Recovery Possibility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High — program can continue gracefully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Low — indicates a bug or misuse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760066"/>
                  </a:ext>
                </a:extLst>
              </a:tr>
              <a:tr h="350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Stack Trace Use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Provides context for </a:t>
                      </a:r>
                      <a:r>
                        <a:rPr lang="en-US" sz="900" b="1"/>
                        <a:t>recoverable errors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Signals </a:t>
                      </a:r>
                      <a:r>
                        <a:rPr lang="en-IN" sz="900" b="1"/>
                        <a:t>programmer or logic mistake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979194"/>
                  </a:ext>
                </a:extLst>
              </a:tr>
              <a:tr h="652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Best Practice</a:t>
                      </a:r>
                      <a:endParaRPr lang="en-IN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Wrap lower-level exceptions, provide meaningful messages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Use for domain logic errors or validation, avoid forcing unnecessary catching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89138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8183E1D-72E1-7A0D-A147-A21EF3EC2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Closeable vs </a:t>
            </a:r>
            <a:r>
              <a:rPr dirty="0" err="1"/>
              <a:t>AutoCloseable</a:t>
            </a:r>
            <a:br>
              <a:rPr lang="en-IN" dirty="0"/>
            </a:br>
            <a:r>
              <a:rPr lang="en-US" dirty="0"/>
              <a:t>In Java, </a:t>
            </a:r>
            <a:r>
              <a:rPr lang="en-US" b="1" dirty="0" err="1"/>
              <a:t>AutoCloseable</a:t>
            </a:r>
            <a:r>
              <a:rPr lang="en-US" dirty="0"/>
              <a:t> and </a:t>
            </a:r>
            <a:r>
              <a:rPr lang="en-US" b="1" dirty="0"/>
              <a:t>Closeable</a:t>
            </a:r>
            <a:r>
              <a:rPr lang="en-US" dirty="0"/>
              <a:t> are interfaces used to manage resources (like files, streams, database connections) so they can be closed properly.</a:t>
            </a:r>
            <a:endParaRPr dirty="0"/>
          </a:p>
          <a:p>
            <a:r>
              <a:rPr dirty="0"/>
              <a:t>Try-With-Resources introduced in Java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Try-With-Resources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try (</a:t>
            </a:r>
            <a:r>
              <a:rPr dirty="0" err="1"/>
              <a:t>BufferedReader</a:t>
            </a:r>
            <a:r>
              <a:rPr dirty="0"/>
              <a:t> </a:t>
            </a:r>
            <a:r>
              <a:rPr dirty="0" err="1"/>
              <a:t>br</a:t>
            </a:r>
            <a:r>
              <a:rPr dirty="0"/>
              <a:t> = new </a:t>
            </a:r>
            <a:r>
              <a:rPr dirty="0" err="1"/>
              <a:t>BufferedReader</a:t>
            </a:r>
            <a:r>
              <a:rPr dirty="0"/>
              <a:t>(new </a:t>
            </a:r>
            <a:r>
              <a:rPr dirty="0" err="1"/>
              <a:t>FileReader</a:t>
            </a:r>
            <a:r>
              <a:rPr dirty="0"/>
              <a:t>("file.txt"))) {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System.out.println</a:t>
            </a:r>
            <a:r>
              <a:rPr dirty="0"/>
              <a:t>(</a:t>
            </a:r>
            <a:r>
              <a:rPr dirty="0" err="1"/>
              <a:t>br.readLine</a:t>
            </a:r>
            <a:r>
              <a:rPr dirty="0"/>
              <a:t>());</a:t>
            </a:r>
          </a:p>
          <a:p>
            <a:pPr marL="0" indent="0">
              <a:buNone/>
            </a:pPr>
            <a:r>
              <a:rPr dirty="0"/>
              <a:t>} catch(</a:t>
            </a:r>
            <a:r>
              <a:rPr dirty="0" err="1"/>
              <a:t>IOException</a:t>
            </a:r>
            <a:r>
              <a:rPr dirty="0"/>
              <a:t> e) {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e.printStackTrace</a:t>
            </a:r>
            <a:r>
              <a:rPr dirty="0"/>
              <a:t>();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Closeable vs AutoCloseable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Closeable:</a:t>
            </a:r>
            <a:r>
              <a:rPr lang="en-US" dirty="0"/>
              <a:t> is a </a:t>
            </a:r>
            <a:r>
              <a:rPr lang="en-US" b="1" dirty="0" err="1"/>
              <a:t>subinterface</a:t>
            </a:r>
            <a:r>
              <a:rPr lang="en-US" dirty="0"/>
              <a:t> of </a:t>
            </a:r>
            <a:r>
              <a:rPr lang="en-US" dirty="0" err="1"/>
              <a:t>AutoCloseable</a:t>
            </a:r>
            <a:r>
              <a:rPr lang="en-US" dirty="0"/>
              <a:t> in java.io, mainly used for I/O streams.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IN" dirty="0"/>
              <a:t>close() throws </a:t>
            </a:r>
            <a:r>
              <a:rPr lang="en-IN" b="1" dirty="0" err="1"/>
              <a:t>IOException</a:t>
            </a:r>
            <a:r>
              <a:rPr lang="en-IN" dirty="0"/>
              <a:t> </a:t>
            </a:r>
            <a:endParaRPr dirty="0"/>
          </a:p>
          <a:p>
            <a:r>
              <a:rPr dirty="0" err="1"/>
              <a:t>AutoCloseable:</a:t>
            </a:r>
            <a:r>
              <a:rPr lang="en-US" dirty="0" err="1"/>
              <a:t>AutoCloseable</a:t>
            </a:r>
            <a:r>
              <a:rPr lang="en-US" dirty="0"/>
              <a:t> is an interface in Java (</a:t>
            </a:r>
            <a:r>
              <a:rPr lang="en-US" dirty="0" err="1"/>
              <a:t>java.lang</a:t>
            </a:r>
            <a:r>
              <a:rPr lang="en-US" dirty="0"/>
              <a:t>) that allows a resource to be </a:t>
            </a:r>
            <a:r>
              <a:rPr lang="en-US" b="1" dirty="0"/>
              <a:t>closed automatically</a:t>
            </a:r>
            <a:r>
              <a:rPr lang="en-US" dirty="0"/>
              <a:t> using </a:t>
            </a:r>
            <a:r>
              <a:rPr lang="en-US" b="1" dirty="0"/>
              <a:t>try-with-resources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 Resource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B59A2514-D0D7-F3EC-FA38-61D7F65E96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973262"/>
            <a:ext cx="8686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Resource → You create a class that needs cleanup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 → Java automatically calls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close()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that class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Implement </a:t>
            </a:r>
            <a:r>
              <a:rPr lang="en-US" sz="2800" dirty="0" err="1"/>
              <a:t>AutoCloseable</a:t>
            </a:r>
            <a:r>
              <a:rPr lang="en-US" sz="2800" dirty="0"/>
              <a:t> for automatic cleanup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Resource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 </a:t>
            </a:r>
            <a:r>
              <a:rPr dirty="0" err="1"/>
              <a:t>MyResource</a:t>
            </a:r>
            <a:r>
              <a:rPr dirty="0"/>
              <a:t> implements </a:t>
            </a:r>
            <a:r>
              <a:rPr dirty="0" err="1"/>
              <a:t>AutoCloseable</a:t>
            </a:r>
            <a:r>
              <a:rPr dirty="0"/>
              <a:t> {</a:t>
            </a:r>
          </a:p>
          <a:p>
            <a:r>
              <a:rPr dirty="0"/>
              <a:t>  public void close() {</a:t>
            </a:r>
          </a:p>
          <a:p>
            <a:r>
              <a:rPr dirty="0"/>
              <a:t>    </a:t>
            </a:r>
            <a:r>
              <a:rPr dirty="0" err="1"/>
              <a:t>System.out.println</a:t>
            </a:r>
            <a:r>
              <a:rPr dirty="0"/>
              <a:t>("Closed");</a:t>
            </a:r>
          </a:p>
          <a:p>
            <a:r>
              <a:rPr dirty="0"/>
              <a:t>  }</a:t>
            </a:r>
          </a:p>
          <a:p>
            <a:r>
              <a:rPr dirty="0"/>
              <a:t>}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7 introduced multi-catch</a:t>
            </a:r>
            <a:endParaRPr lang="en-IN" dirty="0"/>
          </a:p>
          <a:p>
            <a:r>
              <a:rPr lang="en-US" dirty="0"/>
              <a:t>A </a:t>
            </a:r>
            <a:r>
              <a:rPr lang="en-US" b="1" dirty="0"/>
              <a:t>multi-catch exception</a:t>
            </a:r>
            <a:r>
              <a:rPr lang="en-US" dirty="0"/>
              <a:t> allows you to </a:t>
            </a:r>
            <a:r>
              <a:rPr lang="en-US" b="1" dirty="0"/>
              <a:t>handle multiple exception types in a single catch block</a:t>
            </a:r>
            <a:r>
              <a:rPr lang="en-US" dirty="0"/>
              <a:t>.</a:t>
            </a:r>
          </a:p>
          <a:p>
            <a:r>
              <a:rPr lang="en-IN" dirty="0"/>
              <a:t>Reduces code duplication</a:t>
            </a:r>
          </a:p>
          <a:p>
            <a:r>
              <a:rPr lang="en-IN" dirty="0"/>
              <a:t>Cleaner and more readable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IN" sz="4500"/>
              <a:t>Multi-Catch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0A56A-AD33-F1EB-C913-E786F1729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public class </a:t>
            </a:r>
            <a:r>
              <a:rPr lang="en-IN" dirty="0" err="1"/>
              <a:t>MultiCatchExample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try {</a:t>
            </a:r>
            <a:br>
              <a:rPr lang="en-IN" dirty="0"/>
            </a:br>
            <a:r>
              <a:rPr lang="en-IN" dirty="0"/>
              <a:t>int[] </a:t>
            </a:r>
            <a:r>
              <a:rPr lang="en-IN" dirty="0" err="1"/>
              <a:t>arr</a:t>
            </a:r>
            <a:r>
              <a:rPr lang="en-IN" dirty="0"/>
              <a:t> = {1, 2, 3};</a:t>
            </a:r>
            <a:br>
              <a:rPr lang="en-IN" dirty="0"/>
            </a:br>
            <a:r>
              <a:rPr lang="en-IN" dirty="0"/>
              <a:t>int result = </a:t>
            </a:r>
            <a:r>
              <a:rPr lang="en-IN" dirty="0" err="1"/>
              <a:t>arr</a:t>
            </a:r>
            <a:r>
              <a:rPr lang="en-IN" dirty="0"/>
              <a:t>[5] / 0; // causes exceptions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} catch (</a:t>
            </a:r>
            <a:r>
              <a:rPr lang="en-IN" dirty="0" err="1"/>
              <a:t>ArithmeticException</a:t>
            </a:r>
            <a:r>
              <a:rPr lang="en-IN" dirty="0"/>
              <a:t> | </a:t>
            </a:r>
            <a:r>
              <a:rPr lang="en-IN" dirty="0" err="1"/>
              <a:t>ArrayIndexOutOfBoundsException</a:t>
            </a:r>
            <a:r>
              <a:rPr lang="en-IN" dirty="0"/>
              <a:t> e) {</a:t>
            </a:r>
            <a:br>
              <a:rPr lang="en-IN" dirty="0"/>
            </a:br>
            <a:r>
              <a:rPr lang="en-IN" dirty="0" err="1"/>
              <a:t>System.out.println</a:t>
            </a:r>
            <a:r>
              <a:rPr lang="en-IN" dirty="0"/>
              <a:t>("Exception occurred: " + e);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4FD2-38D3-B988-D042-B5C5AE30A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Exception Propagation?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BE49-1584-E50A-DD3B-794CB3B1F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an exception is not handled in a method, it is </a:t>
            </a:r>
            <a:r>
              <a:rPr lang="en-US" b="1" dirty="0"/>
              <a:t>passed (propagated)</a:t>
            </a:r>
            <a:r>
              <a:rPr lang="en-US" dirty="0"/>
              <a:t> to the calling method until it is caught.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W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hen it happens?</a:t>
            </a:r>
          </a:p>
          <a:p>
            <a:r>
              <a:rPr lang="en-IN" dirty="0"/>
              <a:t>P</a:t>
            </a:r>
            <a:r>
              <a:rPr lang="en-US" dirty="0" err="1"/>
              <a:t>ropagation</a:t>
            </a:r>
            <a:r>
              <a:rPr lang="en-US" dirty="0"/>
              <a:t> happens only when exception is </a:t>
            </a:r>
            <a:r>
              <a:rPr lang="en-US" b="1" dirty="0"/>
              <a:t>not caught</a:t>
            </a:r>
          </a:p>
          <a:p>
            <a:r>
              <a:rPr lang="en-US" dirty="0"/>
              <a:t>It moves </a:t>
            </a:r>
            <a:r>
              <a:rPr lang="en-US" b="1" dirty="0"/>
              <a:t>up the call stack</a:t>
            </a:r>
          </a:p>
          <a:p>
            <a:r>
              <a:rPr lang="en-US" dirty="0"/>
              <a:t>If no method handles it → program terminates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63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CFD3-83DD-92EB-4D63-5A01CA17A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Important Methods of Throwable Class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0A8233-16AE-D5F7-0E00-4D6298336F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400141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93354894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316127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900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printStackTrace()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error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99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toString()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Exception +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46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getMessage()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222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getCause()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Root cause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578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getStackTrace()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Stack trace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119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fillInStackTrace()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Reset stack trace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766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getLocalizedMessage()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Localized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005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7E4575-7359-AE75-AA25-361B2D879F13}"/>
              </a:ext>
            </a:extLst>
          </p:cNvPr>
          <p:cNvSpPr txBox="1"/>
          <p:nvPr/>
        </p:nvSpPr>
        <p:spPr>
          <a:xfrm>
            <a:off x="585216" y="1440657"/>
            <a:ext cx="6089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Here are the most commonly used methods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722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Exceptions must not be related</a:t>
            </a:r>
          </a:p>
          <a:p>
            <a:r>
              <a:t>No duplicate exceptions</a:t>
            </a:r>
          </a:p>
          <a:p>
            <a:r>
              <a:t>Use parent if needed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proper exception types</a:t>
            </a:r>
          </a:p>
          <a:p>
            <a:r>
              <a:t>Write clean handling</a:t>
            </a:r>
          </a:p>
          <a:p>
            <a:r>
              <a:t>Use try-with-resources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3128</TotalTime>
  <Words>1090</Words>
  <Application>Microsoft Office PowerPoint</Application>
  <PresentationFormat>On-screen Show (4:3)</PresentationFormat>
  <Paragraphs>178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Unicode MS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What is Exception</vt:lpstr>
      <vt:lpstr>PowerPoint Presentation</vt:lpstr>
      <vt:lpstr>Checked vs Unchecked</vt:lpstr>
      <vt:lpstr>Checked Exception Example</vt:lpstr>
      <vt:lpstr>Unchecked Exception Example</vt:lpstr>
      <vt:lpstr>When to Use Each</vt:lpstr>
      <vt:lpstr>PowerPoint Presentation</vt:lpstr>
      <vt:lpstr>Custom Exceptions</vt:lpstr>
      <vt:lpstr>Custom Checked Exception</vt:lpstr>
      <vt:lpstr>Custom Unchecked Exception</vt:lpstr>
      <vt:lpstr>Best Practices (Custom)</vt:lpstr>
      <vt:lpstr>Try-Catch-Finally</vt:lpstr>
      <vt:lpstr>Try-Catch-Finally Example</vt:lpstr>
      <vt:lpstr>Best Practices</vt:lpstr>
      <vt:lpstr>Resource Management</vt:lpstr>
      <vt:lpstr>Try-With-Resources Example</vt:lpstr>
      <vt:lpstr>Closeable vs AutoCloseable</vt:lpstr>
      <vt:lpstr>Custom Resource</vt:lpstr>
      <vt:lpstr>Custom Resource Example</vt:lpstr>
      <vt:lpstr>Multiple Exceptions</vt:lpstr>
      <vt:lpstr>Multi-Catch Example</vt:lpstr>
      <vt:lpstr>What is Exception Propagation?</vt:lpstr>
      <vt:lpstr>Important Methods of Throwable Class</vt:lpstr>
      <vt:lpstr>Rules &amp;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Swamy Ravuri</cp:lastModifiedBy>
  <cp:revision>5</cp:revision>
  <dcterms:created xsi:type="dcterms:W3CDTF">2013-01-27T09:14:16Z</dcterms:created>
  <dcterms:modified xsi:type="dcterms:W3CDTF">2026-04-03T05:11:57Z</dcterms:modified>
  <cp:category/>
</cp:coreProperties>
</file>