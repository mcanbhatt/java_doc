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745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06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88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81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375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08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59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8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3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9345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149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124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139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4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60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6414B-8F3E-4AA1-BAA9-D8E92531E317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0CC438C-98BA-4217-A43E-0248236418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53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24B8-7D03-D4B5-FE6A-C852E306DD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Other Concurrent Collections: </a:t>
            </a:r>
            <a:r>
              <a:rPr lang="en-IN" b="1" dirty="0" err="1"/>
              <a:t>BlockingQueues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30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85ED-EFB8-BB6A-3D5C-9DDB0733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822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The concurrency problem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935A1-8B79-2A98-24DF-1A4162D20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19200"/>
            <a:ext cx="8915400" cy="46920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Why do we need </a:t>
            </a:r>
            <a:r>
              <a:rPr lang="en-US" b="1" dirty="0" err="1"/>
              <a:t>BlockingQueue</a:t>
            </a:r>
            <a:r>
              <a:rPr lang="en-US" b="1" dirty="0"/>
              <a:t>?</a:t>
            </a:r>
          </a:p>
          <a:p>
            <a:r>
              <a:rPr lang="en-US" dirty="0"/>
              <a:t>Producers create data</a:t>
            </a:r>
          </a:p>
          <a:p>
            <a:r>
              <a:rPr lang="en-US" dirty="0"/>
              <a:t>Consumers process data</a:t>
            </a:r>
          </a:p>
          <a:p>
            <a:r>
              <a:rPr lang="en-US" dirty="0"/>
              <a:t>Shared queue must be thread-safe</a:t>
            </a:r>
          </a:p>
          <a:p>
            <a:r>
              <a:rPr lang="en-US" dirty="0"/>
              <a:t>Need automatic waiting when:</a:t>
            </a:r>
          </a:p>
          <a:p>
            <a:pPr lvl="1"/>
            <a:r>
              <a:rPr lang="en-US" dirty="0"/>
              <a:t>queue is full</a:t>
            </a:r>
          </a:p>
          <a:p>
            <a:pPr lvl="1"/>
            <a:r>
              <a:rPr lang="en-US" dirty="0"/>
              <a:t>queue is empty</a:t>
            </a:r>
          </a:p>
          <a:p>
            <a:pPr marL="0" indent="0">
              <a:buNone/>
            </a:pPr>
            <a:r>
              <a:rPr lang="en-IN" dirty="0"/>
              <a:t>Ex :</a:t>
            </a:r>
          </a:p>
          <a:p>
            <a:r>
              <a:rPr lang="en-US" dirty="0"/>
              <a:t>Producer thread → queue → consumer thread</a:t>
            </a:r>
          </a:p>
          <a:p>
            <a:r>
              <a:rPr lang="en-US" dirty="0"/>
              <a:t>queue full = producer waits</a:t>
            </a:r>
          </a:p>
          <a:p>
            <a:r>
              <a:rPr lang="en-US" dirty="0"/>
              <a:t>queue empty = consumer waits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2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F8D9-DDC0-6870-CB29-3D83426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5435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a </a:t>
            </a:r>
            <a:r>
              <a:rPr lang="en-IN" b="1" dirty="0" err="1"/>
              <a:t>BlockingQueue</a:t>
            </a:r>
            <a:r>
              <a:rPr lang="en-IN" b="1" dirty="0"/>
              <a:t>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C1A11-2ED8-4873-36B7-CCDE25C5D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439333"/>
            <a:ext cx="8915400" cy="3777622"/>
          </a:xfrm>
        </p:spPr>
        <p:txBody>
          <a:bodyPr/>
          <a:lstStyle/>
          <a:p>
            <a:r>
              <a:rPr lang="en-US" dirty="0"/>
              <a:t>Thread-safe queue for inter-thread communication</a:t>
            </a:r>
          </a:p>
          <a:p>
            <a:r>
              <a:rPr lang="en-US" dirty="0"/>
              <a:t>Part of </a:t>
            </a:r>
            <a:r>
              <a:rPr lang="en-US" dirty="0" err="1"/>
              <a:t>java.util.concurrent</a:t>
            </a:r>
            <a:endParaRPr lang="en-US" dirty="0"/>
          </a:p>
          <a:p>
            <a:r>
              <a:rPr lang="en-US" dirty="0"/>
              <a:t>Supports blocking operations</a:t>
            </a:r>
          </a:p>
          <a:p>
            <a:pPr marL="0" indent="0">
              <a:buNone/>
            </a:pPr>
            <a:r>
              <a:rPr lang="en-US" dirty="0"/>
              <a:t>methods:</a:t>
            </a:r>
          </a:p>
          <a:p>
            <a:r>
              <a:rPr lang="en-US" dirty="0"/>
              <a:t>put(e) → waits if full</a:t>
            </a:r>
          </a:p>
          <a:p>
            <a:r>
              <a:rPr lang="en-US" dirty="0"/>
              <a:t>take() → waits if empty</a:t>
            </a:r>
          </a:p>
          <a:p>
            <a:r>
              <a:rPr lang="en-US" dirty="0"/>
              <a:t>offer(e) → returns immediately / optional timeout</a:t>
            </a:r>
          </a:p>
          <a:p>
            <a:r>
              <a:rPr lang="en-US" dirty="0"/>
              <a:t>poll() → returns immediately / optional timeout</a:t>
            </a:r>
          </a:p>
          <a:p>
            <a:pPr marL="0" indent="0">
              <a:buNone/>
            </a:pPr>
            <a:r>
              <a:rPr lang="en-IN" dirty="0" err="1"/>
              <a:t>BlockingQueue</a:t>
            </a:r>
            <a:r>
              <a:rPr lang="en-IN" dirty="0"/>
              <a:t> combines storage + synchronization.</a:t>
            </a:r>
          </a:p>
        </p:txBody>
      </p:sp>
    </p:spTree>
    <p:extLst>
      <p:ext uri="{BB962C8B-B14F-4D97-AF65-F5344CB8AC3E}">
        <p14:creationId xmlns:p14="http://schemas.microsoft.com/office/powerpoint/2010/main" val="23657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4889-452C-41D2-0CD2-5E4276072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589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Why </a:t>
            </a:r>
            <a:r>
              <a:rPr lang="en-IN" b="1" dirty="0" err="1"/>
              <a:t>BlockingQueue</a:t>
            </a:r>
            <a:r>
              <a:rPr lang="en-IN" b="1" dirty="0"/>
              <a:t> is powerful 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4196-5A91-319C-8E30-D3D5DDFD8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7800"/>
            <a:ext cx="8915400" cy="4463422"/>
          </a:xfrm>
        </p:spPr>
        <p:txBody>
          <a:bodyPr/>
          <a:lstStyle/>
          <a:p>
            <a:r>
              <a:rPr lang="en-US" dirty="0"/>
              <a:t>no manual wait() / notify()</a:t>
            </a:r>
          </a:p>
          <a:p>
            <a:r>
              <a:rPr lang="en-US" dirty="0"/>
              <a:t>clean producer-consumer design</a:t>
            </a:r>
          </a:p>
          <a:p>
            <a:r>
              <a:rPr lang="en-US" dirty="0"/>
              <a:t>built-in thread safety</a:t>
            </a:r>
          </a:p>
          <a:p>
            <a:r>
              <a:rPr lang="en-US" dirty="0"/>
              <a:t>easier and safer than custom synchronization</a:t>
            </a:r>
          </a:p>
          <a:p>
            <a:r>
              <a:rPr lang="en-US" dirty="0"/>
              <a:t>Manual synchronization = complex</a:t>
            </a:r>
          </a:p>
          <a:p>
            <a:r>
              <a:rPr lang="en-US" dirty="0" err="1"/>
              <a:t>BlockingQueue</a:t>
            </a:r>
            <a:r>
              <a:rPr lang="en-US" dirty="0"/>
              <a:t> = simple and safe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0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BC25-4394-3000-23F5-87B18CB3D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72890"/>
          </a:xfrm>
        </p:spPr>
        <p:txBody>
          <a:bodyPr/>
          <a:lstStyle/>
          <a:p>
            <a:r>
              <a:rPr lang="en-US" b="1" dirty="0"/>
              <a:t>Types of </a:t>
            </a:r>
            <a:r>
              <a:rPr lang="en-IN" b="1" dirty="0" err="1"/>
              <a:t>BlockingQueue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80BEA-BA80-CCC3-BE70-CF3EB00BE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73200"/>
            <a:ext cx="8915400" cy="4438022"/>
          </a:xfrm>
        </p:spPr>
        <p:txBody>
          <a:bodyPr/>
          <a:lstStyle/>
          <a:p>
            <a:r>
              <a:rPr lang="en-IN" dirty="0" err="1"/>
              <a:t>BlockingQueue</a:t>
            </a:r>
            <a:endParaRPr lang="en-IN" dirty="0"/>
          </a:p>
          <a:p>
            <a:r>
              <a:rPr lang="en-IN" dirty="0" err="1"/>
              <a:t>ArrayBlockingQueue</a:t>
            </a:r>
            <a:endParaRPr lang="en-IN" dirty="0"/>
          </a:p>
          <a:p>
            <a:r>
              <a:rPr lang="en-IN" dirty="0" err="1"/>
              <a:t>LinkedBlockingQueue</a:t>
            </a:r>
            <a:endParaRPr lang="en-IN" dirty="0"/>
          </a:p>
          <a:p>
            <a:r>
              <a:rPr lang="en-IN" dirty="0" err="1"/>
              <a:t>PriorityBlockingQueue</a:t>
            </a:r>
            <a:endParaRPr lang="en-IN" dirty="0"/>
          </a:p>
          <a:p>
            <a:r>
              <a:rPr lang="en-IN" dirty="0" err="1"/>
              <a:t>DelayQueue</a:t>
            </a:r>
            <a:endParaRPr lang="en-IN" dirty="0"/>
          </a:p>
          <a:p>
            <a:r>
              <a:rPr lang="en-IN" dirty="0" err="1"/>
              <a:t>SynchronousQueue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Optional</a:t>
            </a:r>
          </a:p>
          <a:p>
            <a:r>
              <a:rPr lang="en-IN" dirty="0" err="1"/>
              <a:t>BlockingDeque</a:t>
            </a:r>
            <a:endParaRPr lang="en-IN" dirty="0"/>
          </a:p>
          <a:p>
            <a:r>
              <a:rPr lang="en-IN" dirty="0" err="1"/>
              <a:t>LinkedBlockingDeque</a:t>
            </a:r>
            <a:endParaRPr lang="en-IN" dirty="0"/>
          </a:p>
          <a:p>
            <a:r>
              <a:rPr lang="en-IN" dirty="0" err="1"/>
              <a:t>TransferQueue</a:t>
            </a:r>
            <a:endParaRPr lang="en-IN" dirty="0"/>
          </a:p>
          <a:p>
            <a:r>
              <a:rPr lang="en-IN" dirty="0" err="1"/>
              <a:t>LinkedTransferQueue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307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BB3FC-E155-D24C-5AA8-98869156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83733"/>
            <a:ext cx="8915400" cy="4827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err="1"/>
              <a:t>BlockingQueue</a:t>
            </a:r>
            <a:r>
              <a:rPr lang="en-IN" b="1" dirty="0"/>
              <a:t> </a:t>
            </a:r>
          </a:p>
          <a:p>
            <a:r>
              <a:rPr lang="en-US" dirty="0" err="1"/>
              <a:t>BlockingQueue</a:t>
            </a:r>
            <a:r>
              <a:rPr lang="en-US" dirty="0"/>
              <a:t> is a thread-safe queue designed for producer-consumer scenarios.</a:t>
            </a:r>
            <a:br>
              <a:rPr lang="en-US" dirty="0"/>
            </a:br>
            <a:r>
              <a:rPr lang="en-US" dirty="0"/>
              <a:t>The major benefit is that it handles waiting automatically.</a:t>
            </a:r>
            <a:br>
              <a:rPr lang="en-US" dirty="0"/>
            </a:br>
            <a:r>
              <a:rPr lang="en-US" dirty="0"/>
              <a:t>If the queue is full, producers wait. If it is empty, consumers wait.</a:t>
            </a:r>
          </a:p>
          <a:p>
            <a:pPr marL="0" indent="0">
              <a:buNone/>
            </a:pPr>
            <a:br>
              <a:rPr lang="en-US" b="1" dirty="0"/>
            </a:br>
            <a:r>
              <a:rPr lang="en-US" b="1" dirty="0" err="1"/>
              <a:t>ArrayBlockingQueue</a:t>
            </a:r>
            <a:endParaRPr lang="en-US" b="1" dirty="0"/>
          </a:p>
          <a:p>
            <a:r>
              <a:rPr lang="en-US" dirty="0" err="1"/>
              <a:t>ArrayBlockingQueue</a:t>
            </a:r>
            <a:r>
              <a:rPr lang="en-US" dirty="0"/>
              <a:t> uses a fixed-size array internally and behaves like a circular buffer. It is bounded, so it gives us backpressure naturally.</a:t>
            </a:r>
          </a:p>
          <a:p>
            <a:pPr marL="0" indent="0">
              <a:buNone/>
            </a:pPr>
            <a:r>
              <a:rPr lang="en-US" b="1" dirty="0" err="1"/>
              <a:t>LinkedBlockingQueue</a:t>
            </a:r>
            <a:endParaRPr lang="en-US" b="1" dirty="0"/>
          </a:p>
          <a:p>
            <a:r>
              <a:rPr lang="en-US" dirty="0" err="1"/>
              <a:t>LinkedBlockingQueue</a:t>
            </a:r>
            <a:r>
              <a:rPr lang="en-US" dirty="0"/>
              <a:t> uses linked nodes and generally allows better producer-consumer concurrency because put and take operations are more independent.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75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AE46F7C-E794-5E4A-5B7E-7BFCC4926C89}"/>
              </a:ext>
            </a:extLst>
          </p:cNvPr>
          <p:cNvSpPr txBox="1"/>
          <p:nvPr/>
        </p:nvSpPr>
        <p:spPr>
          <a:xfrm>
            <a:off x="1660354" y="563880"/>
            <a:ext cx="4994446" cy="52254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ArrayBlockingQueue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Bounded queue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Backed by fixed-size array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FIFO order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Single lock for put/take operations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Internal characteristics: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fixed capacity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blocks producers when full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blocks consumers when empty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Ex: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Array slots: [A][B][C][ ][ ]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A115A5-5FC2-65D7-551E-47BF77FB446D}"/>
              </a:ext>
            </a:extLst>
          </p:cNvPr>
          <p:cNvSpPr txBox="1"/>
          <p:nvPr/>
        </p:nvSpPr>
        <p:spPr>
          <a:xfrm>
            <a:off x="6096000" y="714375"/>
            <a:ext cx="5811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How </a:t>
            </a:r>
            <a:r>
              <a:rPr lang="en-IN" b="1" dirty="0" err="1"/>
              <a:t>ArrayBlockingQueue</a:t>
            </a:r>
            <a:r>
              <a:rPr lang="en-IN" b="1" dirty="0"/>
              <a:t> works internally</a:t>
            </a:r>
          </a:p>
          <a:p>
            <a:r>
              <a:rPr lang="en-IN" dirty="0"/>
              <a:t>Content:</a:t>
            </a:r>
          </a:p>
          <a:p>
            <a:r>
              <a:rPr lang="en-IN" dirty="0"/>
              <a:t>circular array</a:t>
            </a:r>
          </a:p>
          <a:p>
            <a:r>
              <a:rPr lang="en-IN" dirty="0"/>
              <a:t>indices:</a:t>
            </a:r>
          </a:p>
          <a:p>
            <a:pPr lvl="1"/>
            <a:r>
              <a:rPr lang="en-IN" dirty="0"/>
              <a:t>put index</a:t>
            </a:r>
          </a:p>
          <a:p>
            <a:pPr lvl="1"/>
            <a:r>
              <a:rPr lang="en-IN" dirty="0"/>
              <a:t>take index</a:t>
            </a:r>
          </a:p>
          <a:p>
            <a:r>
              <a:rPr lang="en-IN" dirty="0"/>
              <a:t>one lock controls access</a:t>
            </a:r>
          </a:p>
          <a:p>
            <a:r>
              <a:rPr lang="en-IN" dirty="0"/>
              <a:t>uses conditions for:</a:t>
            </a:r>
          </a:p>
          <a:p>
            <a:pPr lvl="1"/>
            <a:r>
              <a:rPr lang="en-IN" dirty="0" err="1"/>
              <a:t>notFull</a:t>
            </a:r>
            <a:endParaRPr lang="en-IN" dirty="0"/>
          </a:p>
          <a:p>
            <a:pPr lvl="1"/>
            <a:r>
              <a:rPr lang="en-IN" dirty="0" err="1"/>
              <a:t>notEmpty</a:t>
            </a:r>
            <a:endParaRPr lang="en-IN" dirty="0"/>
          </a:p>
          <a:p>
            <a:r>
              <a:rPr lang="en-IN" dirty="0"/>
              <a:t>Visual: Circular buffer diagram:</a:t>
            </a:r>
          </a:p>
          <a:p>
            <a:r>
              <a:rPr lang="en-IN" dirty="0" err="1"/>
              <a:t>putIndex</a:t>
            </a:r>
            <a:endParaRPr lang="en-IN" dirty="0"/>
          </a:p>
          <a:p>
            <a:r>
              <a:rPr lang="en-IN" dirty="0" err="1"/>
              <a:t>takeIndex</a:t>
            </a:r>
            <a:endParaRPr lang="en-IN" dirty="0"/>
          </a:p>
          <a:p>
            <a:r>
              <a:rPr lang="en-IN" dirty="0"/>
              <a:t>You can say:</a:t>
            </a:r>
          </a:p>
          <a:p>
            <a:r>
              <a:rPr lang="en-IN" dirty="0"/>
              <a:t>It behaves like a ring buffer.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F208D7-1C7F-CAC3-AB17-D35A4013C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478" y="4866968"/>
            <a:ext cx="3581710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07BCA-88A3-1BF6-5920-64D9E2E85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8879" y="635000"/>
            <a:ext cx="8915400" cy="52254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Best use cases for </a:t>
            </a:r>
            <a:r>
              <a:rPr lang="en-US" b="1" dirty="0" err="1"/>
              <a:t>ArrayBlockingQueue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Content:</a:t>
            </a:r>
          </a:p>
          <a:p>
            <a:r>
              <a:rPr lang="en-US" dirty="0"/>
              <a:t>bounded producer-consumer systems</a:t>
            </a:r>
          </a:p>
          <a:p>
            <a:r>
              <a:rPr lang="en-US" dirty="0"/>
              <a:t>memory-sensitive systems</a:t>
            </a:r>
          </a:p>
          <a:p>
            <a:r>
              <a:rPr lang="en-US" dirty="0"/>
              <a:t>predictable capacity needed</a:t>
            </a:r>
          </a:p>
          <a:p>
            <a:r>
              <a:rPr lang="en-US" dirty="0"/>
              <a:t>when fixed-size buffering is required</a:t>
            </a:r>
          </a:p>
          <a:p>
            <a:pPr marL="0" indent="0">
              <a:buNone/>
            </a:pPr>
            <a:r>
              <a:rPr lang="en-US" dirty="0"/>
              <a:t>Trade-off:</a:t>
            </a:r>
          </a:p>
          <a:p>
            <a:r>
              <a:rPr lang="en-US" dirty="0"/>
              <a:t>lower memory overhead</a:t>
            </a:r>
          </a:p>
          <a:p>
            <a:r>
              <a:rPr lang="en-US" dirty="0"/>
              <a:t>but one lock may limit throughput under high contention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824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1C738-C0FE-F6BA-4CC2-CA14E07FF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1533" y="701989"/>
            <a:ext cx="4360333" cy="545402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How </a:t>
            </a:r>
            <a:r>
              <a:rPr lang="en-IN" b="1" dirty="0" err="1"/>
              <a:t>LinkedBlockingQueue</a:t>
            </a:r>
            <a:r>
              <a:rPr lang="en-IN" b="1" dirty="0"/>
              <a:t> works internally</a:t>
            </a:r>
          </a:p>
          <a:p>
            <a:pPr marL="0" indent="0">
              <a:buNone/>
            </a:pPr>
            <a:r>
              <a:rPr lang="en-US" dirty="0"/>
              <a:t>Content:</a:t>
            </a:r>
          </a:p>
          <a:p>
            <a:r>
              <a:rPr lang="en-US" dirty="0"/>
              <a:t>linked nodes</a:t>
            </a:r>
          </a:p>
          <a:p>
            <a:r>
              <a:rPr lang="en-US" dirty="0"/>
              <a:t>head and tail references</a:t>
            </a:r>
          </a:p>
          <a:p>
            <a:r>
              <a:rPr lang="en-US" dirty="0"/>
              <a:t>separate locks:</a:t>
            </a:r>
          </a:p>
          <a:p>
            <a:pPr lvl="1"/>
            <a:r>
              <a:rPr lang="en-US" dirty="0" err="1"/>
              <a:t>putLock</a:t>
            </a:r>
            <a:endParaRPr lang="en-US" dirty="0"/>
          </a:p>
          <a:p>
            <a:pPr lvl="1"/>
            <a:r>
              <a:rPr lang="en-US" dirty="0" err="1"/>
              <a:t>takeLock</a:t>
            </a:r>
            <a:endParaRPr lang="en-US" dirty="0"/>
          </a:p>
          <a:p>
            <a:r>
              <a:rPr lang="en-US" dirty="0"/>
              <a:t>capacity can be specified</a:t>
            </a:r>
          </a:p>
          <a:p>
            <a:pPr marL="0" indent="0">
              <a:buNone/>
            </a:pPr>
            <a:r>
              <a:rPr lang="en-US" dirty="0"/>
              <a:t>Visual: Head -&gt; Node1 -&gt; Node2 -&gt; Node3 -&gt; Tail</a:t>
            </a:r>
          </a:p>
          <a:p>
            <a:pPr marL="0" indent="0">
              <a:buNone/>
            </a:pPr>
            <a:r>
              <a:rPr lang="en-US" dirty="0"/>
              <a:t>Explain:</a:t>
            </a:r>
          </a:p>
          <a:p>
            <a:r>
              <a:rPr lang="en-US" dirty="0"/>
              <a:t>producer and consumer can progress more independently</a:t>
            </a:r>
          </a:p>
          <a:p>
            <a:pPr marL="0" indent="0">
              <a:buNone/>
            </a:pPr>
            <a:endParaRPr lang="en-IN" b="1" dirty="0">
              <a:effectLst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F04F7F-C6D7-6603-DC78-EEA3A695BFF3}"/>
              </a:ext>
            </a:extLst>
          </p:cNvPr>
          <p:cNvSpPr txBox="1">
            <a:spLocks/>
          </p:cNvSpPr>
          <p:nvPr/>
        </p:nvSpPr>
        <p:spPr>
          <a:xfrm>
            <a:off x="1981200" y="609600"/>
            <a:ext cx="4360333" cy="5454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b="1" dirty="0" err="1"/>
              <a:t>LinkedBlockingQueue</a:t>
            </a:r>
            <a:endParaRPr lang="en-US" b="1" dirty="0"/>
          </a:p>
          <a:p>
            <a:pPr marL="0" indent="0">
              <a:buFont typeface="Wingdings 3" charset="2"/>
              <a:buNone/>
            </a:pPr>
            <a:r>
              <a:rPr lang="en-US" dirty="0"/>
              <a:t>Content:</a:t>
            </a:r>
          </a:p>
          <a:p>
            <a:r>
              <a:rPr lang="en-US" dirty="0"/>
              <a:t>Typically linked-node based queue</a:t>
            </a:r>
          </a:p>
          <a:p>
            <a:r>
              <a:rPr lang="en-US" dirty="0"/>
              <a:t>Can be bounded or effectively unbounded</a:t>
            </a:r>
          </a:p>
          <a:p>
            <a:r>
              <a:rPr lang="en-US" dirty="0"/>
              <a:t>FIFO order</a:t>
            </a:r>
          </a:p>
          <a:p>
            <a:r>
              <a:rPr lang="en-US" dirty="0"/>
              <a:t>Separate locks for put and take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Key point:</a:t>
            </a:r>
          </a:p>
          <a:p>
            <a:r>
              <a:rPr lang="en-US" dirty="0"/>
              <a:t>Better concurrency between producers and consumers than </a:t>
            </a:r>
            <a:r>
              <a:rPr lang="en-US" dirty="0" err="1"/>
              <a:t>ArrayBlockingQueue</a:t>
            </a:r>
            <a:r>
              <a:rPr lang="en-US" dirty="0"/>
              <a:t>.</a:t>
            </a:r>
          </a:p>
          <a:p>
            <a:pPr marL="0" indent="0">
              <a:buFont typeface="Wingdings 3" charset="2"/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6F7330-419E-E964-A43F-345181288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533" y="4106942"/>
            <a:ext cx="4762913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86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57787EA-AE83-74F4-6B18-12F9A94F9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391" y="624110"/>
            <a:ext cx="9383408" cy="128089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ArrayBlockingQueue vs LinkedBlockingQueue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1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ABQ vs LBQ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1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E1C30E-FCB0-0EE4-0A3C-1DF486C27E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130826"/>
              </p:ext>
            </p:extLst>
          </p:nvPr>
        </p:nvGraphicFramePr>
        <p:xfrm>
          <a:off x="1175960" y="2930805"/>
          <a:ext cx="9835891" cy="2961997"/>
        </p:xfrm>
        <a:graphic>
          <a:graphicData uri="http://schemas.openxmlformats.org/drawingml/2006/table">
            <a:tbl>
              <a:tblPr/>
              <a:tblGrid>
                <a:gridCol w="3274316">
                  <a:extLst>
                    <a:ext uri="{9D8B030D-6E8A-4147-A177-3AD203B41FA5}">
                      <a16:colId xmlns:a16="http://schemas.microsoft.com/office/drawing/2014/main" val="2226639791"/>
                    </a:ext>
                  </a:extLst>
                </a:gridCol>
                <a:gridCol w="3274316">
                  <a:extLst>
                    <a:ext uri="{9D8B030D-6E8A-4147-A177-3AD203B41FA5}">
                      <a16:colId xmlns:a16="http://schemas.microsoft.com/office/drawing/2014/main" val="908450390"/>
                    </a:ext>
                  </a:extLst>
                </a:gridCol>
                <a:gridCol w="3287259">
                  <a:extLst>
                    <a:ext uri="{9D8B030D-6E8A-4147-A177-3AD203B41FA5}">
                      <a16:colId xmlns:a16="http://schemas.microsoft.com/office/drawing/2014/main" val="846334159"/>
                    </a:ext>
                  </a:extLst>
                </a:gridCol>
              </a:tblGrid>
              <a:tr h="4432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 b="1">
                          <a:effectLst/>
                        </a:rPr>
                        <a:t>Feature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 b="1">
                          <a:effectLst/>
                        </a:rPr>
                        <a:t>ArrayBlockingQueue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 b="1" dirty="0" err="1">
                          <a:effectLst/>
                        </a:rPr>
                        <a:t>LinkedBlockingQueue</a:t>
                      </a:r>
                      <a:endParaRPr lang="en-IN" sz="2000" b="1" dirty="0">
                        <a:effectLst/>
                      </a:endParaRP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59323"/>
                  </a:ext>
                </a:extLst>
              </a:tr>
              <a:tr h="4432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Data structure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 dirty="0">
                          <a:effectLst/>
                        </a:rPr>
                        <a:t>Array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Linked nodes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48309"/>
                  </a:ext>
                </a:extLst>
              </a:tr>
              <a:tr h="4432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Capacity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Fixed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Optional bound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013357"/>
                  </a:ext>
                </a:extLst>
              </a:tr>
              <a:tr h="4432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Locking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Single lock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Separate put/take locks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369239"/>
                  </a:ext>
                </a:extLst>
              </a:tr>
              <a:tr h="4432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Memory usage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Lower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Higher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05305"/>
                  </a:ext>
                </a:extLst>
              </a:tr>
              <a:tr h="7455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Throughput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2000">
                          <a:effectLst/>
                        </a:rPr>
                        <a:t>Good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000" dirty="0">
                          <a:effectLst/>
                        </a:rPr>
                        <a:t>Often better under mixed load</a:t>
                      </a:r>
                    </a:p>
                  </a:txBody>
                  <a:tcPr marL="100748" marR="100748" marT="50374" marB="5037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845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20717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175</TotalTime>
  <Words>487</Words>
  <Application>Microsoft Office PowerPoint</Application>
  <PresentationFormat>Widescreen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Wisp</vt:lpstr>
      <vt:lpstr>Other Concurrent Collections: BlockingQueues </vt:lpstr>
      <vt:lpstr>The concurrency problem </vt:lpstr>
      <vt:lpstr>What is a BlockingQueue? </vt:lpstr>
      <vt:lpstr>Why BlockingQueue is powerful ? </vt:lpstr>
      <vt:lpstr>Types of BlockingQueue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V Praveen Kumar</dc:creator>
  <cp:lastModifiedBy>A V Praveen Kumar</cp:lastModifiedBy>
  <cp:revision>6</cp:revision>
  <dcterms:created xsi:type="dcterms:W3CDTF">2026-05-13T06:28:34Z</dcterms:created>
  <dcterms:modified xsi:type="dcterms:W3CDTF">2026-05-13T10:28:04Z</dcterms:modified>
</cp:coreProperties>
</file>