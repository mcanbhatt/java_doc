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F78166">
              <a:alpha val="12000"/>
            </a:srgbClr>
          </a:solidFill>
          <a:ln w="12700">
            <a:solidFill>
              <a:srgbClr val="F781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8A6FF"/>
                </a:solidFill>
              </a:rPr>
              <a:t>Java Deep Dive 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Reflection API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8A6FF"/>
                </a:solidFill>
              </a:rPr>
              <a:t>Inspect. Manipulate. Power Frameworks.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920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</a:rPr>
              <a:t>Reflection Basics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834640"/>
            <a:ext cx="1920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</a:rPr>
              <a:t>Break Singleton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1920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</a:rPr>
              <a:t>Break Immutability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834640"/>
            <a:ext cx="1920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0372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</a:rPr>
              <a:t>Spring Internals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686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Deep dive into java.lang.reflect — the engine behind Spring, Hibernate &amp; modern Java frameworks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" cy="1051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8A6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Reflection Basics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java.lang.reflect — Class, Field, Method, Constructor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64008" cy="10515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Inspecting Classes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getClass(), forName(), getDeclaredFields(), getMethods()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8166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Breaking Singleton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Using Constructor.newInstance() to bypass private constructors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14300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64008" cy="10515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B341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Breaking Immutability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1618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field.setAccessible(true) to modify final fields at runtime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64008" cy="1051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2441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C8CFF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Reflection in Spring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DI / @Autowired / AOP / @RequestMapping internals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023360" cy="105156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64008" cy="1051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675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8A6FF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Performance &amp; Best Practices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Caching, security, when NOT to use reflection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01  |  What is Reflection?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292608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</a:rPr>
              <a:t>Reflection </a:t>
            </a:r>
            <a:r>
              <a:rPr lang="en-US" sz="1350" dirty="0">
                <a:solidFill>
                  <a:srgbClr val="E6EDF3"/>
                </a:solidFill>
              </a:rPr>
              <a:t>is the ability of a program to </a:t>
            </a:r>
            <a:r>
              <a:rPr lang="en-US" sz="1350" b="1" dirty="0">
                <a:solidFill>
                  <a:srgbClr val="E3B341"/>
                </a:solidFill>
              </a:rPr>
              <a:t>examine and modify its behavior at runtime</a:t>
            </a:r>
            <a:r>
              <a:rPr lang="en-US" sz="1350" dirty="0">
                <a:solidFill>
                  <a:srgbClr val="E6EDF3"/>
                </a:solidFill>
              </a:rPr>
              <a:t> — without knowing the class at compile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70048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</a:rPr>
              <a:t>Inspect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Read class metadata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(fields, methods, annotations,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modifiers) at runtime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874520"/>
            <a:ext cx="2670048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18688" y="19659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18688" y="254203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</a:rPr>
              <a:t>Invoke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2944368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Call methods &amp; access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fields dynamically without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knowing them at compile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874520"/>
            <a:ext cx="2670048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71616" y="19659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71616" y="254203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8166"/>
                </a:solidFill>
              </a:rPr>
              <a:t>Manipulate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3056" y="2944368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Break access modifiers,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instantiate objects, modify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final fields forcefully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Package: </a:t>
            </a:r>
            <a:r>
              <a:rPr lang="en-US" sz="1150" b="1" dirty="0">
                <a:solidFill>
                  <a:srgbClr val="3FB950"/>
                </a:solidFill>
              </a:rPr>
              <a:t>java.lang.reflect</a:t>
            </a:r>
            <a:r>
              <a:rPr lang="en-US" sz="1150" dirty="0">
                <a:solidFill>
                  <a:srgbClr val="8B949E"/>
                </a:solidFill>
              </a:rPr>
              <a:t>   |   Key Classes: </a:t>
            </a:r>
            <a:r>
              <a:rPr lang="en-US" sz="1150" b="1" dirty="0">
                <a:solidFill>
                  <a:srgbClr val="58A6FF"/>
                </a:solidFill>
              </a:rPr>
              <a:t>Class&lt;T&gt;  •  Field  •  Method  •  Constructor&lt;T&gt;  •  Modifier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Core Reflection API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384048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71085"/>
            <a:ext cx="8412480" cy="4023360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Get Class object — three ways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0652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Class&lt;?&gt; c1 = String.class;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Class&lt;?&gt; c2 = obj.getClass();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584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Class&lt;?&gt; c3 = Class.forName("java.lang.String");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8516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Inspect Fields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Field[] fields = c1.getDeclaredFields();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448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nameField.setAccessible(true);   // bypass private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380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Inspect &amp; Invoke Methods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m = c1.getDeclaredMethod("length");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0312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result = m.invoke(obj);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4244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Access Constructors &amp; Create Instances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62102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con.setAccessible(true);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8176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newObj = con.newInstance("Hello");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2108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Read Annotations &amp; Modifiers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4074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isPrivate = Modifier.isPrivate(mods);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03  |  Breaking Singleton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4389120" cy="502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02336"/>
          </a:xfrm>
          <a:prstGeom prst="rect">
            <a:avLst/>
          </a:prstGeom>
          <a:solidFill>
            <a:srgbClr val="2D1B1B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</a:rPr>
              <a:t>⚠  Reflection can bypass private constructors — completely defeating the Singleton guarantee!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Singleton 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Singleton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Singleton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private constructor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Singleton() {}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Singleton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getInstance()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(instance ==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 = new Singleton();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instance;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Breaking with Reflection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411480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8620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Constructor&lt;Singleton&gt; con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Singleton.class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.getDeclaredConstructor();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This is the key line!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con.setAccessible(true);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DIFFERENT instances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 s1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Singleton.getInstance();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 s2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con.newInstance();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System.out.println(s1 == s2);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prints: false  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0D2A1A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</a:rPr>
              <a:t>✅  Fix: </a:t>
            </a:r>
            <a:r>
              <a:rPr lang="en-US" sz="1050" dirty="0">
                <a:solidFill>
                  <a:srgbClr val="E6EDF3"/>
                </a:solidFill>
              </a:rPr>
              <a:t>Use </a:t>
            </a:r>
            <a:r>
              <a:rPr lang="en-US" sz="1050" b="1" dirty="0">
                <a:solidFill>
                  <a:srgbClr val="E3B341"/>
                </a:solidFill>
              </a:rPr>
              <a:t>enum-based Singleton</a:t>
            </a:r>
            <a:r>
              <a:rPr lang="en-US" sz="1050" dirty="0">
                <a:solidFill>
                  <a:srgbClr val="E6EDF3"/>
                </a:solidFill>
              </a:rPr>
              <a:t> — JVM guarantees only one instance &amp; reflection cannot invoke enum constructors.
</a:t>
            </a: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Singleton { INSTANCE; }   // Reflection-proof!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04  |  Breaking Immutability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3657600" cy="502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02336"/>
          </a:xfrm>
          <a:prstGeom prst="rect">
            <a:avLst/>
          </a:prstGeom>
          <a:solidFill>
            <a:srgbClr val="2A240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⚠  final fields can be modified via reflection using field.setAccessible(true) — even on immutable classes like String!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Immutable 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393192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final class ImmutablePerson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String name;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ImmutablePerson(String n)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getName()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Breaking final with Reflection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609344"/>
            <a:ext cx="42976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664208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ImmutablePerson p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ImmutablePerson("Alice");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f = ImmutablePerson.class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.getDeclaredField("name");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f.setAccessible(true); // 🔓 unlock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Modify the final field!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f.set(p, "Bob");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System.out.println(p.getName());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prints: Bob  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How setAccessible(true) works: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384048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</a:rPr>
              <a:t>Bypasses Java access control checks (private, final)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78808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41788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</a:rPr>
              <a:t>Directly manipulates the JVM field memory slot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517136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45171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</a:rPr>
              <a:t>On JDK 9+, blocked by Strong Encapsulation unless --add-opens is used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9+ module system restricts this: add  --add-opens java.base/java.lang=ALL-UNNAMED  to JVM args to allow it.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05  |  How Spring Uses Reflection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4572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Spring Framework is built almost entirely on Reflection. Here's what happens behind the scenes: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1600200"/>
          </a:xfrm>
          <a:prstGeom prst="rect">
            <a:avLst/>
          </a:prstGeom>
          <a:solidFill>
            <a:srgbClr val="161B22"/>
          </a:solidFill>
          <a:ln w="1651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64008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A6FF"/>
                </a:solidFill>
              </a:rPr>
              <a:t>Dependency Injection (@Autowired)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Scans classpath for @Component, @Service, @Repository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Uses getDeclaredFields() to find @Autowired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Calls field.setAccessible(true) + field.set(bean, dependency)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Works even on private fields — no setter required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161B22"/>
          </a:solidFill>
          <a:ln w="1651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64008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</a:rPr>
              <a:t>Bean Instantiation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9472" y="1737360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Reads @Scope, @Lazy, @Primary annotations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Calls getDeclaredConstructor() to get constructors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Invokes constructor.newInstance() to create beans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Registers bean in ApplicationContext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600200"/>
          </a:xfrm>
          <a:prstGeom prst="rect">
            <a:avLst/>
          </a:prstGeom>
          <a:solidFill>
            <a:srgbClr val="161B22"/>
          </a:solidFill>
          <a:ln w="1651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64008" cy="1600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C8CFF"/>
                </a:solidFill>
              </a:rPr>
              <a:t>AOP — Aspect-Oriented Programming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3474720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Scans for @Aspect + @Before / @After / @Around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Wraps target bean in a dynamic proxy (JDK/CGLIB)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Intercepts method calls using Method.invoke()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Powers @Transactional, @Cacheable, @Async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0" cy="1600200"/>
          </a:xfrm>
          <a:prstGeom prst="rect">
            <a:avLst/>
          </a:prstGeom>
          <a:solidFill>
            <a:srgbClr val="161B22"/>
          </a:solidFill>
          <a:ln w="1651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64008" cy="16002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8166"/>
                </a:solidFill>
              </a:rPr>
              <a:t>Spring MVC — Request Mapping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3474720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Scans @Controller classes at startup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Reads @RequestMapping / @GetMapping via getAnnotation()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Maps URL patterns to handler Method objects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</a:rPr>
              <a:t>At request time: method.invoke(controller, args)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Spring @Autowired — Reflection Under the Hood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566928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Your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2057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3858768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EmployeeService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EmployeeRepo repo;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↑ private field!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No setter needed.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List&lt;Employee&gt;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findAll()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repo.findAll();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What Spring Does Internally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160520" cy="2057400"/>
          </a:xfrm>
          <a:prstGeom prst="rect">
            <a:avLst/>
          </a:prstGeom>
          <a:solidFill>
            <a:srgbClr val="0D2137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1133856"/>
            <a:ext cx="391363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AutowiredAnnotationBeanPostProcessor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(Field field : bean.getClass()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.getDeclaredFields())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Autowired ann = field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.getAnnotation(Autowired.class);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(ann != null)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field.setAccessible(true); // 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dep = context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.getBean(field.getType());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field.set(bean, dep); // inject!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Startup Flow: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201168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8A6FF"/>
                </a:solidFill>
              </a:rPr>
              <a:t>1  Scan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977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Classpath scan finds @Service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67712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42032" y="3611880"/>
            <a:ext cx="201168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42032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B950"/>
                </a:solidFill>
              </a:rPr>
              <a:t>2  Instantiate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87752" y="3977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constructor.newInstance() creates bean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43984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18304" y="3611880"/>
            <a:ext cx="201168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18304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8CFF"/>
                </a:solidFill>
              </a:rPr>
              <a:t>3  Inject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64024" y="3977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getDeclaredFields() + setAccessible + set()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20256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94576" y="3611880"/>
            <a:ext cx="201168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94576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41"/>
                </a:solidFill>
              </a:rPr>
              <a:t>4  Register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40296" y="3977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Bean added to ApplicationContext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Spring class responsible: </a:t>
            </a: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AutowiredAnnotationBeanPostProcessor</a:t>
            </a:r>
            <a:r>
              <a:rPr lang="en-US" sz="1000" dirty="0">
                <a:solidFill>
                  <a:srgbClr val="8B949E"/>
                </a:solidFill>
              </a:rPr>
              <a:t>  in org.springframework.beans.factory.annotation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Spring AOP &amp; MVC — Reflection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59436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</a:rPr>
              <a:t>AOP — @Transactional (via Dynamic Proxy)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06424"/>
            <a:ext cx="3858768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save(Employee 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repo.save(e);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wraps it — simplified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target = bean.getClass()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.getMethod("save", Employee.class);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Proxy intercepts call: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txManager.begin();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target.invoke(realBean, e); // ← reflection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txManager.commit();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txManager.rollback(); throw ex;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0916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MVC — @GetMapping Request Dispatch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1106424"/>
            <a:ext cx="3913632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EmpController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@GetMapping("/employees")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List&lt;Employee&gt; list()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service.findAll();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DispatcherServlet does this: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handler = EmpController.class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.getMethod("list");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GetMapping ann = handler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.getAnnotation(GetMapping.class);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registers "/employees" → handler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HTTP request: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handler.invoke(controllerBean);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Other Key Spring Uses of Reflection: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3822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</a:rPr>
              <a:t>@Value injection  </a:t>
            </a:r>
            <a:r>
              <a:rPr lang="en-US" sz="950" dirty="0">
                <a:solidFill>
                  <a:srgbClr val="8B949E"/>
                </a:solidFill>
              </a:rPr>
              <a:t>field.set() injects property values from application.properties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822192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18888" y="3822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</a:rPr>
              <a:t>Jackson (JSON ↔ Object)  </a:t>
            </a:r>
            <a:r>
              <a:rPr lang="en-US" sz="950" dirty="0">
                <a:solidFill>
                  <a:srgbClr val="8B949E"/>
                </a:solidFill>
              </a:rPr>
              <a:t>getDeclaredFields() maps JSON keys to Java fields &amp; vice versa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</a:rPr>
              <a:t>Hibernate / JPA  </a:t>
            </a:r>
            <a:r>
              <a:rPr lang="en-US" sz="950" dirty="0">
                <a:solidFill>
                  <a:srgbClr val="8B949E"/>
                </a:solidFill>
              </a:rPr>
              <a:t>getDeclaredFields() maps @Column fields to SQL columns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4480560"/>
            <a:ext cx="41148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18888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</a:rPr>
              <a:t>@Scheduled tasks  </a:t>
            </a:r>
            <a:r>
              <a:rPr lang="en-US" sz="950" dirty="0">
                <a:solidFill>
                  <a:srgbClr val="8B949E"/>
                </a:solidFill>
              </a:rPr>
              <a:t>getMethods() finds @Scheduled, invokes them on a timer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Performance &amp;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438912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Performance Overhead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417320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Operation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83080" y="1115568"/>
            <a:ext cx="1417320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83080" y="1115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Normal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1417320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1115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Reflection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499616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4996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EDF3"/>
                </a:solidFill>
              </a:rPr>
              <a:t>Method 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83080" y="1499616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83080" y="14996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</a:rPr>
              <a:t>~1 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499616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14996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8166"/>
                </a:solidFill>
              </a:rPr>
              <a:t>~100–300 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883664"/>
            <a:ext cx="1417320" cy="384048"/>
          </a:xfrm>
          <a:prstGeom prst="rect">
            <a:avLst/>
          </a:prstGeom>
          <a:solidFill>
            <a:srgbClr val="0D213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18836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EDF3"/>
                </a:solidFill>
              </a:rPr>
              <a:t>Field access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83080" y="1883664"/>
            <a:ext cx="1417320" cy="384048"/>
          </a:xfrm>
          <a:prstGeom prst="rect">
            <a:avLst/>
          </a:prstGeom>
          <a:solidFill>
            <a:srgbClr val="0D213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83080" y="18836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</a:rPr>
              <a:t>~0.3 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883664"/>
            <a:ext cx="1417320" cy="384048"/>
          </a:xfrm>
          <a:prstGeom prst="rect">
            <a:avLst/>
          </a:prstGeom>
          <a:solidFill>
            <a:srgbClr val="0D213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18836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8166"/>
                </a:solidFill>
              </a:rPr>
              <a:t>~50–200 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267712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2677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EDF3"/>
                </a:solidFill>
              </a:rPr>
              <a:t>Object creation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783080" y="2267712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83080" y="22677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</a:rPr>
              <a:t>~5 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267712"/>
            <a:ext cx="141732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0" y="22677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8166"/>
                </a:solidFill>
              </a:rPr>
              <a:t>~300–500 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✅  Do's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1115568"/>
            <a:ext cx="2743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17720" y="11155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Cache Method/Field objects — lookup is expensive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481328"/>
            <a:ext cx="2743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17720" y="1481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Use setAccessible(true) once, reuse the Field/Method object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1847088"/>
            <a:ext cx="2743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17720" y="1847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Prefer interfaces over reflection where possible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2212848"/>
            <a:ext cx="2743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17720" y="22128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Use MethodHandles (Java 7+) for better performance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2578608"/>
            <a:ext cx="2743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17720" y="25786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2578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Document reflection usage clearly in code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❌  Don'ts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3090672"/>
            <a:ext cx="274320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65760" y="30906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✗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Avoid reflection in tight loops — 10-300x slower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3456432"/>
            <a:ext cx="274320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65760" y="34564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Don't use in security-sensitive production code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3822192"/>
            <a:ext cx="274320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5760" y="3822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✗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Never modify fields of JDK internal classes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187952"/>
            <a:ext cx="274320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65760" y="41879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✗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</a:rPr>
              <a:t>Avoid breaking encapsulation in your own codebase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17720" y="2779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Caching Pattern (Best Practice):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17720" y="3090672"/>
            <a:ext cx="4251960" cy="1810512"/>
          </a:xfrm>
          <a:prstGeom prst="rect">
            <a:avLst/>
          </a:prstGeom>
          <a:solidFill>
            <a:srgbClr val="0D2137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54880" y="3145536"/>
            <a:ext cx="4005072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BAD — lookup every call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inject(Object bean)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bean.getClass()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.getDeclaredField("repo")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.set(bean, dep);  // slow!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GOOD — cache the Field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final Field REPO;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 = Clazz.getDeclaredField("repo");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REPO.setAccessible(true); // once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inject(Object bean)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REPO.set(bean, dep); // fast!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78166">
              <a:alpha val="10000"/>
            </a:srgbClr>
          </a:solidFill>
          <a:ln w="12700">
            <a:solidFill>
              <a:srgbClr val="F781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64592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64008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9692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A6FF"/>
                </a:solidFill>
              </a:rPr>
              <a:t>🔍  Reflection Basics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java.lang.reflect gives runtime access to Class, Field, Method, Constructor. Use getClass(), forName(), getDeclaredFields(), invoke().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64008" cy="7132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8166"/>
                </a:solidFill>
              </a:rPr>
              <a:t>🔒  Breaking Singleton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getDeclaredConstructor() + setAccessible(true) + newInstance() creates multiple instances. Fix: use enum Singleton.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64008" cy="7132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5786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341"/>
                </a:solidFill>
              </a:rPr>
              <a:t>🔓  Breaking Immutability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field.setAccessible(true) + field.set() modifies final fields. JDK 9+ module system limits this with --add-opens.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64008" cy="7132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C8CFF"/>
                </a:solidFill>
              </a:rPr>
              <a:t>🌱  Spring Uses Reflection for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@Autowired field injection • Bean instantiation • AOP dynamic proxies • @RequestMapping dispatch • @Value injection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151376"/>
            <a:ext cx="64008" cy="7132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18795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</a:rPr>
              <a:t>⚡  Performance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Reflection is 10–300x slower. Cache Method/Field objects. Use MethodHandles for hot paths. Avoid in tight loops.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1697</Words>
  <Application>Microsoft Office PowerPoint</Application>
  <PresentationFormat>On-screen Show (16:9)</PresentationFormat>
  <Paragraphs>314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Reflection API</dc:title>
  <dc:subject>PptxGenJS Presentation</dc:subject>
  <dc:creator>Java Deep Dive</dc:creator>
  <cp:lastModifiedBy>Saritha Kondilla</cp:lastModifiedBy>
  <cp:revision>2</cp:revision>
  <dcterms:created xsi:type="dcterms:W3CDTF">2026-04-01T13:40:17Z</dcterms:created>
  <dcterms:modified xsi:type="dcterms:W3CDTF">2026-04-03T06:04:30Z</dcterms:modified>
</cp:coreProperties>
</file>