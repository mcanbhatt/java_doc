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567" autoAdjust="0"/>
  </p:normalViewPr>
  <p:slideViewPr>
    <p:cSldViewPr snapToGrid="0" snapToObjects="1">
      <p:cViewPr varScale="1">
        <p:scale>
          <a:sx n="98" d="100"/>
          <a:sy n="98" d="100"/>
        </p:scale>
        <p:origin x="82" y="5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setty Pravakar Rao" userId="a35a5549-bf34-4802-ae39-b2f8bb0c1b81" providerId="ADAL" clId="{5FBDD067-9502-4B38-AA1A-18E633ED2B61}"/>
    <pc:docChg chg="modSld">
      <pc:chgData name="Kusetty Pravakar Rao" userId="a35a5549-bf34-4802-ae39-b2f8bb0c1b81" providerId="ADAL" clId="{5FBDD067-9502-4B38-AA1A-18E633ED2B61}" dt="2026-10-12T04:25:10.235" v="2"/>
      <pc:docMkLst>
        <pc:docMk/>
      </pc:docMkLst>
      <pc:sldChg chg="delSp modSp mod">
        <pc:chgData name="Kusetty Pravakar Rao" userId="a35a5549-bf34-4802-ae39-b2f8bb0c1b81" providerId="ADAL" clId="{5FBDD067-9502-4B38-AA1A-18E633ED2B61}" dt="2026-10-12T04:25:10.235" v="2"/>
        <pc:sldMkLst>
          <pc:docMk/>
          <pc:sldMk cId="0" sldId="256"/>
        </pc:sldMkLst>
        <pc:spChg chg="del mod">
          <ac:chgData name="Kusetty Pravakar Rao" userId="a35a5549-bf34-4802-ae39-b2f8bb0c1b81" providerId="ADAL" clId="{5FBDD067-9502-4B38-AA1A-18E633ED2B61}" dt="2026-10-12T04:25:10.235" v="2"/>
          <ac:spMkLst>
            <pc:docMk/>
            <pc:sldMk cId="0" sldId="256"/>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571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the talk around one central question: what does it actually mean to have one instance? Separate construction control, safe publication, mutable-state safety, and scope. They are related but distinct concerns.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two responsibilities: restrict normal construction and provide a common access point. Scope is the defining class loader: two loaders can define the same class name and each have their own static state. A process-wide guarantee does not extend across JVMs. Hash codes are not unique identifiers; distinct objects can collide.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Eager initialization is straightforward when the object is inexpensive and likely to be used. Its timing is class initialization, not necessarily application startup. For unsafe lazy initialization, walk through the interleaving: T1 reads null, T2 reads null, then both construct. A volatile reference alone would improve visibility but would not make the compound check-and-create operation atomic.</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static synchronized method locks the Class object. The lock covers the null check and construction, and monitor entry/exit supplies the visibility relationship. DCL avoids locking after initialization: callers check the volatile reference first, then recheck while holding the same class monitor. The inner check handles another thread winning the race before this thread acquires the lock. Volatile safely publishes construction writes; it does not make the check-and-create sequence atomic.</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initialization-on-demand holder idiom defers the instance until Holder.INSTANCE is first referenced. The nested class has its own initialization lifecycle; merely initializing or referencing the outer class does not initialize the holder. JVM class initialization coordinates initialization and safely publishes the value. Prefer choosing for clarity and requirements, not assumed micro-performance differences.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reflection, an accessible constructor can be invoked in contexts where module access permits it. A guard handles ordinary repeated calls but is not a defense against privileged state tampering or low-level allocation. Default deserialization does not use the private constructor; readResolve substitutes the returned reference, but does not prevent deserialization from allocating an object. Cloning creates a copy without normal construction; simplest is not to expose Cloneable.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 enum Singleton is a strong choice for a fixed, self-contained policy. Java treats enum serialization specially and rejects ordinary reflective construction of enum constants. The enum still has one fixed set of constants and already extends java.lang.Enum, so it cannot extend another class. Mutable fields require a separate concurrency design. In the second example, ReportFormat is a type-safe fixed set of options, not a Singleton pattern merely because it is an enum.</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choose based on cleverness or getter micro-benchmarks. Ask whether the object is truly globally shared, whether it needs runtime dependencies or configuration, how its lifecycle ends, and whether its state changes. A Singleton can be the right fit, but global access has real coupling and test-isolation costs.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this as a question slide. Invite short answers and follow up on the distinction between instance creation and mutable-state safety. In DCL, volatile safely publishes the reference, while the inner check prevents another construction after waiting for the class monitor. A class-based Singleton is scoped to its defining class loader.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this as a question slide. Discuss each breakage route and its targeted defense without treating those defenses as a complete security boundary. Emphasize that hash codes can collide, whereas == tests whether two references point to the same object. Close by asking which requirements drive the choice of implementation.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1827"/>
        </a:solidFill>
        <a:effectLst/>
      </p:bgPr>
    </p:bg>
    <p:spTree>
      <p:nvGrpSpPr>
        <p:cNvPr id="1" name=""/>
        <p:cNvGrpSpPr/>
        <p:nvPr/>
      </p:nvGrpSpPr>
      <p:grpSpPr>
        <a:xfrm>
          <a:off x="0" y="0"/>
          <a:ext cx="0" cy="0"/>
          <a:chOff x="0" y="0"/>
          <a:chExt cx="0" cy="0"/>
        </a:xfrm>
      </p:grpSpPr>
      <p:sp>
        <p:nvSpPr>
          <p:cNvPr id="2" name="Rectangle 1"/>
          <p:cNvSpPr/>
          <p:nvPr/>
        </p:nvSpPr>
        <p:spPr>
          <a:xfrm>
            <a:off x="685800" y="713232"/>
            <a:ext cx="109728" cy="5394960"/>
          </a:xfrm>
          <a:prstGeom prst="rect">
            <a:avLst/>
          </a:prstGeom>
          <a:solidFill>
            <a:srgbClr val="46D9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 y="1170432"/>
            <a:ext cx="9966960" cy="384048"/>
          </a:xfrm>
          <a:prstGeom prst="rect">
            <a:avLst/>
          </a:prstGeom>
          <a:noFill/>
        </p:spPr>
        <p:txBody>
          <a:bodyPr wrap="square" lIns="45720" rIns="45720">
            <a:spAutoFit/>
          </a:bodyPr>
          <a:lstStyle/>
          <a:p>
            <a:pPr>
              <a:defRPr sz="1300" b="1">
                <a:solidFill>
                  <a:srgbClr val="46D9C3"/>
                </a:solidFill>
                <a:latin typeface="Aptos"/>
              </a:defRPr>
            </a:pPr>
            <a:r>
              <a:t>JAVA DESIGN PATTERN</a:t>
            </a:r>
          </a:p>
        </p:txBody>
      </p:sp>
      <p:sp>
        <p:nvSpPr>
          <p:cNvPr id="4" name="TextBox 3"/>
          <p:cNvSpPr txBox="1"/>
          <p:nvPr/>
        </p:nvSpPr>
        <p:spPr>
          <a:xfrm>
            <a:off x="1097280" y="1874519"/>
            <a:ext cx="10058400" cy="1188720"/>
          </a:xfrm>
          <a:prstGeom prst="rect">
            <a:avLst/>
          </a:prstGeom>
          <a:noFill/>
        </p:spPr>
        <p:txBody>
          <a:bodyPr wrap="square" lIns="45720" rIns="45720">
            <a:spAutoFit/>
          </a:bodyPr>
          <a:lstStyle/>
          <a:p>
            <a:pPr>
              <a:defRPr sz="5400" b="1">
                <a:solidFill>
                  <a:srgbClr val="EDF2F7"/>
                </a:solidFill>
                <a:latin typeface="Aptos"/>
              </a:defRPr>
            </a:pPr>
            <a:r>
              <a:t>Singleton</a:t>
            </a:r>
          </a:p>
        </p:txBody>
      </p:sp>
      <p:sp>
        <p:nvSpPr>
          <p:cNvPr id="5" name="TextBox 4"/>
          <p:cNvSpPr txBox="1"/>
          <p:nvPr/>
        </p:nvSpPr>
        <p:spPr>
          <a:xfrm>
            <a:off x="1143000" y="3319272"/>
            <a:ext cx="9326880" cy="758952"/>
          </a:xfrm>
          <a:prstGeom prst="rect">
            <a:avLst/>
          </a:prstGeom>
          <a:noFill/>
        </p:spPr>
        <p:txBody>
          <a:bodyPr wrap="square" lIns="45720" rIns="45720">
            <a:spAutoFit/>
          </a:bodyPr>
          <a:lstStyle/>
          <a:p>
            <a:pPr>
              <a:defRPr sz="2500" b="1">
                <a:solidFill>
                  <a:srgbClr val="EDF2F7"/>
                </a:solidFill>
                <a:latin typeface="Aptos"/>
              </a:defRPr>
            </a:pPr>
            <a:r>
              <a:t>Creation, concurrency, identity, and design tradeoffs</a:t>
            </a:r>
          </a:p>
        </p:txBody>
      </p:sp>
      <p:sp>
        <p:nvSpPr>
          <p:cNvPr id="7" name="Rounded Rectangle 6"/>
          <p:cNvSpPr/>
          <p:nvPr/>
        </p:nvSpPr>
        <p:spPr>
          <a:xfrm>
            <a:off x="9875520" y="4663440"/>
            <a:ext cx="1051560" cy="1051560"/>
          </a:xfrm>
          <a:prstGeom prst="roundRect">
            <a:avLst/>
          </a:prstGeom>
          <a:solidFill>
            <a:srgbClr val="23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21824" y="4919472"/>
            <a:ext cx="768096" cy="438912"/>
          </a:xfrm>
          <a:prstGeom prst="rect">
            <a:avLst/>
          </a:prstGeom>
          <a:noFill/>
        </p:spPr>
        <p:txBody>
          <a:bodyPr wrap="square" lIns="45720" rIns="45720">
            <a:spAutoFit/>
          </a:bodyPr>
          <a:lstStyle/>
          <a:p>
            <a:pPr>
              <a:defRPr sz="2700" b="1">
                <a:solidFill>
                  <a:srgbClr val="FFD479"/>
                </a:solidFill>
                <a:latin typeface="Aptos"/>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01827"/>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10927080" cy="310896"/>
          </a:xfrm>
          <a:prstGeom prst="rect">
            <a:avLst/>
          </a:prstGeom>
          <a:noFill/>
        </p:spPr>
        <p:txBody>
          <a:bodyPr wrap="square" lIns="45720" rIns="45720">
            <a:spAutoFit/>
          </a:bodyPr>
          <a:lstStyle/>
          <a:p>
            <a:pPr>
              <a:defRPr sz="1100" b="1">
                <a:solidFill>
                  <a:srgbClr val="46D9C3"/>
                </a:solidFill>
                <a:latin typeface="Aptos"/>
              </a:defRPr>
            </a:pPr>
            <a:r>
              <a:t>01  |  INTENT AND BOUNDARIES</a:t>
            </a:r>
          </a:p>
        </p:txBody>
      </p:sp>
      <p:sp>
        <p:nvSpPr>
          <p:cNvPr id="3" name="TextBox 2"/>
          <p:cNvSpPr txBox="1"/>
          <p:nvPr/>
        </p:nvSpPr>
        <p:spPr>
          <a:xfrm>
            <a:off x="621792" y="621792"/>
            <a:ext cx="10927080" cy="658368"/>
          </a:xfrm>
          <a:prstGeom prst="rect">
            <a:avLst/>
          </a:prstGeom>
          <a:noFill/>
        </p:spPr>
        <p:txBody>
          <a:bodyPr wrap="square" lIns="45720" rIns="45720">
            <a:spAutoFit/>
          </a:bodyPr>
          <a:lstStyle/>
          <a:p>
            <a:pPr>
              <a:defRPr sz="2900" b="1">
                <a:solidFill>
                  <a:srgbClr val="EDF2F7"/>
                </a:solidFill>
                <a:latin typeface="Aptos"/>
              </a:defRPr>
            </a:pPr>
            <a:r>
              <a:t>What does “one instance” mean?</a:t>
            </a:r>
          </a:p>
        </p:txBody>
      </p:sp>
      <p:sp>
        <p:nvSpPr>
          <p:cNvPr id="4" name="Rounded Rectangle 3"/>
          <p:cNvSpPr/>
          <p:nvPr/>
        </p:nvSpPr>
        <p:spPr>
          <a:xfrm>
            <a:off x="621792" y="1481328"/>
            <a:ext cx="5138928" cy="4334256"/>
          </a:xfrm>
          <a:prstGeom prst="roundRect">
            <a:avLst/>
          </a:prstGeom>
          <a:solidFill>
            <a:srgbClr val="1C29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961888" y="1481328"/>
            <a:ext cx="5596128" cy="4334256"/>
          </a:xfrm>
          <a:prstGeom prst="roundRect">
            <a:avLst/>
          </a:prstGeom>
          <a:solidFill>
            <a:srgbClr val="1C29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96112" y="1783080"/>
            <a:ext cx="347472" cy="301752"/>
          </a:xfrm>
          <a:prstGeom prst="rect">
            <a:avLst/>
          </a:prstGeom>
          <a:noFill/>
        </p:spPr>
        <p:txBody>
          <a:bodyPr wrap="square" lIns="45720" rIns="45720">
            <a:spAutoFit/>
          </a:bodyPr>
          <a:lstStyle/>
          <a:p>
            <a:pPr>
              <a:defRPr sz="1100" b="1">
                <a:solidFill>
                  <a:srgbClr val="46D9C3"/>
                </a:solidFill>
                <a:latin typeface="Aptos"/>
              </a:defRPr>
            </a:pPr>
            <a:r>
              <a:t>01</a:t>
            </a:r>
          </a:p>
        </p:txBody>
      </p:sp>
      <p:sp>
        <p:nvSpPr>
          <p:cNvPr id="7" name="TextBox 6"/>
          <p:cNvSpPr txBox="1"/>
          <p:nvPr/>
        </p:nvSpPr>
        <p:spPr>
          <a:xfrm>
            <a:off x="1280160" y="1764792"/>
            <a:ext cx="4233672" cy="475488"/>
          </a:xfrm>
          <a:prstGeom prst="rect">
            <a:avLst/>
          </a:prstGeom>
          <a:noFill/>
        </p:spPr>
        <p:txBody>
          <a:bodyPr wrap="square" lIns="45720" rIns="45720">
            <a:spAutoFit/>
          </a:bodyPr>
          <a:lstStyle/>
          <a:p>
            <a:pPr>
              <a:defRPr sz="1600" b="0">
                <a:solidFill>
                  <a:srgbClr val="EDF2F7"/>
                </a:solidFill>
                <a:latin typeface="Aptos"/>
              </a:defRPr>
            </a:pPr>
            <a:r>
              <a:t>Control construction and provide a shared access point.</a:t>
            </a:r>
          </a:p>
        </p:txBody>
      </p:sp>
      <p:sp>
        <p:nvSpPr>
          <p:cNvPr id="8" name="TextBox 7"/>
          <p:cNvSpPr txBox="1"/>
          <p:nvPr/>
        </p:nvSpPr>
        <p:spPr>
          <a:xfrm>
            <a:off x="896112" y="2398268"/>
            <a:ext cx="347472" cy="301752"/>
          </a:xfrm>
          <a:prstGeom prst="rect">
            <a:avLst/>
          </a:prstGeom>
          <a:noFill/>
        </p:spPr>
        <p:txBody>
          <a:bodyPr wrap="square" lIns="45720" rIns="45720">
            <a:spAutoFit/>
          </a:bodyPr>
          <a:lstStyle/>
          <a:p>
            <a:pPr>
              <a:defRPr sz="1100" b="1">
                <a:solidFill>
                  <a:srgbClr val="46D9C3"/>
                </a:solidFill>
                <a:latin typeface="Aptos"/>
              </a:defRPr>
            </a:pPr>
            <a:r>
              <a:t>02</a:t>
            </a:r>
          </a:p>
        </p:txBody>
      </p:sp>
      <p:sp>
        <p:nvSpPr>
          <p:cNvPr id="9" name="TextBox 8"/>
          <p:cNvSpPr txBox="1"/>
          <p:nvPr/>
        </p:nvSpPr>
        <p:spPr>
          <a:xfrm>
            <a:off x="1280160" y="2379980"/>
            <a:ext cx="4233672" cy="475488"/>
          </a:xfrm>
          <a:prstGeom prst="rect">
            <a:avLst/>
          </a:prstGeom>
          <a:noFill/>
        </p:spPr>
        <p:txBody>
          <a:bodyPr wrap="square" lIns="45720" rIns="45720">
            <a:spAutoFit/>
          </a:bodyPr>
          <a:lstStyle/>
          <a:p>
            <a:pPr>
              <a:defRPr sz="1600" b="0">
                <a:solidFill>
                  <a:srgbClr val="EDF2F7"/>
                </a:solidFill>
                <a:latin typeface="Aptos"/>
              </a:defRPr>
            </a:pPr>
            <a:r>
              <a:t>A class-based Singleton is one instance per defining class loader.</a:t>
            </a:r>
          </a:p>
        </p:txBody>
      </p:sp>
      <p:sp>
        <p:nvSpPr>
          <p:cNvPr id="10" name="TextBox 9"/>
          <p:cNvSpPr txBox="1"/>
          <p:nvPr/>
        </p:nvSpPr>
        <p:spPr>
          <a:xfrm>
            <a:off x="896112" y="3013456"/>
            <a:ext cx="347472" cy="301752"/>
          </a:xfrm>
          <a:prstGeom prst="rect">
            <a:avLst/>
          </a:prstGeom>
          <a:noFill/>
        </p:spPr>
        <p:txBody>
          <a:bodyPr wrap="square" lIns="45720" rIns="45720">
            <a:spAutoFit/>
          </a:bodyPr>
          <a:lstStyle/>
          <a:p>
            <a:pPr>
              <a:defRPr sz="1100" b="1">
                <a:solidFill>
                  <a:srgbClr val="46D9C3"/>
                </a:solidFill>
                <a:latin typeface="Aptos"/>
              </a:defRPr>
            </a:pPr>
            <a:r>
              <a:t>03</a:t>
            </a:r>
          </a:p>
        </p:txBody>
      </p:sp>
      <p:sp>
        <p:nvSpPr>
          <p:cNvPr id="11" name="TextBox 10"/>
          <p:cNvSpPr txBox="1"/>
          <p:nvPr/>
        </p:nvSpPr>
        <p:spPr>
          <a:xfrm>
            <a:off x="1280160" y="2995168"/>
            <a:ext cx="4233672" cy="475488"/>
          </a:xfrm>
          <a:prstGeom prst="rect">
            <a:avLst/>
          </a:prstGeom>
          <a:noFill/>
        </p:spPr>
        <p:txBody>
          <a:bodyPr wrap="square" lIns="45720" rIns="45720">
            <a:spAutoFit/>
          </a:bodyPr>
          <a:lstStyle/>
          <a:p>
            <a:pPr>
              <a:defRPr sz="1600" b="0">
                <a:solidFill>
                  <a:srgbClr val="EDF2F7"/>
                </a:solidFill>
                <a:latin typeface="Aptos"/>
              </a:defRPr>
            </a:pPr>
            <a:r>
              <a:t>A shared instance does not make its mutable state thread-safe.</a:t>
            </a:r>
          </a:p>
        </p:txBody>
      </p:sp>
      <p:sp>
        <p:nvSpPr>
          <p:cNvPr id="12" name="TextBox 11"/>
          <p:cNvSpPr txBox="1"/>
          <p:nvPr/>
        </p:nvSpPr>
        <p:spPr>
          <a:xfrm>
            <a:off x="896112" y="3628644"/>
            <a:ext cx="347472" cy="301752"/>
          </a:xfrm>
          <a:prstGeom prst="rect">
            <a:avLst/>
          </a:prstGeom>
          <a:noFill/>
        </p:spPr>
        <p:txBody>
          <a:bodyPr wrap="square" lIns="45720" rIns="45720">
            <a:spAutoFit/>
          </a:bodyPr>
          <a:lstStyle/>
          <a:p>
            <a:pPr>
              <a:defRPr sz="1100" b="1">
                <a:solidFill>
                  <a:srgbClr val="46D9C3"/>
                </a:solidFill>
                <a:latin typeface="Aptos"/>
              </a:defRPr>
            </a:pPr>
            <a:r>
              <a:t>04</a:t>
            </a:r>
          </a:p>
        </p:txBody>
      </p:sp>
      <p:sp>
        <p:nvSpPr>
          <p:cNvPr id="13" name="TextBox 12"/>
          <p:cNvSpPr txBox="1"/>
          <p:nvPr/>
        </p:nvSpPr>
        <p:spPr>
          <a:xfrm>
            <a:off x="1280160" y="3610356"/>
            <a:ext cx="4233672" cy="475488"/>
          </a:xfrm>
          <a:prstGeom prst="rect">
            <a:avLst/>
          </a:prstGeom>
          <a:noFill/>
        </p:spPr>
        <p:txBody>
          <a:bodyPr wrap="square" lIns="45720" rIns="45720">
            <a:spAutoFit/>
          </a:bodyPr>
          <a:lstStyle/>
          <a:p>
            <a:pPr>
              <a:defRPr sz="1600" b="0">
                <a:solidFill>
                  <a:srgbClr val="EDF2F7"/>
                </a:solidFill>
                <a:latin typeface="Aptos"/>
              </a:defRPr>
            </a:pPr>
            <a:r>
              <a:t>Global access can hide dependencies and complicate testing.</a:t>
            </a:r>
          </a:p>
        </p:txBody>
      </p:sp>
      <p:sp>
        <p:nvSpPr>
          <p:cNvPr id="14" name="TextBox 13"/>
          <p:cNvSpPr txBox="1"/>
          <p:nvPr/>
        </p:nvSpPr>
        <p:spPr>
          <a:xfrm>
            <a:off x="6236208" y="1746504"/>
            <a:ext cx="5029200" cy="292608"/>
          </a:xfrm>
          <a:prstGeom prst="rect">
            <a:avLst/>
          </a:prstGeom>
          <a:noFill/>
        </p:spPr>
        <p:txBody>
          <a:bodyPr wrap="square" lIns="45720" rIns="45720">
            <a:spAutoFit/>
          </a:bodyPr>
          <a:lstStyle/>
          <a:p>
            <a:pPr>
              <a:defRPr sz="1200" b="1">
                <a:solidFill>
                  <a:srgbClr val="46D9C3"/>
                </a:solidFill>
                <a:latin typeface="Aptos"/>
              </a:defRPr>
            </a:pPr>
            <a:r>
              <a:t>MINIMAL CLASS SHAPE</a:t>
            </a:r>
          </a:p>
        </p:txBody>
      </p:sp>
      <p:sp>
        <p:nvSpPr>
          <p:cNvPr id="15" name="Rounded Rectangle 14"/>
          <p:cNvSpPr/>
          <p:nvPr/>
        </p:nvSpPr>
        <p:spPr>
          <a:xfrm>
            <a:off x="6236208" y="2176272"/>
            <a:ext cx="5029200" cy="1234440"/>
          </a:xfrm>
          <a:prstGeom prst="roundRect">
            <a:avLst/>
          </a:prstGeom>
          <a:solidFill>
            <a:srgbClr val="23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12000" y="2276856"/>
            <a:ext cx="4007104" cy="1191095"/>
          </a:xfrm>
          <a:prstGeom prst="rect">
            <a:avLst/>
          </a:prstGeom>
          <a:noFill/>
        </p:spPr>
        <p:txBody>
          <a:bodyPr wrap="square" lIns="18288" tIns="18288" rIns="18288" bIns="18288">
            <a:spAutoFit/>
          </a:bodyPr>
          <a:lstStyle/>
          <a:p>
            <a:pPr>
              <a:defRPr sz="1500" b="0">
                <a:solidFill>
                  <a:srgbClr val="46D9C3"/>
                </a:solidFill>
                <a:latin typeface="Consolas"/>
              </a:defRPr>
            </a:pPr>
            <a:r>
              <a:rPr dirty="0"/>
              <a:t>private static final Service INSTANCE = new Service();</a:t>
            </a:r>
            <a:br>
              <a:rPr dirty="0"/>
            </a:br>
            <a:r>
              <a:rPr dirty="0"/>
              <a:t>private Service() { }</a:t>
            </a:r>
            <a:br>
              <a:rPr dirty="0"/>
            </a:br>
            <a:r>
              <a:rPr dirty="0"/>
              <a:t>static Service </a:t>
            </a:r>
            <a:r>
              <a:rPr dirty="0" err="1"/>
              <a:t>getInstance</a:t>
            </a:r>
            <a:r>
              <a:rPr dirty="0"/>
              <a:t>() { return INSTANCE; }</a:t>
            </a:r>
          </a:p>
        </p:txBody>
      </p:sp>
      <p:sp>
        <p:nvSpPr>
          <p:cNvPr id="17" name="TextBox 16"/>
          <p:cNvSpPr txBox="1"/>
          <p:nvPr/>
        </p:nvSpPr>
        <p:spPr>
          <a:xfrm>
            <a:off x="6263640" y="3703320"/>
            <a:ext cx="4956048" cy="1737360"/>
          </a:xfrm>
          <a:prstGeom prst="rect">
            <a:avLst/>
          </a:prstGeom>
          <a:noFill/>
        </p:spPr>
        <p:txBody>
          <a:bodyPr wrap="square" lIns="45720" rIns="45720">
            <a:spAutoFit/>
          </a:bodyPr>
          <a:lstStyle/>
          <a:p>
            <a:pPr>
              <a:defRPr sz="1400" b="1">
                <a:solidFill>
                  <a:srgbClr val="FFD479"/>
                </a:solidFill>
                <a:latin typeface="Aptos"/>
              </a:defRPr>
            </a:pPr>
            <a:r>
              <a:t>A useful mental model</a:t>
            </a:r>
          </a:p>
        </p:txBody>
      </p:sp>
      <p:sp>
        <p:nvSpPr>
          <p:cNvPr id="18" name="TextBox 17"/>
          <p:cNvSpPr txBox="1"/>
          <p:nvPr/>
        </p:nvSpPr>
        <p:spPr>
          <a:xfrm>
            <a:off x="6263640" y="4096512"/>
            <a:ext cx="4956048" cy="1115568"/>
          </a:xfrm>
          <a:prstGeom prst="rect">
            <a:avLst/>
          </a:prstGeom>
          <a:noFill/>
        </p:spPr>
        <p:txBody>
          <a:bodyPr wrap="square" lIns="45720" rIns="45720">
            <a:spAutoFit/>
          </a:bodyPr>
          <a:lstStyle/>
          <a:p>
            <a:pPr>
              <a:defRPr sz="2000" b="1">
                <a:solidFill>
                  <a:srgbClr val="EDF2F7"/>
                </a:solidFill>
                <a:latin typeface="Aptos"/>
              </a:defRPr>
            </a:pPr>
            <a:r>
              <a:t>Construction control, safe publication, mutable-state safety, and scope are distinct concerns.</a:t>
            </a:r>
          </a:p>
        </p:txBody>
      </p:sp>
      <p:sp>
        <p:nvSpPr>
          <p:cNvPr id="19" name="TextBox 18"/>
          <p:cNvSpPr txBox="1"/>
          <p:nvPr/>
        </p:nvSpPr>
        <p:spPr>
          <a:xfrm>
            <a:off x="658368" y="6007608"/>
            <a:ext cx="10881360" cy="329184"/>
          </a:xfrm>
          <a:prstGeom prst="rect">
            <a:avLst/>
          </a:prstGeom>
          <a:noFill/>
        </p:spPr>
        <p:txBody>
          <a:bodyPr wrap="square" lIns="45720" rIns="45720">
            <a:spAutoFit/>
          </a:bodyPr>
          <a:lstStyle/>
          <a:p>
            <a:pPr>
              <a:defRPr sz="1400" b="1">
                <a:solidFill>
                  <a:srgbClr val="FFD479"/>
                </a:solidFill>
                <a:latin typeface="Aptos"/>
              </a:defRPr>
            </a:pPr>
            <a:r>
              <a:rPr dirty="0"/>
              <a:t>Identity is checked with ==, not inferred from hash codes.</a:t>
            </a:r>
          </a:p>
        </p:txBody>
      </p:sp>
      <p:sp>
        <p:nvSpPr>
          <p:cNvPr id="20" name="TextBox 19"/>
          <p:cNvSpPr txBox="1"/>
          <p:nvPr/>
        </p:nvSpPr>
        <p:spPr>
          <a:xfrm>
            <a:off x="640080" y="6510528"/>
            <a:ext cx="7315200" cy="164592"/>
          </a:xfrm>
          <a:prstGeom prst="rect">
            <a:avLst/>
          </a:prstGeom>
          <a:noFill/>
        </p:spPr>
        <p:txBody>
          <a:bodyPr wrap="square" lIns="45720" rIns="45720">
            <a:spAutoFit/>
          </a:bodyPr>
          <a:lstStyle/>
          <a:p>
            <a:pPr>
              <a:defRPr sz="800" b="0">
                <a:solidFill>
                  <a:srgbClr val="ACBDD2"/>
                </a:solidFill>
                <a:latin typeface="Aptos"/>
              </a:defRPr>
            </a:pPr>
            <a:r>
              <a:t>JAVA SINGLETON  |  DESIGN AND INTERVIEW REVIEW</a:t>
            </a:r>
          </a:p>
        </p:txBody>
      </p:sp>
      <p:sp>
        <p:nvSpPr>
          <p:cNvPr id="21" name="TextBox 20"/>
          <p:cNvSpPr txBox="1"/>
          <p:nvPr/>
        </p:nvSpPr>
        <p:spPr>
          <a:xfrm>
            <a:off x="10789920" y="6492240"/>
            <a:ext cx="731520" cy="182880"/>
          </a:xfrm>
          <a:prstGeom prst="rect">
            <a:avLst/>
          </a:prstGeom>
          <a:noFill/>
        </p:spPr>
        <p:txBody>
          <a:bodyPr wrap="square" lIns="45720" rIns="45720">
            <a:spAutoFit/>
          </a:bodyPr>
          <a:lstStyle/>
          <a:p>
            <a:pPr>
              <a:defRPr sz="900" b="0">
                <a:solidFill>
                  <a:srgbClr val="ACBDD2"/>
                </a:solidFill>
                <a:latin typeface="Aptos"/>
              </a:defRPr>
            </a:pPr>
            <a:r>
              <a:t>02 / 10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01827"/>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10927080" cy="310896"/>
          </a:xfrm>
          <a:prstGeom prst="rect">
            <a:avLst/>
          </a:prstGeom>
          <a:noFill/>
        </p:spPr>
        <p:txBody>
          <a:bodyPr wrap="square" lIns="45720" rIns="45720">
            <a:spAutoFit/>
          </a:bodyPr>
          <a:lstStyle/>
          <a:p>
            <a:pPr>
              <a:defRPr sz="1100" b="1">
                <a:solidFill>
                  <a:srgbClr val="46D9C3"/>
                </a:solidFill>
                <a:latin typeface="Aptos"/>
              </a:defRPr>
            </a:pPr>
            <a:r>
              <a:t>02  |  INITIALIZATION TIMING</a:t>
            </a:r>
          </a:p>
        </p:txBody>
      </p:sp>
      <p:sp>
        <p:nvSpPr>
          <p:cNvPr id="3" name="TextBox 2"/>
          <p:cNvSpPr txBox="1"/>
          <p:nvPr/>
        </p:nvSpPr>
        <p:spPr>
          <a:xfrm>
            <a:off x="621792" y="621792"/>
            <a:ext cx="10927080" cy="658368"/>
          </a:xfrm>
          <a:prstGeom prst="rect">
            <a:avLst/>
          </a:prstGeom>
          <a:noFill/>
        </p:spPr>
        <p:txBody>
          <a:bodyPr wrap="square" lIns="45720" rIns="45720">
            <a:spAutoFit/>
          </a:bodyPr>
          <a:lstStyle/>
          <a:p>
            <a:pPr>
              <a:defRPr sz="2900" b="1">
                <a:solidFill>
                  <a:srgbClr val="EDF2F7"/>
                </a:solidFill>
                <a:latin typeface="Aptos"/>
              </a:defRPr>
            </a:pPr>
            <a:r>
              <a:t>Eager or lazy?</a:t>
            </a:r>
          </a:p>
        </p:txBody>
      </p:sp>
      <p:sp>
        <p:nvSpPr>
          <p:cNvPr id="4" name="Rounded Rectangle 3"/>
          <p:cNvSpPr/>
          <p:nvPr/>
        </p:nvSpPr>
        <p:spPr>
          <a:xfrm>
            <a:off x="621792" y="1481328"/>
            <a:ext cx="5358384" cy="4279392"/>
          </a:xfrm>
          <a:prstGeom prst="roundRect">
            <a:avLst/>
          </a:prstGeom>
          <a:solidFill>
            <a:srgbClr val="1C29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7824" y="1719072"/>
            <a:ext cx="4892040" cy="310896"/>
          </a:xfrm>
          <a:prstGeom prst="rect">
            <a:avLst/>
          </a:prstGeom>
          <a:noFill/>
        </p:spPr>
        <p:txBody>
          <a:bodyPr wrap="square" lIns="45720" rIns="45720">
            <a:spAutoFit/>
          </a:bodyPr>
          <a:lstStyle/>
          <a:p>
            <a:pPr>
              <a:defRPr sz="1300" b="1">
                <a:solidFill>
                  <a:srgbClr val="46D9C3"/>
                </a:solidFill>
                <a:latin typeface="Aptos"/>
              </a:defRPr>
            </a:pPr>
            <a:r>
              <a:t>EAGER</a:t>
            </a:r>
          </a:p>
        </p:txBody>
      </p:sp>
      <p:sp>
        <p:nvSpPr>
          <p:cNvPr id="6" name="TextBox 5"/>
          <p:cNvSpPr txBox="1"/>
          <p:nvPr/>
        </p:nvSpPr>
        <p:spPr>
          <a:xfrm>
            <a:off x="877824" y="2048255"/>
            <a:ext cx="4892040" cy="457200"/>
          </a:xfrm>
          <a:prstGeom prst="rect">
            <a:avLst/>
          </a:prstGeom>
          <a:noFill/>
        </p:spPr>
        <p:txBody>
          <a:bodyPr wrap="square" lIns="45720" rIns="45720">
            <a:spAutoFit/>
          </a:bodyPr>
          <a:lstStyle/>
          <a:p>
            <a:pPr>
              <a:defRPr sz="1700" b="1">
                <a:solidFill>
                  <a:srgbClr val="EDF2F7"/>
                </a:solidFill>
                <a:latin typeface="Aptos"/>
              </a:defRPr>
            </a:pPr>
            <a:r>
              <a:t>Created during class initialization</a:t>
            </a:r>
          </a:p>
        </p:txBody>
      </p:sp>
      <p:sp>
        <p:nvSpPr>
          <p:cNvPr id="7" name="TextBox 6"/>
          <p:cNvSpPr txBox="1"/>
          <p:nvPr/>
        </p:nvSpPr>
        <p:spPr>
          <a:xfrm>
            <a:off x="877824" y="2587752"/>
            <a:ext cx="347472" cy="301752"/>
          </a:xfrm>
          <a:prstGeom prst="rect">
            <a:avLst/>
          </a:prstGeom>
          <a:noFill/>
        </p:spPr>
        <p:txBody>
          <a:bodyPr wrap="square" lIns="45720" rIns="45720">
            <a:spAutoFit/>
          </a:bodyPr>
          <a:lstStyle/>
          <a:p>
            <a:pPr>
              <a:defRPr sz="1100" b="1">
                <a:solidFill>
                  <a:srgbClr val="46D9C3"/>
                </a:solidFill>
                <a:latin typeface="Aptos"/>
              </a:defRPr>
            </a:pPr>
            <a:r>
              <a:t>01</a:t>
            </a:r>
          </a:p>
        </p:txBody>
      </p:sp>
      <p:sp>
        <p:nvSpPr>
          <p:cNvPr id="8" name="TextBox 7"/>
          <p:cNvSpPr txBox="1"/>
          <p:nvPr/>
        </p:nvSpPr>
        <p:spPr>
          <a:xfrm>
            <a:off x="1261872" y="2569464"/>
            <a:ext cx="4462272" cy="475488"/>
          </a:xfrm>
          <a:prstGeom prst="rect">
            <a:avLst/>
          </a:prstGeom>
          <a:noFill/>
        </p:spPr>
        <p:txBody>
          <a:bodyPr wrap="square" lIns="45720" rIns="45720">
            <a:spAutoFit/>
          </a:bodyPr>
          <a:lstStyle/>
          <a:p>
            <a:pPr>
              <a:defRPr sz="1500" b="0">
                <a:solidFill>
                  <a:srgbClr val="EDF2F7"/>
                </a:solidFill>
                <a:latin typeface="Aptos"/>
              </a:defRPr>
            </a:pPr>
            <a:r>
              <a:t>Simple initialization</a:t>
            </a:r>
          </a:p>
        </p:txBody>
      </p:sp>
      <p:sp>
        <p:nvSpPr>
          <p:cNvPr id="9" name="TextBox 8"/>
          <p:cNvSpPr txBox="1"/>
          <p:nvPr/>
        </p:nvSpPr>
        <p:spPr>
          <a:xfrm>
            <a:off x="877824" y="3152140"/>
            <a:ext cx="347472" cy="301752"/>
          </a:xfrm>
          <a:prstGeom prst="rect">
            <a:avLst/>
          </a:prstGeom>
          <a:noFill/>
        </p:spPr>
        <p:txBody>
          <a:bodyPr wrap="square" lIns="45720" rIns="45720">
            <a:spAutoFit/>
          </a:bodyPr>
          <a:lstStyle/>
          <a:p>
            <a:pPr>
              <a:defRPr sz="1100" b="1">
                <a:solidFill>
                  <a:srgbClr val="46D9C3"/>
                </a:solidFill>
                <a:latin typeface="Aptos"/>
              </a:defRPr>
            </a:pPr>
            <a:r>
              <a:t>02</a:t>
            </a:r>
          </a:p>
        </p:txBody>
      </p:sp>
      <p:sp>
        <p:nvSpPr>
          <p:cNvPr id="10" name="TextBox 9"/>
          <p:cNvSpPr txBox="1"/>
          <p:nvPr/>
        </p:nvSpPr>
        <p:spPr>
          <a:xfrm>
            <a:off x="1261872" y="3133852"/>
            <a:ext cx="4462272" cy="475488"/>
          </a:xfrm>
          <a:prstGeom prst="rect">
            <a:avLst/>
          </a:prstGeom>
          <a:noFill/>
        </p:spPr>
        <p:txBody>
          <a:bodyPr wrap="square" lIns="45720" rIns="45720">
            <a:spAutoFit/>
          </a:bodyPr>
          <a:lstStyle/>
          <a:p>
            <a:pPr>
              <a:defRPr sz="1500" b="0">
                <a:solidFill>
                  <a:srgbClr val="EDF2F7"/>
                </a:solidFill>
                <a:latin typeface="Aptos"/>
              </a:defRPr>
            </a:pPr>
            <a:r>
              <a:t>Class initialization safely publishes it</a:t>
            </a:r>
          </a:p>
        </p:txBody>
      </p:sp>
      <p:sp>
        <p:nvSpPr>
          <p:cNvPr id="11" name="TextBox 10"/>
          <p:cNvSpPr txBox="1"/>
          <p:nvPr/>
        </p:nvSpPr>
        <p:spPr>
          <a:xfrm>
            <a:off x="877824" y="3716528"/>
            <a:ext cx="347472" cy="301752"/>
          </a:xfrm>
          <a:prstGeom prst="rect">
            <a:avLst/>
          </a:prstGeom>
          <a:noFill/>
        </p:spPr>
        <p:txBody>
          <a:bodyPr wrap="square" lIns="45720" rIns="45720">
            <a:spAutoFit/>
          </a:bodyPr>
          <a:lstStyle/>
          <a:p>
            <a:pPr>
              <a:defRPr sz="1100" b="1">
                <a:solidFill>
                  <a:srgbClr val="46D9C3"/>
                </a:solidFill>
                <a:latin typeface="Aptos"/>
              </a:defRPr>
            </a:pPr>
            <a:r>
              <a:t>03</a:t>
            </a:r>
          </a:p>
        </p:txBody>
      </p:sp>
      <p:sp>
        <p:nvSpPr>
          <p:cNvPr id="12" name="TextBox 11"/>
          <p:cNvSpPr txBox="1"/>
          <p:nvPr/>
        </p:nvSpPr>
        <p:spPr>
          <a:xfrm>
            <a:off x="1261872" y="3698240"/>
            <a:ext cx="4462272" cy="475488"/>
          </a:xfrm>
          <a:prstGeom prst="rect">
            <a:avLst/>
          </a:prstGeom>
          <a:noFill/>
        </p:spPr>
        <p:txBody>
          <a:bodyPr wrap="square" lIns="45720" rIns="45720">
            <a:spAutoFit/>
          </a:bodyPr>
          <a:lstStyle/>
          <a:p>
            <a:pPr>
              <a:defRPr sz="1500" b="0">
                <a:solidFill>
                  <a:srgbClr val="EDF2F7"/>
                </a:solidFill>
                <a:latin typeface="Aptos"/>
              </a:defRPr>
            </a:pPr>
            <a:r>
              <a:t>May be created even if never used</a:t>
            </a:r>
          </a:p>
        </p:txBody>
      </p:sp>
      <p:sp>
        <p:nvSpPr>
          <p:cNvPr id="13" name="Rounded Rectangle 12"/>
          <p:cNvSpPr/>
          <p:nvPr/>
        </p:nvSpPr>
        <p:spPr>
          <a:xfrm>
            <a:off x="877824" y="4800600"/>
            <a:ext cx="4846320" cy="694944"/>
          </a:xfrm>
          <a:prstGeom prst="roundRect">
            <a:avLst/>
          </a:prstGeom>
          <a:solidFill>
            <a:srgbClr val="23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24128" y="4901184"/>
            <a:ext cx="4553712" cy="512064"/>
          </a:xfrm>
          <a:prstGeom prst="rect">
            <a:avLst/>
          </a:prstGeom>
          <a:noFill/>
        </p:spPr>
        <p:txBody>
          <a:bodyPr wrap="square" lIns="18288" tIns="18288" rIns="18288" bIns="18288">
            <a:spAutoFit/>
          </a:bodyPr>
          <a:lstStyle/>
          <a:p>
            <a:pPr>
              <a:defRPr sz="1200" b="0">
                <a:solidFill>
                  <a:srgbClr val="46D9C3"/>
                </a:solidFill>
                <a:latin typeface="Consolas"/>
              </a:defRPr>
            </a:pPr>
            <a:r>
              <a:t>private static final Service INSTANCE = new Service();</a:t>
            </a:r>
          </a:p>
        </p:txBody>
      </p:sp>
      <p:sp>
        <p:nvSpPr>
          <p:cNvPr id="15" name="Rounded Rectangle 14"/>
          <p:cNvSpPr/>
          <p:nvPr/>
        </p:nvSpPr>
        <p:spPr>
          <a:xfrm>
            <a:off x="6199632" y="1481328"/>
            <a:ext cx="5358384" cy="4279392"/>
          </a:xfrm>
          <a:prstGeom prst="roundRect">
            <a:avLst/>
          </a:prstGeom>
          <a:solidFill>
            <a:srgbClr val="1C29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55664" y="1719072"/>
            <a:ext cx="4892040" cy="310896"/>
          </a:xfrm>
          <a:prstGeom prst="rect">
            <a:avLst/>
          </a:prstGeom>
          <a:noFill/>
        </p:spPr>
        <p:txBody>
          <a:bodyPr wrap="square" lIns="45720" rIns="45720">
            <a:spAutoFit/>
          </a:bodyPr>
          <a:lstStyle/>
          <a:p>
            <a:pPr>
              <a:defRPr sz="1300" b="1">
                <a:solidFill>
                  <a:srgbClr val="46D9C3"/>
                </a:solidFill>
                <a:latin typeface="Aptos"/>
              </a:defRPr>
            </a:pPr>
            <a:r>
              <a:t>LAZY</a:t>
            </a:r>
          </a:p>
        </p:txBody>
      </p:sp>
      <p:sp>
        <p:nvSpPr>
          <p:cNvPr id="17" name="TextBox 16"/>
          <p:cNvSpPr txBox="1"/>
          <p:nvPr/>
        </p:nvSpPr>
        <p:spPr>
          <a:xfrm>
            <a:off x="6455664" y="2048255"/>
            <a:ext cx="4892040" cy="457200"/>
          </a:xfrm>
          <a:prstGeom prst="rect">
            <a:avLst/>
          </a:prstGeom>
          <a:noFill/>
        </p:spPr>
        <p:txBody>
          <a:bodyPr wrap="square" lIns="45720" rIns="45720">
            <a:spAutoFit/>
          </a:bodyPr>
          <a:lstStyle/>
          <a:p>
            <a:pPr>
              <a:defRPr sz="1700" b="1">
                <a:solidFill>
                  <a:srgbClr val="EDF2F7"/>
                </a:solidFill>
                <a:latin typeface="Aptos"/>
              </a:defRPr>
            </a:pPr>
            <a:r>
              <a:t>Created on first access</a:t>
            </a:r>
          </a:p>
        </p:txBody>
      </p:sp>
      <p:sp>
        <p:nvSpPr>
          <p:cNvPr id="18" name="TextBox 17"/>
          <p:cNvSpPr txBox="1"/>
          <p:nvPr/>
        </p:nvSpPr>
        <p:spPr>
          <a:xfrm>
            <a:off x="6455664" y="2587752"/>
            <a:ext cx="347472" cy="301752"/>
          </a:xfrm>
          <a:prstGeom prst="rect">
            <a:avLst/>
          </a:prstGeom>
          <a:noFill/>
        </p:spPr>
        <p:txBody>
          <a:bodyPr wrap="square" lIns="45720" rIns="45720">
            <a:spAutoFit/>
          </a:bodyPr>
          <a:lstStyle/>
          <a:p>
            <a:pPr>
              <a:defRPr sz="1100" b="1">
                <a:solidFill>
                  <a:srgbClr val="46D9C3"/>
                </a:solidFill>
                <a:latin typeface="Aptos"/>
              </a:defRPr>
            </a:pPr>
            <a:r>
              <a:t>01</a:t>
            </a:r>
          </a:p>
        </p:txBody>
      </p:sp>
      <p:sp>
        <p:nvSpPr>
          <p:cNvPr id="19" name="TextBox 18"/>
          <p:cNvSpPr txBox="1"/>
          <p:nvPr/>
        </p:nvSpPr>
        <p:spPr>
          <a:xfrm>
            <a:off x="6839712" y="2569464"/>
            <a:ext cx="4462272" cy="475488"/>
          </a:xfrm>
          <a:prstGeom prst="rect">
            <a:avLst/>
          </a:prstGeom>
          <a:noFill/>
        </p:spPr>
        <p:txBody>
          <a:bodyPr wrap="square" lIns="45720" rIns="45720">
            <a:spAutoFit/>
          </a:bodyPr>
          <a:lstStyle/>
          <a:p>
            <a:pPr>
              <a:defRPr sz="1500" b="0">
                <a:solidFill>
                  <a:srgbClr val="EDF2F7"/>
                </a:solidFill>
                <a:latin typeface="Aptos"/>
              </a:defRPr>
            </a:pPr>
            <a:r>
              <a:t>Defers potentially unnecessary work</a:t>
            </a:r>
          </a:p>
        </p:txBody>
      </p:sp>
      <p:sp>
        <p:nvSpPr>
          <p:cNvPr id="20" name="TextBox 19"/>
          <p:cNvSpPr txBox="1"/>
          <p:nvPr/>
        </p:nvSpPr>
        <p:spPr>
          <a:xfrm>
            <a:off x="6455664" y="3152140"/>
            <a:ext cx="347472" cy="301752"/>
          </a:xfrm>
          <a:prstGeom prst="rect">
            <a:avLst/>
          </a:prstGeom>
          <a:noFill/>
        </p:spPr>
        <p:txBody>
          <a:bodyPr wrap="square" lIns="45720" rIns="45720">
            <a:spAutoFit/>
          </a:bodyPr>
          <a:lstStyle/>
          <a:p>
            <a:pPr>
              <a:defRPr sz="1100" b="1">
                <a:solidFill>
                  <a:srgbClr val="46D9C3"/>
                </a:solidFill>
                <a:latin typeface="Aptos"/>
              </a:defRPr>
            </a:pPr>
            <a:r>
              <a:t>02</a:t>
            </a:r>
          </a:p>
        </p:txBody>
      </p:sp>
      <p:sp>
        <p:nvSpPr>
          <p:cNvPr id="21" name="TextBox 20"/>
          <p:cNvSpPr txBox="1"/>
          <p:nvPr/>
        </p:nvSpPr>
        <p:spPr>
          <a:xfrm>
            <a:off x="6839712" y="3133852"/>
            <a:ext cx="4462272" cy="475488"/>
          </a:xfrm>
          <a:prstGeom prst="rect">
            <a:avLst/>
          </a:prstGeom>
          <a:noFill/>
        </p:spPr>
        <p:txBody>
          <a:bodyPr wrap="square" lIns="45720" rIns="45720">
            <a:spAutoFit/>
          </a:bodyPr>
          <a:lstStyle/>
          <a:p>
            <a:pPr>
              <a:defRPr sz="1500" b="0">
                <a:solidFill>
                  <a:srgbClr val="EDF2F7"/>
                </a:solidFill>
                <a:latin typeface="Aptos"/>
              </a:defRPr>
            </a:pPr>
            <a:r>
              <a:t>Plain check-and-create is not atomic</a:t>
            </a:r>
          </a:p>
        </p:txBody>
      </p:sp>
      <p:sp>
        <p:nvSpPr>
          <p:cNvPr id="22" name="TextBox 21"/>
          <p:cNvSpPr txBox="1"/>
          <p:nvPr/>
        </p:nvSpPr>
        <p:spPr>
          <a:xfrm>
            <a:off x="6455664" y="3716528"/>
            <a:ext cx="347472" cy="301752"/>
          </a:xfrm>
          <a:prstGeom prst="rect">
            <a:avLst/>
          </a:prstGeom>
          <a:noFill/>
        </p:spPr>
        <p:txBody>
          <a:bodyPr wrap="square" lIns="45720" rIns="45720">
            <a:spAutoFit/>
          </a:bodyPr>
          <a:lstStyle/>
          <a:p>
            <a:pPr>
              <a:defRPr sz="1100" b="1">
                <a:solidFill>
                  <a:srgbClr val="46D9C3"/>
                </a:solidFill>
                <a:latin typeface="Aptos"/>
              </a:defRPr>
            </a:pPr>
            <a:r>
              <a:t>03</a:t>
            </a:r>
          </a:p>
        </p:txBody>
      </p:sp>
      <p:sp>
        <p:nvSpPr>
          <p:cNvPr id="23" name="TextBox 22"/>
          <p:cNvSpPr txBox="1"/>
          <p:nvPr/>
        </p:nvSpPr>
        <p:spPr>
          <a:xfrm>
            <a:off x="6839712" y="3698240"/>
            <a:ext cx="4462272" cy="475488"/>
          </a:xfrm>
          <a:prstGeom prst="rect">
            <a:avLst/>
          </a:prstGeom>
          <a:noFill/>
        </p:spPr>
        <p:txBody>
          <a:bodyPr wrap="square" lIns="45720" rIns="45720">
            <a:spAutoFit/>
          </a:bodyPr>
          <a:lstStyle/>
          <a:p>
            <a:pPr>
              <a:defRPr sz="1500" b="0">
                <a:solidFill>
                  <a:srgbClr val="EDF2F7"/>
                </a:solidFill>
                <a:latin typeface="Aptos"/>
              </a:defRPr>
            </a:pPr>
            <a:r>
              <a:t>Concurrent callers can both construct</a:t>
            </a:r>
          </a:p>
        </p:txBody>
      </p:sp>
      <p:sp>
        <p:nvSpPr>
          <p:cNvPr id="24" name="Rounded Rectangle 23"/>
          <p:cNvSpPr/>
          <p:nvPr/>
        </p:nvSpPr>
        <p:spPr>
          <a:xfrm>
            <a:off x="6455664" y="4800600"/>
            <a:ext cx="4846320" cy="694944"/>
          </a:xfrm>
          <a:prstGeom prst="roundRect">
            <a:avLst/>
          </a:prstGeom>
          <a:solidFill>
            <a:srgbClr val="23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01968" y="4901184"/>
            <a:ext cx="4553712" cy="512064"/>
          </a:xfrm>
          <a:prstGeom prst="rect">
            <a:avLst/>
          </a:prstGeom>
          <a:noFill/>
        </p:spPr>
        <p:txBody>
          <a:bodyPr wrap="square" lIns="18288" tIns="18288" rIns="18288" bIns="18288">
            <a:spAutoFit/>
          </a:bodyPr>
          <a:lstStyle/>
          <a:p>
            <a:pPr>
              <a:defRPr sz="1200" b="0">
                <a:solidFill>
                  <a:srgbClr val="46D9C3"/>
                </a:solidFill>
                <a:latin typeface="Consolas"/>
              </a:defRPr>
            </a:pPr>
            <a:r>
              <a:t>if (instance == null) instance = new Service();</a:t>
            </a:r>
          </a:p>
        </p:txBody>
      </p:sp>
      <p:sp>
        <p:nvSpPr>
          <p:cNvPr id="26" name="TextBox 25"/>
          <p:cNvSpPr txBox="1"/>
          <p:nvPr/>
        </p:nvSpPr>
        <p:spPr>
          <a:xfrm>
            <a:off x="658368" y="6007608"/>
            <a:ext cx="10881360" cy="329184"/>
          </a:xfrm>
          <a:prstGeom prst="rect">
            <a:avLst/>
          </a:prstGeom>
          <a:noFill/>
        </p:spPr>
        <p:txBody>
          <a:bodyPr wrap="square" lIns="45720" rIns="45720">
            <a:spAutoFit/>
          </a:bodyPr>
          <a:lstStyle/>
          <a:p>
            <a:pPr>
              <a:defRPr sz="1400" b="1">
                <a:solidFill>
                  <a:srgbClr val="FFD479"/>
                </a:solidFill>
                <a:latin typeface="Aptos"/>
              </a:defRPr>
            </a:pPr>
            <a:r>
              <a:t>Lazy describes when creation happens; it does not guarantee thread safety.</a:t>
            </a:r>
          </a:p>
        </p:txBody>
      </p:sp>
      <p:sp>
        <p:nvSpPr>
          <p:cNvPr id="27" name="TextBox 26"/>
          <p:cNvSpPr txBox="1"/>
          <p:nvPr/>
        </p:nvSpPr>
        <p:spPr>
          <a:xfrm>
            <a:off x="640080" y="6510528"/>
            <a:ext cx="7315200" cy="164592"/>
          </a:xfrm>
          <a:prstGeom prst="rect">
            <a:avLst/>
          </a:prstGeom>
          <a:noFill/>
        </p:spPr>
        <p:txBody>
          <a:bodyPr wrap="square" lIns="45720" rIns="45720">
            <a:spAutoFit/>
          </a:bodyPr>
          <a:lstStyle/>
          <a:p>
            <a:pPr>
              <a:defRPr sz="800" b="0">
                <a:solidFill>
                  <a:srgbClr val="ACBDD2"/>
                </a:solidFill>
                <a:latin typeface="Aptos"/>
              </a:defRPr>
            </a:pPr>
            <a:r>
              <a:t>JAVA SINGLETON  |  DESIGN AND INTERVIEW REVIEW</a:t>
            </a:r>
          </a:p>
        </p:txBody>
      </p:sp>
      <p:sp>
        <p:nvSpPr>
          <p:cNvPr id="28" name="TextBox 27"/>
          <p:cNvSpPr txBox="1"/>
          <p:nvPr/>
        </p:nvSpPr>
        <p:spPr>
          <a:xfrm>
            <a:off x="10789920" y="6492240"/>
            <a:ext cx="731520" cy="182880"/>
          </a:xfrm>
          <a:prstGeom prst="rect">
            <a:avLst/>
          </a:prstGeom>
          <a:noFill/>
        </p:spPr>
        <p:txBody>
          <a:bodyPr wrap="square" lIns="45720" rIns="45720">
            <a:spAutoFit/>
          </a:bodyPr>
          <a:lstStyle/>
          <a:p>
            <a:pPr>
              <a:defRPr sz="900" b="0">
                <a:solidFill>
                  <a:srgbClr val="ACBDD2"/>
                </a:solidFill>
                <a:latin typeface="Aptos"/>
              </a:defRPr>
            </a:pPr>
            <a:r>
              <a:t>03 / 10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01827"/>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10927080" cy="310896"/>
          </a:xfrm>
          <a:prstGeom prst="rect">
            <a:avLst/>
          </a:prstGeom>
          <a:noFill/>
        </p:spPr>
        <p:txBody>
          <a:bodyPr wrap="square" lIns="45720" rIns="45720">
            <a:spAutoFit/>
          </a:bodyPr>
          <a:lstStyle/>
          <a:p>
            <a:pPr>
              <a:defRPr sz="1100" b="1">
                <a:solidFill>
                  <a:srgbClr val="46D9C3"/>
                </a:solidFill>
                <a:latin typeface="Aptos"/>
              </a:defRPr>
            </a:pPr>
            <a:r>
              <a:t>03  |  THREAD-SAFE CREATION</a:t>
            </a:r>
          </a:p>
        </p:txBody>
      </p:sp>
      <p:sp>
        <p:nvSpPr>
          <p:cNvPr id="3" name="TextBox 2"/>
          <p:cNvSpPr txBox="1"/>
          <p:nvPr/>
        </p:nvSpPr>
        <p:spPr>
          <a:xfrm>
            <a:off x="621792" y="621792"/>
            <a:ext cx="10927080" cy="658368"/>
          </a:xfrm>
          <a:prstGeom prst="rect">
            <a:avLst/>
          </a:prstGeom>
          <a:noFill/>
        </p:spPr>
        <p:txBody>
          <a:bodyPr wrap="square" lIns="45720" rIns="45720">
            <a:spAutoFit/>
          </a:bodyPr>
          <a:lstStyle/>
          <a:p>
            <a:pPr>
              <a:defRPr sz="2900" b="1">
                <a:solidFill>
                  <a:srgbClr val="EDF2F7"/>
                </a:solidFill>
                <a:latin typeface="Aptos"/>
              </a:defRPr>
            </a:pPr>
            <a:r>
              <a:t>Single lock and double-checked locking</a:t>
            </a:r>
          </a:p>
        </p:txBody>
      </p:sp>
      <p:sp>
        <p:nvSpPr>
          <p:cNvPr id="4" name="Rounded Rectangle 3"/>
          <p:cNvSpPr/>
          <p:nvPr/>
        </p:nvSpPr>
        <p:spPr>
          <a:xfrm>
            <a:off x="621792" y="1481328"/>
            <a:ext cx="5358384" cy="4279392"/>
          </a:xfrm>
          <a:prstGeom prst="roundRect">
            <a:avLst/>
          </a:prstGeom>
          <a:solidFill>
            <a:srgbClr val="1C29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7824" y="1728216"/>
            <a:ext cx="4846320" cy="320040"/>
          </a:xfrm>
          <a:prstGeom prst="rect">
            <a:avLst/>
          </a:prstGeom>
          <a:noFill/>
        </p:spPr>
        <p:txBody>
          <a:bodyPr wrap="square" lIns="45720" rIns="45720">
            <a:spAutoFit/>
          </a:bodyPr>
          <a:lstStyle/>
          <a:p>
            <a:pPr>
              <a:defRPr sz="1300" b="1">
                <a:solidFill>
                  <a:srgbClr val="46D9C3"/>
                </a:solidFill>
                <a:latin typeface="Aptos"/>
              </a:defRPr>
            </a:pPr>
            <a:r>
              <a:t>SINGLE LOCK</a:t>
            </a:r>
          </a:p>
        </p:txBody>
      </p:sp>
      <p:sp>
        <p:nvSpPr>
          <p:cNvPr id="6" name="Rounded Rectangle 5"/>
          <p:cNvSpPr/>
          <p:nvPr/>
        </p:nvSpPr>
        <p:spPr>
          <a:xfrm>
            <a:off x="877824" y="2212848"/>
            <a:ext cx="4846320" cy="1097280"/>
          </a:xfrm>
          <a:prstGeom prst="roundRect">
            <a:avLst/>
          </a:prstGeom>
          <a:solidFill>
            <a:srgbClr val="23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4128" y="2313432"/>
            <a:ext cx="4553712" cy="914400"/>
          </a:xfrm>
          <a:prstGeom prst="rect">
            <a:avLst/>
          </a:prstGeom>
          <a:noFill/>
        </p:spPr>
        <p:txBody>
          <a:bodyPr wrap="square" lIns="18288" tIns="18288" rIns="18288" bIns="18288">
            <a:spAutoFit/>
          </a:bodyPr>
          <a:lstStyle/>
          <a:p>
            <a:pPr>
              <a:defRPr sz="1400" b="0">
                <a:solidFill>
                  <a:srgbClr val="46D9C3"/>
                </a:solidFill>
                <a:latin typeface="Consolas"/>
              </a:defRPr>
            </a:pPr>
            <a:r>
              <a:t>static synchronized Service getInstance() {</a:t>
            </a:r>
            <a:br/>
            <a:r>
              <a:t>    if (instance == null) instance = new Service();</a:t>
            </a:r>
            <a:br/>
            <a:r>
              <a:t>    return instance;</a:t>
            </a:r>
            <a:br/>
            <a:r>
              <a:t>}</a:t>
            </a:r>
          </a:p>
        </p:txBody>
      </p:sp>
      <p:sp>
        <p:nvSpPr>
          <p:cNvPr id="8" name="TextBox 7"/>
          <p:cNvSpPr txBox="1"/>
          <p:nvPr/>
        </p:nvSpPr>
        <p:spPr>
          <a:xfrm>
            <a:off x="877824" y="3675887"/>
            <a:ext cx="347472" cy="301752"/>
          </a:xfrm>
          <a:prstGeom prst="rect">
            <a:avLst/>
          </a:prstGeom>
          <a:noFill/>
        </p:spPr>
        <p:txBody>
          <a:bodyPr wrap="square" lIns="45720" rIns="45720">
            <a:spAutoFit/>
          </a:bodyPr>
          <a:lstStyle/>
          <a:p>
            <a:pPr>
              <a:defRPr sz="1100" b="1">
                <a:solidFill>
                  <a:srgbClr val="46D9C3"/>
                </a:solidFill>
                <a:latin typeface="Aptos"/>
              </a:defRPr>
            </a:pPr>
            <a:r>
              <a:t>01</a:t>
            </a:r>
          </a:p>
        </p:txBody>
      </p:sp>
      <p:sp>
        <p:nvSpPr>
          <p:cNvPr id="9" name="TextBox 8"/>
          <p:cNvSpPr txBox="1"/>
          <p:nvPr/>
        </p:nvSpPr>
        <p:spPr>
          <a:xfrm>
            <a:off x="1261872" y="3657599"/>
            <a:ext cx="4462272" cy="475488"/>
          </a:xfrm>
          <a:prstGeom prst="rect">
            <a:avLst/>
          </a:prstGeom>
          <a:noFill/>
        </p:spPr>
        <p:txBody>
          <a:bodyPr wrap="square" lIns="45720" rIns="45720">
            <a:spAutoFit/>
          </a:bodyPr>
          <a:lstStyle/>
          <a:p>
            <a:pPr>
              <a:defRPr sz="1500" b="0">
                <a:solidFill>
                  <a:srgbClr val="EDF2F7"/>
                </a:solidFill>
                <a:latin typeface="Aptos"/>
              </a:defRPr>
            </a:pPr>
            <a:r>
              <a:t>The class monitor protects check and construction.</a:t>
            </a:r>
          </a:p>
        </p:txBody>
      </p:sp>
      <p:sp>
        <p:nvSpPr>
          <p:cNvPr id="10" name="TextBox 9"/>
          <p:cNvSpPr txBox="1"/>
          <p:nvPr/>
        </p:nvSpPr>
        <p:spPr>
          <a:xfrm>
            <a:off x="877824" y="4265675"/>
            <a:ext cx="347472" cy="301752"/>
          </a:xfrm>
          <a:prstGeom prst="rect">
            <a:avLst/>
          </a:prstGeom>
          <a:noFill/>
        </p:spPr>
        <p:txBody>
          <a:bodyPr wrap="square" lIns="45720" rIns="45720">
            <a:spAutoFit/>
          </a:bodyPr>
          <a:lstStyle/>
          <a:p>
            <a:pPr>
              <a:defRPr sz="1100" b="1">
                <a:solidFill>
                  <a:srgbClr val="46D9C3"/>
                </a:solidFill>
                <a:latin typeface="Aptos"/>
              </a:defRPr>
            </a:pPr>
            <a:r>
              <a:t>02</a:t>
            </a:r>
          </a:p>
        </p:txBody>
      </p:sp>
      <p:sp>
        <p:nvSpPr>
          <p:cNvPr id="11" name="TextBox 10"/>
          <p:cNvSpPr txBox="1"/>
          <p:nvPr/>
        </p:nvSpPr>
        <p:spPr>
          <a:xfrm>
            <a:off x="1261872" y="4247388"/>
            <a:ext cx="4462272" cy="475488"/>
          </a:xfrm>
          <a:prstGeom prst="rect">
            <a:avLst/>
          </a:prstGeom>
          <a:noFill/>
        </p:spPr>
        <p:txBody>
          <a:bodyPr wrap="square" lIns="45720" rIns="45720">
            <a:spAutoFit/>
          </a:bodyPr>
          <a:lstStyle/>
          <a:p>
            <a:pPr>
              <a:defRPr sz="1500" b="0">
                <a:solidFill>
                  <a:srgbClr val="EDF2F7"/>
                </a:solidFill>
                <a:latin typeface="Aptos"/>
              </a:defRPr>
            </a:pPr>
            <a:r>
              <a:t>Every call acquires the monitor.</a:t>
            </a:r>
          </a:p>
        </p:txBody>
      </p:sp>
      <p:sp>
        <p:nvSpPr>
          <p:cNvPr id="12" name="Rounded Rectangle 11"/>
          <p:cNvSpPr/>
          <p:nvPr/>
        </p:nvSpPr>
        <p:spPr>
          <a:xfrm>
            <a:off x="6199632" y="1481328"/>
            <a:ext cx="5358384" cy="4279392"/>
          </a:xfrm>
          <a:prstGeom prst="roundRect">
            <a:avLst/>
          </a:prstGeom>
          <a:solidFill>
            <a:srgbClr val="1C29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55664" y="1728216"/>
            <a:ext cx="4846320" cy="320040"/>
          </a:xfrm>
          <a:prstGeom prst="rect">
            <a:avLst/>
          </a:prstGeom>
          <a:noFill/>
        </p:spPr>
        <p:txBody>
          <a:bodyPr wrap="square" lIns="45720" rIns="45720">
            <a:spAutoFit/>
          </a:bodyPr>
          <a:lstStyle/>
          <a:p>
            <a:pPr>
              <a:defRPr sz="1300" b="1">
                <a:solidFill>
                  <a:srgbClr val="46D9C3"/>
                </a:solidFill>
                <a:latin typeface="Aptos"/>
              </a:defRPr>
            </a:pPr>
            <a:r>
              <a:t>DOUBLE-CHECKED LOCKING</a:t>
            </a:r>
          </a:p>
        </p:txBody>
      </p:sp>
      <p:sp>
        <p:nvSpPr>
          <p:cNvPr id="14" name="Rounded Rectangle 13"/>
          <p:cNvSpPr/>
          <p:nvPr/>
        </p:nvSpPr>
        <p:spPr>
          <a:xfrm>
            <a:off x="6455664" y="2212848"/>
            <a:ext cx="4846320" cy="1920240"/>
          </a:xfrm>
          <a:prstGeom prst="roundRect">
            <a:avLst/>
          </a:prstGeom>
          <a:solidFill>
            <a:srgbClr val="23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601968" y="2313432"/>
            <a:ext cx="4553712" cy="1737360"/>
          </a:xfrm>
          <a:prstGeom prst="rect">
            <a:avLst/>
          </a:prstGeom>
          <a:noFill/>
        </p:spPr>
        <p:txBody>
          <a:bodyPr wrap="square" lIns="18288" tIns="18288" rIns="18288" bIns="18288">
            <a:spAutoFit/>
          </a:bodyPr>
          <a:lstStyle/>
          <a:p>
            <a:pPr>
              <a:defRPr sz="1200" b="0">
                <a:solidFill>
                  <a:srgbClr val="46D9C3"/>
                </a:solidFill>
                <a:latin typeface="Consolas"/>
              </a:defRPr>
            </a:pPr>
            <a:r>
              <a:t>private static volatile Service instance;</a:t>
            </a:r>
            <a:br/>
            <a:r>
              <a:t>if (instance == null) {</a:t>
            </a:r>
            <a:br/>
            <a:r>
              <a:t>    synchronized (Service.class) {</a:t>
            </a:r>
            <a:br/>
            <a:r>
              <a:t>        if (instance == null) instance = new Service();</a:t>
            </a:r>
            <a:br/>
            <a:r>
              <a:t>    }</a:t>
            </a:r>
            <a:br/>
            <a:r>
              <a:t>}</a:t>
            </a:r>
          </a:p>
        </p:txBody>
      </p:sp>
      <p:sp>
        <p:nvSpPr>
          <p:cNvPr id="16" name="TextBox 15"/>
          <p:cNvSpPr txBox="1"/>
          <p:nvPr/>
        </p:nvSpPr>
        <p:spPr>
          <a:xfrm>
            <a:off x="6455664" y="4498848"/>
            <a:ext cx="347472" cy="301752"/>
          </a:xfrm>
          <a:prstGeom prst="rect">
            <a:avLst/>
          </a:prstGeom>
          <a:noFill/>
        </p:spPr>
        <p:txBody>
          <a:bodyPr wrap="square" lIns="45720" rIns="45720">
            <a:spAutoFit/>
          </a:bodyPr>
          <a:lstStyle/>
          <a:p>
            <a:pPr>
              <a:defRPr sz="1100" b="1">
                <a:solidFill>
                  <a:srgbClr val="46D9C3"/>
                </a:solidFill>
                <a:latin typeface="Aptos"/>
              </a:defRPr>
            </a:pPr>
            <a:r>
              <a:t>01</a:t>
            </a:r>
          </a:p>
        </p:txBody>
      </p:sp>
      <p:sp>
        <p:nvSpPr>
          <p:cNvPr id="17" name="TextBox 16"/>
          <p:cNvSpPr txBox="1"/>
          <p:nvPr/>
        </p:nvSpPr>
        <p:spPr>
          <a:xfrm>
            <a:off x="6839712" y="4480560"/>
            <a:ext cx="4462272" cy="475488"/>
          </a:xfrm>
          <a:prstGeom prst="rect">
            <a:avLst/>
          </a:prstGeom>
          <a:noFill/>
        </p:spPr>
        <p:txBody>
          <a:bodyPr wrap="square" lIns="45720" rIns="45720">
            <a:spAutoFit/>
          </a:bodyPr>
          <a:lstStyle/>
          <a:p>
            <a:pPr>
              <a:defRPr sz="1500" b="0">
                <a:solidFill>
                  <a:srgbClr val="EDF2F7"/>
                </a:solidFill>
                <a:latin typeface="Aptos"/>
              </a:defRPr>
            </a:pPr>
            <a:r>
              <a:t>The inner check prevents duplicate construction.</a:t>
            </a:r>
          </a:p>
        </p:txBody>
      </p:sp>
      <p:sp>
        <p:nvSpPr>
          <p:cNvPr id="18" name="TextBox 17"/>
          <p:cNvSpPr txBox="1"/>
          <p:nvPr/>
        </p:nvSpPr>
        <p:spPr>
          <a:xfrm>
            <a:off x="6455664" y="5088636"/>
            <a:ext cx="347472" cy="301752"/>
          </a:xfrm>
          <a:prstGeom prst="rect">
            <a:avLst/>
          </a:prstGeom>
          <a:noFill/>
        </p:spPr>
        <p:txBody>
          <a:bodyPr wrap="square" lIns="45720" rIns="45720">
            <a:spAutoFit/>
          </a:bodyPr>
          <a:lstStyle/>
          <a:p>
            <a:pPr>
              <a:defRPr sz="1100" b="1">
                <a:solidFill>
                  <a:srgbClr val="46D9C3"/>
                </a:solidFill>
                <a:latin typeface="Aptos"/>
              </a:defRPr>
            </a:pPr>
            <a:r>
              <a:t>02</a:t>
            </a:r>
          </a:p>
        </p:txBody>
      </p:sp>
      <p:sp>
        <p:nvSpPr>
          <p:cNvPr id="19" name="TextBox 18"/>
          <p:cNvSpPr txBox="1"/>
          <p:nvPr/>
        </p:nvSpPr>
        <p:spPr>
          <a:xfrm>
            <a:off x="6839712" y="5070348"/>
            <a:ext cx="4462272" cy="475488"/>
          </a:xfrm>
          <a:prstGeom prst="rect">
            <a:avLst/>
          </a:prstGeom>
          <a:noFill/>
        </p:spPr>
        <p:txBody>
          <a:bodyPr wrap="square" lIns="45720" rIns="45720">
            <a:spAutoFit/>
          </a:bodyPr>
          <a:lstStyle/>
          <a:p>
            <a:pPr>
              <a:defRPr sz="1500" b="0">
                <a:solidFill>
                  <a:srgbClr val="EDF2F7"/>
                </a:solidFill>
                <a:latin typeface="Aptos"/>
              </a:defRPr>
            </a:pPr>
            <a:r>
              <a:t>volatile safely publishes the constructed reference.</a:t>
            </a:r>
          </a:p>
        </p:txBody>
      </p:sp>
      <p:sp>
        <p:nvSpPr>
          <p:cNvPr id="20" name="TextBox 19"/>
          <p:cNvSpPr txBox="1"/>
          <p:nvPr/>
        </p:nvSpPr>
        <p:spPr>
          <a:xfrm>
            <a:off x="658368" y="6007608"/>
            <a:ext cx="10881360" cy="329184"/>
          </a:xfrm>
          <a:prstGeom prst="rect">
            <a:avLst/>
          </a:prstGeom>
          <a:noFill/>
        </p:spPr>
        <p:txBody>
          <a:bodyPr wrap="square" lIns="45720" rIns="45720">
            <a:spAutoFit/>
          </a:bodyPr>
          <a:lstStyle/>
          <a:p>
            <a:pPr>
              <a:defRPr sz="1400" b="1">
                <a:solidFill>
                  <a:srgbClr val="FFD479"/>
                </a:solidFill>
                <a:latin typeface="Aptos"/>
              </a:defRPr>
            </a:pPr>
            <a:r>
              <a:t>DCL uses one monitor; volatile and the inner check solve different problems.</a:t>
            </a:r>
          </a:p>
        </p:txBody>
      </p:sp>
      <p:sp>
        <p:nvSpPr>
          <p:cNvPr id="21" name="TextBox 20"/>
          <p:cNvSpPr txBox="1"/>
          <p:nvPr/>
        </p:nvSpPr>
        <p:spPr>
          <a:xfrm>
            <a:off x="640080" y="6510528"/>
            <a:ext cx="7315200" cy="164592"/>
          </a:xfrm>
          <a:prstGeom prst="rect">
            <a:avLst/>
          </a:prstGeom>
          <a:noFill/>
        </p:spPr>
        <p:txBody>
          <a:bodyPr wrap="square" lIns="45720" rIns="45720">
            <a:spAutoFit/>
          </a:bodyPr>
          <a:lstStyle/>
          <a:p>
            <a:pPr>
              <a:defRPr sz="800" b="0">
                <a:solidFill>
                  <a:srgbClr val="ACBDD2"/>
                </a:solidFill>
                <a:latin typeface="Aptos"/>
              </a:defRPr>
            </a:pPr>
            <a:r>
              <a:t>JAVA SINGLETON  |  DESIGN AND INTERVIEW REVIEW</a:t>
            </a:r>
          </a:p>
        </p:txBody>
      </p:sp>
      <p:sp>
        <p:nvSpPr>
          <p:cNvPr id="22" name="TextBox 21"/>
          <p:cNvSpPr txBox="1"/>
          <p:nvPr/>
        </p:nvSpPr>
        <p:spPr>
          <a:xfrm>
            <a:off x="10789920" y="6492240"/>
            <a:ext cx="731520" cy="182880"/>
          </a:xfrm>
          <a:prstGeom prst="rect">
            <a:avLst/>
          </a:prstGeom>
          <a:noFill/>
        </p:spPr>
        <p:txBody>
          <a:bodyPr wrap="square" lIns="45720" rIns="45720">
            <a:spAutoFit/>
          </a:bodyPr>
          <a:lstStyle/>
          <a:p>
            <a:pPr>
              <a:defRPr sz="900" b="0">
                <a:solidFill>
                  <a:srgbClr val="ACBDD2"/>
                </a:solidFill>
                <a:latin typeface="Aptos"/>
              </a:defRPr>
            </a:pPr>
            <a:r>
              <a:t>04 / 10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01827"/>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10927080" cy="310896"/>
          </a:xfrm>
          <a:prstGeom prst="rect">
            <a:avLst/>
          </a:prstGeom>
          <a:noFill/>
        </p:spPr>
        <p:txBody>
          <a:bodyPr wrap="square" lIns="45720" rIns="45720">
            <a:spAutoFit/>
          </a:bodyPr>
          <a:lstStyle/>
          <a:p>
            <a:pPr>
              <a:defRPr sz="1100" b="1">
                <a:solidFill>
                  <a:srgbClr val="46D9C3"/>
                </a:solidFill>
                <a:latin typeface="Aptos"/>
              </a:defRPr>
            </a:pPr>
            <a:r>
              <a:t>04  |  IMPLEMENTATION TRADEOFFS</a:t>
            </a:r>
          </a:p>
        </p:txBody>
      </p:sp>
      <p:sp>
        <p:nvSpPr>
          <p:cNvPr id="3" name="TextBox 2"/>
          <p:cNvSpPr txBox="1"/>
          <p:nvPr/>
        </p:nvSpPr>
        <p:spPr>
          <a:xfrm>
            <a:off x="621792" y="621792"/>
            <a:ext cx="10927080" cy="658368"/>
          </a:xfrm>
          <a:prstGeom prst="rect">
            <a:avLst/>
          </a:prstGeom>
          <a:noFill/>
        </p:spPr>
        <p:txBody>
          <a:bodyPr wrap="square" lIns="45720" rIns="45720">
            <a:spAutoFit/>
          </a:bodyPr>
          <a:lstStyle/>
          <a:p>
            <a:pPr>
              <a:defRPr sz="2900" b="1">
                <a:solidFill>
                  <a:srgbClr val="EDF2F7"/>
                </a:solidFill>
                <a:latin typeface="Aptos"/>
              </a:defRPr>
            </a:pPr>
            <a:r>
              <a:t>Compare the creation strategies</a:t>
            </a:r>
          </a:p>
        </p:txBody>
      </p:sp>
      <p:sp>
        <p:nvSpPr>
          <p:cNvPr id="4" name="Rectangle 3"/>
          <p:cNvSpPr/>
          <p:nvPr/>
        </p:nvSpPr>
        <p:spPr>
          <a:xfrm>
            <a:off x="621792" y="1481328"/>
            <a:ext cx="2240280" cy="545591"/>
          </a:xfrm>
          <a:prstGeom prst="rect">
            <a:avLst/>
          </a:prstGeom>
          <a:solidFill>
            <a:srgbClr val="23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22376" y="1545336"/>
            <a:ext cx="2039112" cy="472439"/>
          </a:xfrm>
          <a:prstGeom prst="rect">
            <a:avLst/>
          </a:prstGeom>
          <a:noFill/>
        </p:spPr>
        <p:txBody>
          <a:bodyPr wrap="square" lIns="9144" tIns="9144" rIns="9144" bIns="9144">
            <a:spAutoFit/>
          </a:bodyPr>
          <a:lstStyle/>
          <a:p>
            <a:pPr>
              <a:defRPr sz="1200" b="1">
                <a:solidFill>
                  <a:srgbClr val="46D9C3"/>
                </a:solidFill>
                <a:latin typeface="Aptos"/>
              </a:defRPr>
            </a:pPr>
            <a:r>
              <a:t>Approach</a:t>
            </a:r>
          </a:p>
        </p:txBody>
      </p:sp>
      <p:sp>
        <p:nvSpPr>
          <p:cNvPr id="6" name="Rectangle 5"/>
          <p:cNvSpPr/>
          <p:nvPr/>
        </p:nvSpPr>
        <p:spPr>
          <a:xfrm>
            <a:off x="2862072" y="1481328"/>
            <a:ext cx="2560320" cy="545591"/>
          </a:xfrm>
          <a:prstGeom prst="rect">
            <a:avLst/>
          </a:prstGeom>
          <a:solidFill>
            <a:srgbClr val="23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962656" y="1545336"/>
            <a:ext cx="2359151" cy="472439"/>
          </a:xfrm>
          <a:prstGeom prst="rect">
            <a:avLst/>
          </a:prstGeom>
          <a:noFill/>
        </p:spPr>
        <p:txBody>
          <a:bodyPr wrap="square" lIns="9144" tIns="9144" rIns="9144" bIns="9144">
            <a:spAutoFit/>
          </a:bodyPr>
          <a:lstStyle/>
          <a:p>
            <a:pPr>
              <a:defRPr sz="1200" b="1">
                <a:solidFill>
                  <a:srgbClr val="46D9C3"/>
                </a:solidFill>
                <a:latin typeface="Aptos"/>
              </a:defRPr>
            </a:pPr>
            <a:r>
              <a:t>Creation</a:t>
            </a:r>
          </a:p>
        </p:txBody>
      </p:sp>
      <p:sp>
        <p:nvSpPr>
          <p:cNvPr id="8" name="Rectangle 7"/>
          <p:cNvSpPr/>
          <p:nvPr/>
        </p:nvSpPr>
        <p:spPr>
          <a:xfrm>
            <a:off x="5422392" y="1481328"/>
            <a:ext cx="1828800" cy="545591"/>
          </a:xfrm>
          <a:prstGeom prst="rect">
            <a:avLst/>
          </a:prstGeom>
          <a:solidFill>
            <a:srgbClr val="23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522976" y="1545336"/>
            <a:ext cx="1627632" cy="472439"/>
          </a:xfrm>
          <a:prstGeom prst="rect">
            <a:avLst/>
          </a:prstGeom>
          <a:noFill/>
        </p:spPr>
        <p:txBody>
          <a:bodyPr wrap="square" lIns="9144" tIns="9144" rIns="9144" bIns="9144">
            <a:spAutoFit/>
          </a:bodyPr>
          <a:lstStyle/>
          <a:p>
            <a:pPr>
              <a:defRPr sz="1200" b="1">
                <a:solidFill>
                  <a:srgbClr val="46D9C3"/>
                </a:solidFill>
                <a:latin typeface="Aptos"/>
              </a:defRPr>
            </a:pPr>
            <a:r>
              <a:t>Safe creation</a:t>
            </a:r>
          </a:p>
        </p:txBody>
      </p:sp>
      <p:sp>
        <p:nvSpPr>
          <p:cNvPr id="10" name="Rectangle 9"/>
          <p:cNvSpPr/>
          <p:nvPr/>
        </p:nvSpPr>
        <p:spPr>
          <a:xfrm>
            <a:off x="7251192" y="1481328"/>
            <a:ext cx="4306824" cy="545591"/>
          </a:xfrm>
          <a:prstGeom prst="rect">
            <a:avLst/>
          </a:prstGeom>
          <a:solidFill>
            <a:srgbClr val="23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51775" y="1545336"/>
            <a:ext cx="4105656" cy="472439"/>
          </a:xfrm>
          <a:prstGeom prst="rect">
            <a:avLst/>
          </a:prstGeom>
          <a:noFill/>
        </p:spPr>
        <p:txBody>
          <a:bodyPr wrap="square" lIns="9144" tIns="9144" rIns="9144" bIns="9144">
            <a:spAutoFit/>
          </a:bodyPr>
          <a:lstStyle/>
          <a:p>
            <a:pPr>
              <a:defRPr sz="1200" b="1">
                <a:solidFill>
                  <a:srgbClr val="46D9C3"/>
                </a:solidFill>
                <a:latin typeface="Aptos"/>
              </a:defRPr>
            </a:pPr>
            <a:r>
              <a:t>Tradeoff</a:t>
            </a:r>
          </a:p>
        </p:txBody>
      </p:sp>
      <p:sp>
        <p:nvSpPr>
          <p:cNvPr id="12" name="Rectangle 11"/>
          <p:cNvSpPr/>
          <p:nvPr/>
        </p:nvSpPr>
        <p:spPr>
          <a:xfrm>
            <a:off x="621792" y="2063496"/>
            <a:ext cx="2240280" cy="545591"/>
          </a:xfrm>
          <a:prstGeom prst="rect">
            <a:avLst/>
          </a:prstGeom>
          <a:solidFill>
            <a:srgbClr val="1C29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22376" y="2127504"/>
            <a:ext cx="2039112" cy="472439"/>
          </a:xfrm>
          <a:prstGeom prst="rect">
            <a:avLst/>
          </a:prstGeom>
          <a:noFill/>
        </p:spPr>
        <p:txBody>
          <a:bodyPr wrap="square" lIns="9144" tIns="9144" rIns="9144" bIns="9144">
            <a:spAutoFit/>
          </a:bodyPr>
          <a:lstStyle/>
          <a:p>
            <a:pPr>
              <a:defRPr sz="1300" b="0">
                <a:solidFill>
                  <a:srgbClr val="EDF2F7"/>
                </a:solidFill>
                <a:latin typeface="Aptos"/>
              </a:defRPr>
            </a:pPr>
            <a:r>
              <a:t>Eager</a:t>
            </a:r>
          </a:p>
        </p:txBody>
      </p:sp>
      <p:sp>
        <p:nvSpPr>
          <p:cNvPr id="14" name="Rectangle 13"/>
          <p:cNvSpPr/>
          <p:nvPr/>
        </p:nvSpPr>
        <p:spPr>
          <a:xfrm>
            <a:off x="2862072" y="2063496"/>
            <a:ext cx="2560320" cy="545591"/>
          </a:xfrm>
          <a:prstGeom prst="rect">
            <a:avLst/>
          </a:prstGeom>
          <a:solidFill>
            <a:srgbClr val="1C29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962656" y="2127504"/>
            <a:ext cx="2359151" cy="472439"/>
          </a:xfrm>
          <a:prstGeom prst="rect">
            <a:avLst/>
          </a:prstGeom>
          <a:noFill/>
        </p:spPr>
        <p:txBody>
          <a:bodyPr wrap="square" lIns="9144" tIns="9144" rIns="9144" bIns="9144">
            <a:spAutoFit/>
          </a:bodyPr>
          <a:lstStyle/>
          <a:p>
            <a:pPr>
              <a:defRPr sz="1300" b="0">
                <a:solidFill>
                  <a:srgbClr val="EDF2F7"/>
                </a:solidFill>
                <a:latin typeface="Aptos"/>
              </a:defRPr>
            </a:pPr>
            <a:r>
              <a:t>Class initialization</a:t>
            </a:r>
          </a:p>
        </p:txBody>
      </p:sp>
      <p:sp>
        <p:nvSpPr>
          <p:cNvPr id="16" name="Rectangle 15"/>
          <p:cNvSpPr/>
          <p:nvPr/>
        </p:nvSpPr>
        <p:spPr>
          <a:xfrm>
            <a:off x="5422392" y="2063496"/>
            <a:ext cx="1828800" cy="545591"/>
          </a:xfrm>
          <a:prstGeom prst="rect">
            <a:avLst/>
          </a:prstGeom>
          <a:solidFill>
            <a:srgbClr val="1C29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522976" y="2127504"/>
            <a:ext cx="1627632" cy="472439"/>
          </a:xfrm>
          <a:prstGeom prst="rect">
            <a:avLst/>
          </a:prstGeom>
          <a:noFill/>
        </p:spPr>
        <p:txBody>
          <a:bodyPr wrap="square" lIns="9144" tIns="9144" rIns="9144" bIns="9144">
            <a:spAutoFit/>
          </a:bodyPr>
          <a:lstStyle/>
          <a:p>
            <a:pPr>
              <a:defRPr sz="1300" b="0">
                <a:solidFill>
                  <a:srgbClr val="EDF2F7"/>
                </a:solidFill>
                <a:latin typeface="Aptos"/>
              </a:defRPr>
            </a:pPr>
            <a:r>
              <a:t>Yes</a:t>
            </a:r>
          </a:p>
        </p:txBody>
      </p:sp>
      <p:sp>
        <p:nvSpPr>
          <p:cNvPr id="18" name="Rectangle 17"/>
          <p:cNvSpPr/>
          <p:nvPr/>
        </p:nvSpPr>
        <p:spPr>
          <a:xfrm>
            <a:off x="7251192" y="2063496"/>
            <a:ext cx="4306824" cy="545591"/>
          </a:xfrm>
          <a:prstGeom prst="rect">
            <a:avLst/>
          </a:prstGeom>
          <a:solidFill>
            <a:srgbClr val="1C29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51775" y="2127504"/>
            <a:ext cx="4105656" cy="472439"/>
          </a:xfrm>
          <a:prstGeom prst="rect">
            <a:avLst/>
          </a:prstGeom>
          <a:noFill/>
        </p:spPr>
        <p:txBody>
          <a:bodyPr wrap="square" lIns="9144" tIns="9144" rIns="9144" bIns="9144">
            <a:spAutoFit/>
          </a:bodyPr>
          <a:lstStyle/>
          <a:p>
            <a:pPr>
              <a:defRPr sz="1300" b="0">
                <a:solidFill>
                  <a:srgbClr val="EDF2F7"/>
                </a:solidFill>
                <a:latin typeface="Aptos"/>
              </a:defRPr>
            </a:pPr>
            <a:r>
              <a:t>May be unused</a:t>
            </a:r>
          </a:p>
        </p:txBody>
      </p:sp>
      <p:sp>
        <p:nvSpPr>
          <p:cNvPr id="20" name="Rectangle 19"/>
          <p:cNvSpPr/>
          <p:nvPr/>
        </p:nvSpPr>
        <p:spPr>
          <a:xfrm>
            <a:off x="621792" y="2645664"/>
            <a:ext cx="2240280" cy="545591"/>
          </a:xfrm>
          <a:prstGeom prst="rect">
            <a:avLst/>
          </a:prstGeom>
          <a:solidFill>
            <a:srgbClr val="10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2376" y="2709672"/>
            <a:ext cx="2039112" cy="472439"/>
          </a:xfrm>
          <a:prstGeom prst="rect">
            <a:avLst/>
          </a:prstGeom>
          <a:noFill/>
        </p:spPr>
        <p:txBody>
          <a:bodyPr wrap="square" lIns="9144" tIns="9144" rIns="9144" bIns="9144">
            <a:spAutoFit/>
          </a:bodyPr>
          <a:lstStyle/>
          <a:p>
            <a:pPr>
              <a:defRPr sz="1300" b="0">
                <a:solidFill>
                  <a:srgbClr val="EDF2F7"/>
                </a:solidFill>
                <a:latin typeface="Aptos"/>
              </a:defRPr>
            </a:pPr>
            <a:r>
              <a:t>Plain lazy</a:t>
            </a:r>
          </a:p>
        </p:txBody>
      </p:sp>
      <p:sp>
        <p:nvSpPr>
          <p:cNvPr id="22" name="Rectangle 21"/>
          <p:cNvSpPr/>
          <p:nvPr/>
        </p:nvSpPr>
        <p:spPr>
          <a:xfrm>
            <a:off x="2862072" y="2645664"/>
            <a:ext cx="2560320" cy="545591"/>
          </a:xfrm>
          <a:prstGeom prst="rect">
            <a:avLst/>
          </a:prstGeom>
          <a:solidFill>
            <a:srgbClr val="10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962656" y="2709672"/>
            <a:ext cx="2359151" cy="472439"/>
          </a:xfrm>
          <a:prstGeom prst="rect">
            <a:avLst/>
          </a:prstGeom>
          <a:noFill/>
        </p:spPr>
        <p:txBody>
          <a:bodyPr wrap="square" lIns="9144" tIns="9144" rIns="9144" bIns="9144">
            <a:spAutoFit/>
          </a:bodyPr>
          <a:lstStyle/>
          <a:p>
            <a:pPr>
              <a:defRPr sz="1300" b="0">
                <a:solidFill>
                  <a:srgbClr val="EDF2F7"/>
                </a:solidFill>
                <a:latin typeface="Aptos"/>
              </a:defRPr>
            </a:pPr>
            <a:r>
              <a:t>First access</a:t>
            </a:r>
          </a:p>
        </p:txBody>
      </p:sp>
      <p:sp>
        <p:nvSpPr>
          <p:cNvPr id="24" name="Rectangle 23"/>
          <p:cNvSpPr/>
          <p:nvPr/>
        </p:nvSpPr>
        <p:spPr>
          <a:xfrm>
            <a:off x="5422392" y="2645664"/>
            <a:ext cx="1828800" cy="545591"/>
          </a:xfrm>
          <a:prstGeom prst="rect">
            <a:avLst/>
          </a:prstGeom>
          <a:solidFill>
            <a:srgbClr val="10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522976" y="2709672"/>
            <a:ext cx="1627632" cy="472439"/>
          </a:xfrm>
          <a:prstGeom prst="rect">
            <a:avLst/>
          </a:prstGeom>
          <a:noFill/>
        </p:spPr>
        <p:txBody>
          <a:bodyPr wrap="square" lIns="9144" tIns="9144" rIns="9144" bIns="9144">
            <a:spAutoFit/>
          </a:bodyPr>
          <a:lstStyle/>
          <a:p>
            <a:pPr>
              <a:defRPr sz="1300" b="0">
                <a:solidFill>
                  <a:srgbClr val="EDF2F7"/>
                </a:solidFill>
                <a:latin typeface="Aptos"/>
              </a:defRPr>
            </a:pPr>
            <a:r>
              <a:t>No</a:t>
            </a:r>
          </a:p>
        </p:txBody>
      </p:sp>
      <p:sp>
        <p:nvSpPr>
          <p:cNvPr id="26" name="Rectangle 25"/>
          <p:cNvSpPr/>
          <p:nvPr/>
        </p:nvSpPr>
        <p:spPr>
          <a:xfrm>
            <a:off x="7251192" y="2645664"/>
            <a:ext cx="4306824" cy="545591"/>
          </a:xfrm>
          <a:prstGeom prst="rect">
            <a:avLst/>
          </a:prstGeom>
          <a:solidFill>
            <a:srgbClr val="10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351775" y="2709672"/>
            <a:ext cx="4105656" cy="472439"/>
          </a:xfrm>
          <a:prstGeom prst="rect">
            <a:avLst/>
          </a:prstGeom>
          <a:noFill/>
        </p:spPr>
        <p:txBody>
          <a:bodyPr wrap="square" lIns="9144" tIns="9144" rIns="9144" bIns="9144">
            <a:spAutoFit/>
          </a:bodyPr>
          <a:lstStyle/>
          <a:p>
            <a:pPr>
              <a:defRPr sz="1300" b="0">
                <a:solidFill>
                  <a:srgbClr val="EDF2F7"/>
                </a:solidFill>
                <a:latin typeface="Aptos"/>
              </a:defRPr>
            </a:pPr>
            <a:r>
              <a:t>Racy</a:t>
            </a:r>
          </a:p>
        </p:txBody>
      </p:sp>
      <p:sp>
        <p:nvSpPr>
          <p:cNvPr id="28" name="Rectangle 27"/>
          <p:cNvSpPr/>
          <p:nvPr/>
        </p:nvSpPr>
        <p:spPr>
          <a:xfrm>
            <a:off x="621792" y="3227832"/>
            <a:ext cx="2240280" cy="545591"/>
          </a:xfrm>
          <a:prstGeom prst="rect">
            <a:avLst/>
          </a:prstGeom>
          <a:solidFill>
            <a:srgbClr val="1C29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22376" y="3291839"/>
            <a:ext cx="2039112" cy="472439"/>
          </a:xfrm>
          <a:prstGeom prst="rect">
            <a:avLst/>
          </a:prstGeom>
          <a:noFill/>
        </p:spPr>
        <p:txBody>
          <a:bodyPr wrap="square" lIns="9144" tIns="9144" rIns="9144" bIns="9144">
            <a:spAutoFit/>
          </a:bodyPr>
          <a:lstStyle/>
          <a:p>
            <a:pPr>
              <a:defRPr sz="1300" b="0">
                <a:solidFill>
                  <a:srgbClr val="EDF2F7"/>
                </a:solidFill>
                <a:latin typeface="Aptos"/>
              </a:defRPr>
            </a:pPr>
            <a:r>
              <a:t>Synchronized</a:t>
            </a:r>
          </a:p>
        </p:txBody>
      </p:sp>
      <p:sp>
        <p:nvSpPr>
          <p:cNvPr id="30" name="Rectangle 29"/>
          <p:cNvSpPr/>
          <p:nvPr/>
        </p:nvSpPr>
        <p:spPr>
          <a:xfrm>
            <a:off x="2862072" y="3227832"/>
            <a:ext cx="2560320" cy="545591"/>
          </a:xfrm>
          <a:prstGeom prst="rect">
            <a:avLst/>
          </a:prstGeom>
          <a:solidFill>
            <a:srgbClr val="1C29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962656" y="3291839"/>
            <a:ext cx="2359151" cy="472439"/>
          </a:xfrm>
          <a:prstGeom prst="rect">
            <a:avLst/>
          </a:prstGeom>
          <a:noFill/>
        </p:spPr>
        <p:txBody>
          <a:bodyPr wrap="square" lIns="9144" tIns="9144" rIns="9144" bIns="9144">
            <a:spAutoFit/>
          </a:bodyPr>
          <a:lstStyle/>
          <a:p>
            <a:pPr>
              <a:defRPr sz="1300" b="0">
                <a:solidFill>
                  <a:srgbClr val="EDF2F7"/>
                </a:solidFill>
                <a:latin typeface="Aptos"/>
              </a:defRPr>
            </a:pPr>
            <a:r>
              <a:t>First access</a:t>
            </a:r>
          </a:p>
        </p:txBody>
      </p:sp>
      <p:sp>
        <p:nvSpPr>
          <p:cNvPr id="32" name="Rectangle 31"/>
          <p:cNvSpPr/>
          <p:nvPr/>
        </p:nvSpPr>
        <p:spPr>
          <a:xfrm>
            <a:off x="5422392" y="3227832"/>
            <a:ext cx="1828800" cy="545591"/>
          </a:xfrm>
          <a:prstGeom prst="rect">
            <a:avLst/>
          </a:prstGeom>
          <a:solidFill>
            <a:srgbClr val="1C29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522976" y="3291839"/>
            <a:ext cx="1627632" cy="472439"/>
          </a:xfrm>
          <a:prstGeom prst="rect">
            <a:avLst/>
          </a:prstGeom>
          <a:noFill/>
        </p:spPr>
        <p:txBody>
          <a:bodyPr wrap="square" lIns="9144" tIns="9144" rIns="9144" bIns="9144">
            <a:spAutoFit/>
          </a:bodyPr>
          <a:lstStyle/>
          <a:p>
            <a:pPr>
              <a:defRPr sz="1300" b="0">
                <a:solidFill>
                  <a:srgbClr val="EDF2F7"/>
                </a:solidFill>
                <a:latin typeface="Aptos"/>
              </a:defRPr>
            </a:pPr>
            <a:r>
              <a:t>Yes</a:t>
            </a:r>
          </a:p>
        </p:txBody>
      </p:sp>
      <p:sp>
        <p:nvSpPr>
          <p:cNvPr id="34" name="Rectangle 33"/>
          <p:cNvSpPr/>
          <p:nvPr/>
        </p:nvSpPr>
        <p:spPr>
          <a:xfrm>
            <a:off x="7251192" y="3227832"/>
            <a:ext cx="4306824" cy="545591"/>
          </a:xfrm>
          <a:prstGeom prst="rect">
            <a:avLst/>
          </a:prstGeom>
          <a:solidFill>
            <a:srgbClr val="1C29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351775" y="3291839"/>
            <a:ext cx="4105656" cy="472439"/>
          </a:xfrm>
          <a:prstGeom prst="rect">
            <a:avLst/>
          </a:prstGeom>
          <a:noFill/>
        </p:spPr>
        <p:txBody>
          <a:bodyPr wrap="square" lIns="9144" tIns="9144" rIns="9144" bIns="9144">
            <a:spAutoFit/>
          </a:bodyPr>
          <a:lstStyle/>
          <a:p>
            <a:pPr>
              <a:defRPr sz="1300" b="0">
                <a:solidFill>
                  <a:srgbClr val="EDF2F7"/>
                </a:solidFill>
                <a:latin typeface="Aptos"/>
              </a:defRPr>
            </a:pPr>
            <a:r>
              <a:t>Locks each call</a:t>
            </a:r>
          </a:p>
        </p:txBody>
      </p:sp>
      <p:sp>
        <p:nvSpPr>
          <p:cNvPr id="36" name="Rectangle 35"/>
          <p:cNvSpPr/>
          <p:nvPr/>
        </p:nvSpPr>
        <p:spPr>
          <a:xfrm>
            <a:off x="621792" y="3809999"/>
            <a:ext cx="2240280" cy="545591"/>
          </a:xfrm>
          <a:prstGeom prst="rect">
            <a:avLst/>
          </a:prstGeom>
          <a:solidFill>
            <a:srgbClr val="10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22376" y="3874007"/>
            <a:ext cx="2039112" cy="472439"/>
          </a:xfrm>
          <a:prstGeom prst="rect">
            <a:avLst/>
          </a:prstGeom>
          <a:noFill/>
        </p:spPr>
        <p:txBody>
          <a:bodyPr wrap="square" lIns="9144" tIns="9144" rIns="9144" bIns="9144">
            <a:spAutoFit/>
          </a:bodyPr>
          <a:lstStyle/>
          <a:p>
            <a:pPr>
              <a:defRPr sz="1300" b="0">
                <a:solidFill>
                  <a:srgbClr val="EDF2F7"/>
                </a:solidFill>
                <a:latin typeface="Aptos"/>
              </a:defRPr>
            </a:pPr>
            <a:r>
              <a:t>DCL + volatile</a:t>
            </a:r>
          </a:p>
        </p:txBody>
      </p:sp>
      <p:sp>
        <p:nvSpPr>
          <p:cNvPr id="38" name="Rectangle 37"/>
          <p:cNvSpPr/>
          <p:nvPr/>
        </p:nvSpPr>
        <p:spPr>
          <a:xfrm>
            <a:off x="2862072" y="3809999"/>
            <a:ext cx="2560320" cy="545591"/>
          </a:xfrm>
          <a:prstGeom prst="rect">
            <a:avLst/>
          </a:prstGeom>
          <a:solidFill>
            <a:srgbClr val="10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962656" y="3874007"/>
            <a:ext cx="2359151" cy="472439"/>
          </a:xfrm>
          <a:prstGeom prst="rect">
            <a:avLst/>
          </a:prstGeom>
          <a:noFill/>
        </p:spPr>
        <p:txBody>
          <a:bodyPr wrap="square" lIns="9144" tIns="9144" rIns="9144" bIns="9144">
            <a:spAutoFit/>
          </a:bodyPr>
          <a:lstStyle/>
          <a:p>
            <a:pPr>
              <a:defRPr sz="1300" b="0">
                <a:solidFill>
                  <a:srgbClr val="EDF2F7"/>
                </a:solidFill>
                <a:latin typeface="Aptos"/>
              </a:defRPr>
            </a:pPr>
            <a:r>
              <a:t>First access</a:t>
            </a:r>
          </a:p>
        </p:txBody>
      </p:sp>
      <p:sp>
        <p:nvSpPr>
          <p:cNvPr id="40" name="Rectangle 39"/>
          <p:cNvSpPr/>
          <p:nvPr/>
        </p:nvSpPr>
        <p:spPr>
          <a:xfrm>
            <a:off x="5422392" y="3809999"/>
            <a:ext cx="1828800" cy="545591"/>
          </a:xfrm>
          <a:prstGeom prst="rect">
            <a:avLst/>
          </a:prstGeom>
          <a:solidFill>
            <a:srgbClr val="10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522976" y="3874007"/>
            <a:ext cx="1627632" cy="472439"/>
          </a:xfrm>
          <a:prstGeom prst="rect">
            <a:avLst/>
          </a:prstGeom>
          <a:noFill/>
        </p:spPr>
        <p:txBody>
          <a:bodyPr wrap="square" lIns="9144" tIns="9144" rIns="9144" bIns="9144">
            <a:spAutoFit/>
          </a:bodyPr>
          <a:lstStyle/>
          <a:p>
            <a:pPr>
              <a:defRPr sz="1300" b="0">
                <a:solidFill>
                  <a:srgbClr val="EDF2F7"/>
                </a:solidFill>
                <a:latin typeface="Aptos"/>
              </a:defRPr>
            </a:pPr>
            <a:r>
              <a:t>Yes</a:t>
            </a:r>
          </a:p>
        </p:txBody>
      </p:sp>
      <p:sp>
        <p:nvSpPr>
          <p:cNvPr id="42" name="Rectangle 41"/>
          <p:cNvSpPr/>
          <p:nvPr/>
        </p:nvSpPr>
        <p:spPr>
          <a:xfrm>
            <a:off x="7251192" y="3809999"/>
            <a:ext cx="4306824" cy="545591"/>
          </a:xfrm>
          <a:prstGeom prst="rect">
            <a:avLst/>
          </a:prstGeom>
          <a:solidFill>
            <a:srgbClr val="10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351775" y="3874007"/>
            <a:ext cx="4105656" cy="472439"/>
          </a:xfrm>
          <a:prstGeom prst="rect">
            <a:avLst/>
          </a:prstGeom>
          <a:noFill/>
        </p:spPr>
        <p:txBody>
          <a:bodyPr wrap="square" lIns="9144" tIns="9144" rIns="9144" bIns="9144">
            <a:spAutoFit/>
          </a:bodyPr>
          <a:lstStyle/>
          <a:p>
            <a:pPr>
              <a:defRPr sz="1300" b="0">
                <a:solidFill>
                  <a:srgbClr val="EDF2F7"/>
                </a:solidFill>
                <a:latin typeface="Aptos"/>
              </a:defRPr>
            </a:pPr>
            <a:r>
              <a:t>More moving parts</a:t>
            </a:r>
          </a:p>
        </p:txBody>
      </p:sp>
      <p:sp>
        <p:nvSpPr>
          <p:cNvPr id="44" name="Rectangle 43"/>
          <p:cNvSpPr/>
          <p:nvPr/>
        </p:nvSpPr>
        <p:spPr>
          <a:xfrm>
            <a:off x="621792" y="4392167"/>
            <a:ext cx="2240280" cy="545591"/>
          </a:xfrm>
          <a:prstGeom prst="rect">
            <a:avLst/>
          </a:prstGeom>
          <a:solidFill>
            <a:srgbClr val="1C29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22376" y="4456176"/>
            <a:ext cx="2039112" cy="472439"/>
          </a:xfrm>
          <a:prstGeom prst="rect">
            <a:avLst/>
          </a:prstGeom>
          <a:noFill/>
        </p:spPr>
        <p:txBody>
          <a:bodyPr wrap="square" lIns="9144" tIns="9144" rIns="9144" bIns="9144">
            <a:spAutoFit/>
          </a:bodyPr>
          <a:lstStyle/>
          <a:p>
            <a:pPr>
              <a:defRPr sz="1300" b="0">
                <a:solidFill>
                  <a:srgbClr val="EDF2F7"/>
                </a:solidFill>
                <a:latin typeface="Aptos"/>
              </a:defRPr>
            </a:pPr>
            <a:r>
              <a:t>Holder idiom</a:t>
            </a:r>
          </a:p>
        </p:txBody>
      </p:sp>
      <p:sp>
        <p:nvSpPr>
          <p:cNvPr id="46" name="Rectangle 45"/>
          <p:cNvSpPr/>
          <p:nvPr/>
        </p:nvSpPr>
        <p:spPr>
          <a:xfrm>
            <a:off x="2862072" y="4392167"/>
            <a:ext cx="2560320" cy="545591"/>
          </a:xfrm>
          <a:prstGeom prst="rect">
            <a:avLst/>
          </a:prstGeom>
          <a:solidFill>
            <a:srgbClr val="1C29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962656" y="4456176"/>
            <a:ext cx="2359151" cy="472439"/>
          </a:xfrm>
          <a:prstGeom prst="rect">
            <a:avLst/>
          </a:prstGeom>
          <a:noFill/>
        </p:spPr>
        <p:txBody>
          <a:bodyPr wrap="square" lIns="9144" tIns="9144" rIns="9144" bIns="9144">
            <a:spAutoFit/>
          </a:bodyPr>
          <a:lstStyle/>
          <a:p>
            <a:pPr>
              <a:defRPr sz="1300" b="0">
                <a:solidFill>
                  <a:srgbClr val="EDF2F7"/>
                </a:solidFill>
                <a:latin typeface="Aptos"/>
              </a:defRPr>
            </a:pPr>
            <a:r>
              <a:t>Holder first accessed</a:t>
            </a:r>
          </a:p>
        </p:txBody>
      </p:sp>
      <p:sp>
        <p:nvSpPr>
          <p:cNvPr id="48" name="Rectangle 47"/>
          <p:cNvSpPr/>
          <p:nvPr/>
        </p:nvSpPr>
        <p:spPr>
          <a:xfrm>
            <a:off x="5422392" y="4392167"/>
            <a:ext cx="1828800" cy="545591"/>
          </a:xfrm>
          <a:prstGeom prst="rect">
            <a:avLst/>
          </a:prstGeom>
          <a:solidFill>
            <a:srgbClr val="1C29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522976" y="4456176"/>
            <a:ext cx="1627632" cy="472439"/>
          </a:xfrm>
          <a:prstGeom prst="rect">
            <a:avLst/>
          </a:prstGeom>
          <a:noFill/>
        </p:spPr>
        <p:txBody>
          <a:bodyPr wrap="square" lIns="9144" tIns="9144" rIns="9144" bIns="9144">
            <a:spAutoFit/>
          </a:bodyPr>
          <a:lstStyle/>
          <a:p>
            <a:pPr>
              <a:defRPr sz="1300" b="0">
                <a:solidFill>
                  <a:srgbClr val="EDF2F7"/>
                </a:solidFill>
                <a:latin typeface="Aptos"/>
              </a:defRPr>
            </a:pPr>
            <a:r>
              <a:t>Yes</a:t>
            </a:r>
          </a:p>
        </p:txBody>
      </p:sp>
      <p:sp>
        <p:nvSpPr>
          <p:cNvPr id="50" name="Rectangle 49"/>
          <p:cNvSpPr/>
          <p:nvPr/>
        </p:nvSpPr>
        <p:spPr>
          <a:xfrm>
            <a:off x="7251192" y="4392167"/>
            <a:ext cx="4306824" cy="545591"/>
          </a:xfrm>
          <a:prstGeom prst="rect">
            <a:avLst/>
          </a:prstGeom>
          <a:solidFill>
            <a:srgbClr val="1C29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351775" y="4456176"/>
            <a:ext cx="4105656" cy="472439"/>
          </a:xfrm>
          <a:prstGeom prst="rect">
            <a:avLst/>
          </a:prstGeom>
          <a:noFill/>
        </p:spPr>
        <p:txBody>
          <a:bodyPr wrap="square" lIns="9144" tIns="9144" rIns="9144" bIns="9144">
            <a:spAutoFit/>
          </a:bodyPr>
          <a:lstStyle/>
          <a:p>
            <a:pPr>
              <a:defRPr sz="1300" b="0">
                <a:solidFill>
                  <a:srgbClr val="EDF2F7"/>
                </a:solidFill>
                <a:latin typeface="Aptos"/>
              </a:defRPr>
            </a:pPr>
            <a:r>
              <a:t>Lazy and concise</a:t>
            </a:r>
          </a:p>
        </p:txBody>
      </p:sp>
      <p:sp>
        <p:nvSpPr>
          <p:cNvPr id="52" name="TextBox 51"/>
          <p:cNvSpPr txBox="1"/>
          <p:nvPr/>
        </p:nvSpPr>
        <p:spPr>
          <a:xfrm>
            <a:off x="777240" y="5193792"/>
            <a:ext cx="1920240" cy="274320"/>
          </a:xfrm>
          <a:prstGeom prst="rect">
            <a:avLst/>
          </a:prstGeom>
          <a:noFill/>
        </p:spPr>
        <p:txBody>
          <a:bodyPr wrap="square" lIns="45720" rIns="45720">
            <a:spAutoFit/>
          </a:bodyPr>
          <a:lstStyle/>
          <a:p>
            <a:pPr>
              <a:defRPr sz="1100" b="1">
                <a:solidFill>
                  <a:srgbClr val="FFD479"/>
                </a:solidFill>
                <a:latin typeface="Aptos"/>
              </a:defRPr>
            </a:pPr>
            <a:r>
              <a:t>BILL PUGH HOLDER</a:t>
            </a:r>
          </a:p>
        </p:txBody>
      </p:sp>
      <p:sp>
        <p:nvSpPr>
          <p:cNvPr id="53" name="Rounded Rectangle 52"/>
          <p:cNvSpPr/>
          <p:nvPr/>
        </p:nvSpPr>
        <p:spPr>
          <a:xfrm>
            <a:off x="2743200" y="5093208"/>
            <a:ext cx="8641080" cy="758952"/>
          </a:xfrm>
          <a:prstGeom prst="roundRect">
            <a:avLst/>
          </a:prstGeom>
          <a:solidFill>
            <a:srgbClr val="23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2889504" y="5193792"/>
            <a:ext cx="8348471" cy="576071"/>
          </a:xfrm>
          <a:prstGeom prst="rect">
            <a:avLst/>
          </a:prstGeom>
          <a:noFill/>
        </p:spPr>
        <p:txBody>
          <a:bodyPr wrap="square" lIns="18288" tIns="18288" rIns="18288" bIns="18288">
            <a:spAutoFit/>
          </a:bodyPr>
          <a:lstStyle/>
          <a:p>
            <a:pPr>
              <a:defRPr sz="1200" b="0">
                <a:solidFill>
                  <a:srgbClr val="46D9C3"/>
                </a:solidFill>
                <a:latin typeface="Consolas"/>
              </a:defRPr>
            </a:pPr>
            <a:r>
              <a:t>private static class Holder {</a:t>
            </a:r>
            <a:br/>
            <a:r>
              <a:t>    static final Service INSTANCE = new Service();</a:t>
            </a:r>
            <a:br/>
            <a:r>
              <a:t>}</a:t>
            </a:r>
          </a:p>
        </p:txBody>
      </p:sp>
      <p:sp>
        <p:nvSpPr>
          <p:cNvPr id="55" name="TextBox 54"/>
          <p:cNvSpPr txBox="1"/>
          <p:nvPr/>
        </p:nvSpPr>
        <p:spPr>
          <a:xfrm>
            <a:off x="658368" y="6007608"/>
            <a:ext cx="10881360" cy="329184"/>
          </a:xfrm>
          <a:prstGeom prst="rect">
            <a:avLst/>
          </a:prstGeom>
          <a:noFill/>
        </p:spPr>
        <p:txBody>
          <a:bodyPr wrap="square" lIns="45720" rIns="45720">
            <a:spAutoFit/>
          </a:bodyPr>
          <a:lstStyle/>
          <a:p>
            <a:pPr>
              <a:defRPr sz="1400" b="1">
                <a:solidFill>
                  <a:srgbClr val="FFD479"/>
                </a:solidFill>
                <a:latin typeface="Aptos"/>
              </a:defRPr>
            </a:pPr>
            <a:r>
              <a:rPr dirty="0"/>
              <a:t>The holder class initializes on first access under JVM class-initialization rules.</a:t>
            </a:r>
          </a:p>
        </p:txBody>
      </p:sp>
      <p:sp>
        <p:nvSpPr>
          <p:cNvPr id="56" name="TextBox 55"/>
          <p:cNvSpPr txBox="1"/>
          <p:nvPr/>
        </p:nvSpPr>
        <p:spPr>
          <a:xfrm>
            <a:off x="640080" y="6510528"/>
            <a:ext cx="7315200" cy="164592"/>
          </a:xfrm>
          <a:prstGeom prst="rect">
            <a:avLst/>
          </a:prstGeom>
          <a:noFill/>
        </p:spPr>
        <p:txBody>
          <a:bodyPr wrap="square" lIns="45720" rIns="45720">
            <a:spAutoFit/>
          </a:bodyPr>
          <a:lstStyle/>
          <a:p>
            <a:pPr>
              <a:defRPr sz="800" b="0">
                <a:solidFill>
                  <a:srgbClr val="ACBDD2"/>
                </a:solidFill>
                <a:latin typeface="Aptos"/>
              </a:defRPr>
            </a:pPr>
            <a:r>
              <a:t>JAVA SINGLETON  |  DESIGN AND INTERVIEW REVIEW</a:t>
            </a:r>
          </a:p>
        </p:txBody>
      </p:sp>
      <p:sp>
        <p:nvSpPr>
          <p:cNvPr id="57" name="TextBox 56"/>
          <p:cNvSpPr txBox="1"/>
          <p:nvPr/>
        </p:nvSpPr>
        <p:spPr>
          <a:xfrm>
            <a:off x="10789920" y="6492240"/>
            <a:ext cx="731520" cy="182880"/>
          </a:xfrm>
          <a:prstGeom prst="rect">
            <a:avLst/>
          </a:prstGeom>
          <a:noFill/>
        </p:spPr>
        <p:txBody>
          <a:bodyPr wrap="square" lIns="45720" rIns="45720">
            <a:spAutoFit/>
          </a:bodyPr>
          <a:lstStyle/>
          <a:p>
            <a:pPr>
              <a:defRPr sz="900" b="0">
                <a:solidFill>
                  <a:srgbClr val="ACBDD2"/>
                </a:solidFill>
                <a:latin typeface="Aptos"/>
              </a:defRPr>
            </a:pPr>
            <a:r>
              <a:t>05 / 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01827"/>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10927080" cy="310896"/>
          </a:xfrm>
          <a:prstGeom prst="rect">
            <a:avLst/>
          </a:prstGeom>
          <a:noFill/>
        </p:spPr>
        <p:txBody>
          <a:bodyPr wrap="square" lIns="45720" rIns="45720">
            <a:spAutoFit/>
          </a:bodyPr>
          <a:lstStyle/>
          <a:p>
            <a:pPr>
              <a:defRPr sz="1100" b="1">
                <a:solidFill>
                  <a:srgbClr val="46D9C3"/>
                </a:solidFill>
                <a:latin typeface="Aptos"/>
              </a:defRPr>
            </a:pPr>
            <a:r>
              <a:t>05  |  IDENTITY BREAKAGE AND DEFENSES</a:t>
            </a:r>
          </a:p>
        </p:txBody>
      </p:sp>
      <p:sp>
        <p:nvSpPr>
          <p:cNvPr id="3" name="TextBox 2"/>
          <p:cNvSpPr txBox="1"/>
          <p:nvPr/>
        </p:nvSpPr>
        <p:spPr>
          <a:xfrm>
            <a:off x="621792" y="621792"/>
            <a:ext cx="10927080" cy="658368"/>
          </a:xfrm>
          <a:prstGeom prst="rect">
            <a:avLst/>
          </a:prstGeom>
          <a:noFill/>
        </p:spPr>
        <p:txBody>
          <a:bodyPr wrap="square" lIns="45720" rIns="45720">
            <a:spAutoFit/>
          </a:bodyPr>
          <a:lstStyle/>
          <a:p>
            <a:pPr>
              <a:defRPr sz="2900" b="1">
                <a:solidFill>
                  <a:srgbClr val="EDF2F7"/>
                </a:solidFill>
                <a:latin typeface="Aptos"/>
              </a:defRPr>
            </a:pPr>
            <a:r>
              <a:t>Three ways to break a class Singleton</a:t>
            </a:r>
          </a:p>
        </p:txBody>
      </p:sp>
      <p:sp>
        <p:nvSpPr>
          <p:cNvPr id="4" name="Rounded Rectangle 3"/>
          <p:cNvSpPr/>
          <p:nvPr/>
        </p:nvSpPr>
        <p:spPr>
          <a:xfrm>
            <a:off x="621792" y="1508760"/>
            <a:ext cx="3523488" cy="3584448"/>
          </a:xfrm>
          <a:prstGeom prst="roundRect">
            <a:avLst/>
          </a:prstGeom>
          <a:solidFill>
            <a:srgbClr val="1C29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746504"/>
            <a:ext cx="3121152" cy="310896"/>
          </a:xfrm>
          <a:prstGeom prst="rect">
            <a:avLst/>
          </a:prstGeom>
          <a:noFill/>
        </p:spPr>
        <p:txBody>
          <a:bodyPr wrap="square" lIns="45720" rIns="45720">
            <a:spAutoFit/>
          </a:bodyPr>
          <a:lstStyle/>
          <a:p>
            <a:pPr>
              <a:defRPr sz="1300" b="1">
                <a:solidFill>
                  <a:srgbClr val="46D9C3"/>
                </a:solidFill>
                <a:latin typeface="Aptos"/>
              </a:defRPr>
            </a:pPr>
            <a:r>
              <a:t>REFLECTION</a:t>
            </a:r>
          </a:p>
        </p:txBody>
      </p:sp>
      <p:sp>
        <p:nvSpPr>
          <p:cNvPr id="6" name="TextBox 5"/>
          <p:cNvSpPr txBox="1"/>
          <p:nvPr/>
        </p:nvSpPr>
        <p:spPr>
          <a:xfrm>
            <a:off x="822960" y="2267712"/>
            <a:ext cx="3121152" cy="292608"/>
          </a:xfrm>
          <a:prstGeom prst="rect">
            <a:avLst/>
          </a:prstGeom>
          <a:noFill/>
        </p:spPr>
        <p:txBody>
          <a:bodyPr wrap="square" lIns="45720" rIns="45720">
            <a:spAutoFit/>
          </a:bodyPr>
          <a:lstStyle/>
          <a:p>
            <a:pPr>
              <a:defRPr sz="1000" b="1">
                <a:solidFill>
                  <a:srgbClr val="FFD479"/>
                </a:solidFill>
                <a:latin typeface="Aptos"/>
              </a:defRPr>
            </a:pPr>
            <a:r>
              <a:t>BREAK</a:t>
            </a:r>
          </a:p>
        </p:txBody>
      </p:sp>
      <p:sp>
        <p:nvSpPr>
          <p:cNvPr id="7" name="TextBox 6"/>
          <p:cNvSpPr txBox="1"/>
          <p:nvPr/>
        </p:nvSpPr>
        <p:spPr>
          <a:xfrm>
            <a:off x="822960" y="2587752"/>
            <a:ext cx="3121152" cy="859536"/>
          </a:xfrm>
          <a:prstGeom prst="rect">
            <a:avLst/>
          </a:prstGeom>
          <a:noFill/>
        </p:spPr>
        <p:txBody>
          <a:bodyPr wrap="square" lIns="45720" rIns="45720">
            <a:spAutoFit/>
          </a:bodyPr>
          <a:lstStyle/>
          <a:p>
            <a:pPr>
              <a:defRPr sz="1600" b="1">
                <a:solidFill>
                  <a:srgbClr val="EDF2F7"/>
                </a:solidFill>
                <a:latin typeface="Aptos"/>
              </a:defRPr>
            </a:pPr>
            <a:r>
              <a:t>Invoke an accessible private constructor.</a:t>
            </a:r>
          </a:p>
        </p:txBody>
      </p:sp>
      <p:sp>
        <p:nvSpPr>
          <p:cNvPr id="8" name="TextBox 7"/>
          <p:cNvSpPr txBox="1"/>
          <p:nvPr/>
        </p:nvSpPr>
        <p:spPr>
          <a:xfrm>
            <a:off x="822960" y="3657600"/>
            <a:ext cx="3121152" cy="274320"/>
          </a:xfrm>
          <a:prstGeom prst="rect">
            <a:avLst/>
          </a:prstGeom>
          <a:noFill/>
        </p:spPr>
        <p:txBody>
          <a:bodyPr wrap="square" lIns="45720" rIns="45720">
            <a:spAutoFit/>
          </a:bodyPr>
          <a:lstStyle/>
          <a:p>
            <a:pPr>
              <a:defRPr sz="1000" b="1">
                <a:solidFill>
                  <a:srgbClr val="FFD479"/>
                </a:solidFill>
                <a:latin typeface="Aptos"/>
              </a:defRPr>
            </a:pPr>
            <a:r>
              <a:t>DEFENSE</a:t>
            </a:r>
          </a:p>
        </p:txBody>
      </p:sp>
      <p:sp>
        <p:nvSpPr>
          <p:cNvPr id="9" name="TextBox 8"/>
          <p:cNvSpPr txBox="1"/>
          <p:nvPr/>
        </p:nvSpPr>
        <p:spPr>
          <a:xfrm>
            <a:off x="822960" y="3968496"/>
            <a:ext cx="3121152" cy="850392"/>
          </a:xfrm>
          <a:prstGeom prst="rect">
            <a:avLst/>
          </a:prstGeom>
          <a:noFill/>
        </p:spPr>
        <p:txBody>
          <a:bodyPr wrap="square" lIns="45720" rIns="45720">
            <a:spAutoFit/>
          </a:bodyPr>
          <a:lstStyle/>
          <a:p>
            <a:pPr>
              <a:defRPr sz="1500" b="0">
                <a:solidFill>
                  <a:srgbClr val="EDF2F7"/>
                </a:solidFill>
                <a:latin typeface="Aptos"/>
              </a:defRPr>
            </a:pPr>
            <a:r>
              <a:t>A constructor guard can reject ordinary repeat construction.</a:t>
            </a:r>
          </a:p>
        </p:txBody>
      </p:sp>
      <p:sp>
        <p:nvSpPr>
          <p:cNvPr id="10" name="Rounded Rectangle 9"/>
          <p:cNvSpPr/>
          <p:nvPr/>
        </p:nvSpPr>
        <p:spPr>
          <a:xfrm>
            <a:off x="4328160" y="1508760"/>
            <a:ext cx="3523488" cy="3584448"/>
          </a:xfrm>
          <a:prstGeom prst="roundRect">
            <a:avLst/>
          </a:prstGeom>
          <a:solidFill>
            <a:srgbClr val="1C29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29328" y="1746504"/>
            <a:ext cx="3121152" cy="310896"/>
          </a:xfrm>
          <a:prstGeom prst="rect">
            <a:avLst/>
          </a:prstGeom>
          <a:noFill/>
        </p:spPr>
        <p:txBody>
          <a:bodyPr wrap="square" lIns="45720" rIns="45720">
            <a:spAutoFit/>
          </a:bodyPr>
          <a:lstStyle/>
          <a:p>
            <a:pPr>
              <a:defRPr sz="1300" b="1">
                <a:solidFill>
                  <a:srgbClr val="46D9C3"/>
                </a:solidFill>
                <a:latin typeface="Aptos"/>
              </a:defRPr>
            </a:pPr>
            <a:r>
              <a:t>SERIALIZATION</a:t>
            </a:r>
          </a:p>
        </p:txBody>
      </p:sp>
      <p:sp>
        <p:nvSpPr>
          <p:cNvPr id="12" name="TextBox 11"/>
          <p:cNvSpPr txBox="1"/>
          <p:nvPr/>
        </p:nvSpPr>
        <p:spPr>
          <a:xfrm>
            <a:off x="4529328" y="2267712"/>
            <a:ext cx="3121152" cy="292608"/>
          </a:xfrm>
          <a:prstGeom prst="rect">
            <a:avLst/>
          </a:prstGeom>
          <a:noFill/>
        </p:spPr>
        <p:txBody>
          <a:bodyPr wrap="square" lIns="45720" rIns="45720">
            <a:spAutoFit/>
          </a:bodyPr>
          <a:lstStyle/>
          <a:p>
            <a:pPr>
              <a:defRPr sz="1000" b="1">
                <a:solidFill>
                  <a:srgbClr val="FFD479"/>
                </a:solidFill>
                <a:latin typeface="Aptos"/>
              </a:defRPr>
            </a:pPr>
            <a:r>
              <a:t>BREAK</a:t>
            </a:r>
          </a:p>
        </p:txBody>
      </p:sp>
      <p:sp>
        <p:nvSpPr>
          <p:cNvPr id="13" name="TextBox 12"/>
          <p:cNvSpPr txBox="1"/>
          <p:nvPr/>
        </p:nvSpPr>
        <p:spPr>
          <a:xfrm>
            <a:off x="4529328" y="2587752"/>
            <a:ext cx="3121152" cy="859536"/>
          </a:xfrm>
          <a:prstGeom prst="rect">
            <a:avLst/>
          </a:prstGeom>
          <a:noFill/>
        </p:spPr>
        <p:txBody>
          <a:bodyPr wrap="square" lIns="45720" rIns="45720">
            <a:spAutoFit/>
          </a:bodyPr>
          <a:lstStyle/>
          <a:p>
            <a:pPr>
              <a:defRPr sz="1600" b="1">
                <a:solidFill>
                  <a:srgbClr val="EDF2F7"/>
                </a:solidFill>
                <a:latin typeface="Aptos"/>
              </a:defRPr>
            </a:pPr>
            <a:r>
              <a:t>Default deserialization can return a new object.</a:t>
            </a:r>
          </a:p>
        </p:txBody>
      </p:sp>
      <p:sp>
        <p:nvSpPr>
          <p:cNvPr id="14" name="TextBox 13"/>
          <p:cNvSpPr txBox="1"/>
          <p:nvPr/>
        </p:nvSpPr>
        <p:spPr>
          <a:xfrm>
            <a:off x="4529328" y="3657600"/>
            <a:ext cx="3121152" cy="274320"/>
          </a:xfrm>
          <a:prstGeom prst="rect">
            <a:avLst/>
          </a:prstGeom>
          <a:noFill/>
        </p:spPr>
        <p:txBody>
          <a:bodyPr wrap="square" lIns="45720" rIns="45720">
            <a:spAutoFit/>
          </a:bodyPr>
          <a:lstStyle/>
          <a:p>
            <a:pPr>
              <a:defRPr sz="1000" b="1">
                <a:solidFill>
                  <a:srgbClr val="FFD479"/>
                </a:solidFill>
                <a:latin typeface="Aptos"/>
              </a:defRPr>
            </a:pPr>
            <a:r>
              <a:t>DEFENSE</a:t>
            </a:r>
          </a:p>
        </p:txBody>
      </p:sp>
      <p:sp>
        <p:nvSpPr>
          <p:cNvPr id="15" name="TextBox 14"/>
          <p:cNvSpPr txBox="1"/>
          <p:nvPr/>
        </p:nvSpPr>
        <p:spPr>
          <a:xfrm>
            <a:off x="4529328" y="3968496"/>
            <a:ext cx="3121152" cy="850392"/>
          </a:xfrm>
          <a:prstGeom prst="rect">
            <a:avLst/>
          </a:prstGeom>
          <a:noFill/>
        </p:spPr>
        <p:txBody>
          <a:bodyPr wrap="square" lIns="45720" rIns="45720">
            <a:spAutoFit/>
          </a:bodyPr>
          <a:lstStyle/>
          <a:p>
            <a:pPr>
              <a:defRPr sz="1500" b="0">
                <a:solidFill>
                  <a:srgbClr val="EDF2F7"/>
                </a:solidFill>
                <a:latin typeface="Aptos"/>
              </a:defRPr>
            </a:pPr>
            <a:r>
              <a:t>readResolve() returns the canonical reference.</a:t>
            </a:r>
          </a:p>
        </p:txBody>
      </p:sp>
      <p:sp>
        <p:nvSpPr>
          <p:cNvPr id="16" name="Rounded Rectangle 15"/>
          <p:cNvSpPr/>
          <p:nvPr/>
        </p:nvSpPr>
        <p:spPr>
          <a:xfrm>
            <a:off x="8034528" y="1508760"/>
            <a:ext cx="3523488" cy="3584448"/>
          </a:xfrm>
          <a:prstGeom prst="roundRect">
            <a:avLst/>
          </a:prstGeom>
          <a:solidFill>
            <a:srgbClr val="1C29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35696" y="1746504"/>
            <a:ext cx="3121152" cy="310896"/>
          </a:xfrm>
          <a:prstGeom prst="rect">
            <a:avLst/>
          </a:prstGeom>
          <a:noFill/>
        </p:spPr>
        <p:txBody>
          <a:bodyPr wrap="square" lIns="45720" rIns="45720">
            <a:spAutoFit/>
          </a:bodyPr>
          <a:lstStyle/>
          <a:p>
            <a:pPr>
              <a:defRPr sz="1300" b="1">
                <a:solidFill>
                  <a:srgbClr val="46D9C3"/>
                </a:solidFill>
                <a:latin typeface="Aptos"/>
              </a:defRPr>
            </a:pPr>
            <a:r>
              <a:t>CLONING</a:t>
            </a:r>
          </a:p>
        </p:txBody>
      </p:sp>
      <p:sp>
        <p:nvSpPr>
          <p:cNvPr id="18" name="TextBox 17"/>
          <p:cNvSpPr txBox="1"/>
          <p:nvPr/>
        </p:nvSpPr>
        <p:spPr>
          <a:xfrm>
            <a:off x="8235696" y="2267712"/>
            <a:ext cx="3121152" cy="292608"/>
          </a:xfrm>
          <a:prstGeom prst="rect">
            <a:avLst/>
          </a:prstGeom>
          <a:noFill/>
        </p:spPr>
        <p:txBody>
          <a:bodyPr wrap="square" lIns="45720" rIns="45720">
            <a:spAutoFit/>
          </a:bodyPr>
          <a:lstStyle/>
          <a:p>
            <a:pPr>
              <a:defRPr sz="1000" b="1">
                <a:solidFill>
                  <a:srgbClr val="FFD479"/>
                </a:solidFill>
                <a:latin typeface="Aptos"/>
              </a:defRPr>
            </a:pPr>
            <a:r>
              <a:t>BREAK</a:t>
            </a:r>
          </a:p>
        </p:txBody>
      </p:sp>
      <p:sp>
        <p:nvSpPr>
          <p:cNvPr id="19" name="TextBox 18"/>
          <p:cNvSpPr txBox="1"/>
          <p:nvPr/>
        </p:nvSpPr>
        <p:spPr>
          <a:xfrm>
            <a:off x="8235696" y="2587752"/>
            <a:ext cx="3121152" cy="859536"/>
          </a:xfrm>
          <a:prstGeom prst="rect">
            <a:avLst/>
          </a:prstGeom>
          <a:noFill/>
        </p:spPr>
        <p:txBody>
          <a:bodyPr wrap="square" lIns="45720" rIns="45720">
            <a:spAutoFit/>
          </a:bodyPr>
          <a:lstStyle/>
          <a:p>
            <a:pPr>
              <a:defRPr sz="1600" b="1">
                <a:solidFill>
                  <a:srgbClr val="EDF2F7"/>
                </a:solidFill>
                <a:latin typeface="Aptos"/>
              </a:defRPr>
            </a:pPr>
            <a:r>
              <a:t>A copy can be made without calling the constructor.</a:t>
            </a:r>
          </a:p>
        </p:txBody>
      </p:sp>
      <p:sp>
        <p:nvSpPr>
          <p:cNvPr id="20" name="TextBox 19"/>
          <p:cNvSpPr txBox="1"/>
          <p:nvPr/>
        </p:nvSpPr>
        <p:spPr>
          <a:xfrm>
            <a:off x="8235696" y="3657600"/>
            <a:ext cx="3121152" cy="274320"/>
          </a:xfrm>
          <a:prstGeom prst="rect">
            <a:avLst/>
          </a:prstGeom>
          <a:noFill/>
        </p:spPr>
        <p:txBody>
          <a:bodyPr wrap="square" lIns="45720" rIns="45720">
            <a:spAutoFit/>
          </a:bodyPr>
          <a:lstStyle/>
          <a:p>
            <a:pPr>
              <a:defRPr sz="1000" b="1">
                <a:solidFill>
                  <a:srgbClr val="FFD479"/>
                </a:solidFill>
                <a:latin typeface="Aptos"/>
              </a:defRPr>
            </a:pPr>
            <a:r>
              <a:t>DEFENSE</a:t>
            </a:r>
          </a:p>
        </p:txBody>
      </p:sp>
      <p:sp>
        <p:nvSpPr>
          <p:cNvPr id="21" name="TextBox 20"/>
          <p:cNvSpPr txBox="1"/>
          <p:nvPr/>
        </p:nvSpPr>
        <p:spPr>
          <a:xfrm>
            <a:off x="8235696" y="3968496"/>
            <a:ext cx="3121152" cy="850392"/>
          </a:xfrm>
          <a:prstGeom prst="rect">
            <a:avLst/>
          </a:prstGeom>
          <a:noFill/>
        </p:spPr>
        <p:txBody>
          <a:bodyPr wrap="square" lIns="45720" rIns="45720">
            <a:spAutoFit/>
          </a:bodyPr>
          <a:lstStyle/>
          <a:p>
            <a:pPr>
              <a:defRPr sz="1500" b="0">
                <a:solidFill>
                  <a:srgbClr val="EDF2F7"/>
                </a:solidFill>
                <a:latin typeface="Aptos"/>
              </a:defRPr>
            </a:pPr>
            <a:r>
              <a:t>Avoid Cloneable or explicitly reject clone().</a:t>
            </a:r>
          </a:p>
        </p:txBody>
      </p:sp>
      <p:sp>
        <p:nvSpPr>
          <p:cNvPr id="22" name="Rounded Rectangle 21"/>
          <p:cNvSpPr/>
          <p:nvPr/>
        </p:nvSpPr>
        <p:spPr>
          <a:xfrm>
            <a:off x="804672" y="5303520"/>
            <a:ext cx="10570464" cy="566928"/>
          </a:xfrm>
          <a:prstGeom prst="roundRect">
            <a:avLst/>
          </a:prstGeom>
          <a:solidFill>
            <a:srgbClr val="23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50976" y="5404104"/>
            <a:ext cx="10277856" cy="384048"/>
          </a:xfrm>
          <a:prstGeom prst="rect">
            <a:avLst/>
          </a:prstGeom>
          <a:noFill/>
        </p:spPr>
        <p:txBody>
          <a:bodyPr wrap="square" lIns="18288" tIns="18288" rIns="18288" bIns="18288">
            <a:spAutoFit/>
          </a:bodyPr>
          <a:lstStyle/>
          <a:p>
            <a:pPr>
              <a:defRPr sz="1300" b="0">
                <a:solidFill>
                  <a:srgbClr val="46D9C3"/>
                </a:solidFill>
                <a:latin typeface="Consolas"/>
              </a:defRPr>
            </a:pPr>
            <a:r>
              <a:t>private Object readResolve() { return INSTANCE; }</a:t>
            </a:r>
          </a:p>
        </p:txBody>
      </p:sp>
      <p:sp>
        <p:nvSpPr>
          <p:cNvPr id="24" name="TextBox 23"/>
          <p:cNvSpPr txBox="1"/>
          <p:nvPr/>
        </p:nvSpPr>
        <p:spPr>
          <a:xfrm>
            <a:off x="658368" y="6007608"/>
            <a:ext cx="10881360" cy="329184"/>
          </a:xfrm>
          <a:prstGeom prst="rect">
            <a:avLst/>
          </a:prstGeom>
          <a:noFill/>
        </p:spPr>
        <p:txBody>
          <a:bodyPr wrap="square" lIns="45720" rIns="45720">
            <a:spAutoFit/>
          </a:bodyPr>
          <a:lstStyle/>
          <a:p>
            <a:pPr>
              <a:defRPr sz="1400" b="1">
                <a:solidFill>
                  <a:srgbClr val="FFD479"/>
                </a:solidFill>
                <a:latin typeface="Aptos"/>
              </a:defRPr>
            </a:pPr>
            <a:r>
              <a:t>These defenses target specific routes; they are not absolute security boundaries.</a:t>
            </a:r>
          </a:p>
        </p:txBody>
      </p:sp>
      <p:sp>
        <p:nvSpPr>
          <p:cNvPr id="25" name="TextBox 24"/>
          <p:cNvSpPr txBox="1"/>
          <p:nvPr/>
        </p:nvSpPr>
        <p:spPr>
          <a:xfrm>
            <a:off x="640080" y="6510528"/>
            <a:ext cx="7315200" cy="164592"/>
          </a:xfrm>
          <a:prstGeom prst="rect">
            <a:avLst/>
          </a:prstGeom>
          <a:noFill/>
        </p:spPr>
        <p:txBody>
          <a:bodyPr wrap="square" lIns="45720" rIns="45720">
            <a:spAutoFit/>
          </a:bodyPr>
          <a:lstStyle/>
          <a:p>
            <a:pPr>
              <a:defRPr sz="800" b="0">
                <a:solidFill>
                  <a:srgbClr val="ACBDD2"/>
                </a:solidFill>
                <a:latin typeface="Aptos"/>
              </a:defRPr>
            </a:pPr>
            <a:r>
              <a:t>JAVA SINGLETON  |  DESIGN AND INTERVIEW REVIEW</a:t>
            </a:r>
          </a:p>
        </p:txBody>
      </p:sp>
      <p:sp>
        <p:nvSpPr>
          <p:cNvPr id="26" name="TextBox 25"/>
          <p:cNvSpPr txBox="1"/>
          <p:nvPr/>
        </p:nvSpPr>
        <p:spPr>
          <a:xfrm>
            <a:off x="10789920" y="6492240"/>
            <a:ext cx="731520" cy="182880"/>
          </a:xfrm>
          <a:prstGeom prst="rect">
            <a:avLst/>
          </a:prstGeom>
          <a:noFill/>
        </p:spPr>
        <p:txBody>
          <a:bodyPr wrap="square" lIns="45720" rIns="45720">
            <a:spAutoFit/>
          </a:bodyPr>
          <a:lstStyle/>
          <a:p>
            <a:pPr>
              <a:defRPr sz="900" b="0">
                <a:solidFill>
                  <a:srgbClr val="ACBDD2"/>
                </a:solidFill>
                <a:latin typeface="Aptos"/>
              </a:defRPr>
            </a:pPr>
            <a:r>
              <a:t>06 / 10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01827"/>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10927080" cy="310896"/>
          </a:xfrm>
          <a:prstGeom prst="rect">
            <a:avLst/>
          </a:prstGeom>
          <a:noFill/>
        </p:spPr>
        <p:txBody>
          <a:bodyPr wrap="square" lIns="45720" rIns="45720">
            <a:spAutoFit/>
          </a:bodyPr>
          <a:lstStyle/>
          <a:p>
            <a:pPr>
              <a:defRPr sz="1100" b="1">
                <a:solidFill>
                  <a:srgbClr val="46D9C3"/>
                </a:solidFill>
                <a:latin typeface="Aptos"/>
              </a:defRPr>
            </a:pPr>
            <a:r>
              <a:t>06  |  ENUMS</a:t>
            </a:r>
          </a:p>
        </p:txBody>
      </p:sp>
      <p:sp>
        <p:nvSpPr>
          <p:cNvPr id="3" name="TextBox 2"/>
          <p:cNvSpPr txBox="1"/>
          <p:nvPr/>
        </p:nvSpPr>
        <p:spPr>
          <a:xfrm>
            <a:off x="621792" y="621792"/>
            <a:ext cx="10927080" cy="658368"/>
          </a:xfrm>
          <a:prstGeom prst="rect">
            <a:avLst/>
          </a:prstGeom>
          <a:noFill/>
        </p:spPr>
        <p:txBody>
          <a:bodyPr wrap="square" lIns="45720" rIns="45720">
            <a:spAutoFit/>
          </a:bodyPr>
          <a:lstStyle/>
          <a:p>
            <a:pPr>
              <a:defRPr sz="2900" b="1">
                <a:solidFill>
                  <a:srgbClr val="EDF2F7"/>
                </a:solidFill>
                <a:latin typeface="Aptos"/>
              </a:defRPr>
            </a:pPr>
            <a:r>
              <a:t>Enum Singleton—and enums for choices</a:t>
            </a:r>
          </a:p>
        </p:txBody>
      </p:sp>
      <p:sp>
        <p:nvSpPr>
          <p:cNvPr id="4" name="Rounded Rectangle 3"/>
          <p:cNvSpPr/>
          <p:nvPr/>
        </p:nvSpPr>
        <p:spPr>
          <a:xfrm>
            <a:off x="621792" y="1481328"/>
            <a:ext cx="5358384" cy="4279392"/>
          </a:xfrm>
          <a:prstGeom prst="roundRect">
            <a:avLst/>
          </a:prstGeom>
          <a:solidFill>
            <a:srgbClr val="1C29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7824" y="1737360"/>
            <a:ext cx="4846320" cy="310896"/>
          </a:xfrm>
          <a:prstGeom prst="rect">
            <a:avLst/>
          </a:prstGeom>
          <a:noFill/>
        </p:spPr>
        <p:txBody>
          <a:bodyPr wrap="square" lIns="45720" rIns="45720">
            <a:spAutoFit/>
          </a:bodyPr>
          <a:lstStyle/>
          <a:p>
            <a:pPr>
              <a:defRPr sz="1300" b="1">
                <a:solidFill>
                  <a:srgbClr val="46D9C3"/>
                </a:solidFill>
                <a:latin typeface="Aptos"/>
              </a:defRPr>
            </a:pPr>
            <a:r>
              <a:t>ENUM SINGLETON</a:t>
            </a:r>
          </a:p>
        </p:txBody>
      </p:sp>
      <p:sp>
        <p:nvSpPr>
          <p:cNvPr id="6" name="Rounded Rectangle 5"/>
          <p:cNvSpPr/>
          <p:nvPr/>
        </p:nvSpPr>
        <p:spPr>
          <a:xfrm>
            <a:off x="877824" y="2212848"/>
            <a:ext cx="4846320" cy="822960"/>
          </a:xfrm>
          <a:prstGeom prst="roundRect">
            <a:avLst/>
          </a:prstGeom>
          <a:solidFill>
            <a:srgbClr val="23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4128" y="2313432"/>
            <a:ext cx="4553712" cy="640080"/>
          </a:xfrm>
          <a:prstGeom prst="rect">
            <a:avLst/>
          </a:prstGeom>
          <a:noFill/>
        </p:spPr>
        <p:txBody>
          <a:bodyPr wrap="square" lIns="18288" tIns="18288" rIns="18288" bIns="18288">
            <a:spAutoFit/>
          </a:bodyPr>
          <a:lstStyle/>
          <a:p>
            <a:pPr>
              <a:defRPr sz="1400" b="0">
                <a:solidFill>
                  <a:srgbClr val="46D9C3"/>
                </a:solidFill>
                <a:latin typeface="Consolas"/>
              </a:defRPr>
            </a:pPr>
            <a:r>
              <a:t>enum Policy {</a:t>
            </a:r>
            <a:br/>
            <a:r>
              <a:t>    INSTANCE</a:t>
            </a:r>
            <a:br/>
            <a:r>
              <a:t>}</a:t>
            </a:r>
          </a:p>
        </p:txBody>
      </p:sp>
      <p:sp>
        <p:nvSpPr>
          <p:cNvPr id="8" name="TextBox 7"/>
          <p:cNvSpPr txBox="1"/>
          <p:nvPr/>
        </p:nvSpPr>
        <p:spPr>
          <a:xfrm>
            <a:off x="877824" y="3310128"/>
            <a:ext cx="347472" cy="301752"/>
          </a:xfrm>
          <a:prstGeom prst="rect">
            <a:avLst/>
          </a:prstGeom>
          <a:noFill/>
        </p:spPr>
        <p:txBody>
          <a:bodyPr wrap="square" lIns="45720" rIns="45720">
            <a:spAutoFit/>
          </a:bodyPr>
          <a:lstStyle/>
          <a:p>
            <a:pPr>
              <a:defRPr sz="1100" b="1">
                <a:solidFill>
                  <a:srgbClr val="46D9C3"/>
                </a:solidFill>
                <a:latin typeface="Aptos"/>
              </a:defRPr>
            </a:pPr>
            <a:r>
              <a:t>01</a:t>
            </a:r>
          </a:p>
        </p:txBody>
      </p:sp>
      <p:sp>
        <p:nvSpPr>
          <p:cNvPr id="9" name="TextBox 8"/>
          <p:cNvSpPr txBox="1"/>
          <p:nvPr/>
        </p:nvSpPr>
        <p:spPr>
          <a:xfrm>
            <a:off x="1261872" y="3291840"/>
            <a:ext cx="4462272" cy="475488"/>
          </a:xfrm>
          <a:prstGeom prst="rect">
            <a:avLst/>
          </a:prstGeom>
          <a:noFill/>
        </p:spPr>
        <p:txBody>
          <a:bodyPr wrap="square" lIns="45720" rIns="45720">
            <a:spAutoFit/>
          </a:bodyPr>
          <a:lstStyle/>
          <a:p>
            <a:pPr>
              <a:defRPr sz="1500" b="0">
                <a:solidFill>
                  <a:srgbClr val="EDF2F7"/>
                </a:solidFill>
                <a:latin typeface="Aptos"/>
              </a:defRPr>
            </a:pPr>
            <a:r>
              <a:t>Concise, safely initialized</a:t>
            </a:r>
          </a:p>
        </p:txBody>
      </p:sp>
      <p:sp>
        <p:nvSpPr>
          <p:cNvPr id="10" name="TextBox 9"/>
          <p:cNvSpPr txBox="1"/>
          <p:nvPr/>
        </p:nvSpPr>
        <p:spPr>
          <a:xfrm>
            <a:off x="877824" y="3887216"/>
            <a:ext cx="347472" cy="301752"/>
          </a:xfrm>
          <a:prstGeom prst="rect">
            <a:avLst/>
          </a:prstGeom>
          <a:noFill/>
        </p:spPr>
        <p:txBody>
          <a:bodyPr wrap="square" lIns="45720" rIns="45720">
            <a:spAutoFit/>
          </a:bodyPr>
          <a:lstStyle/>
          <a:p>
            <a:pPr>
              <a:defRPr sz="1100" b="1">
                <a:solidFill>
                  <a:srgbClr val="46D9C3"/>
                </a:solidFill>
                <a:latin typeface="Aptos"/>
              </a:defRPr>
            </a:pPr>
            <a:r>
              <a:t>02</a:t>
            </a:r>
          </a:p>
        </p:txBody>
      </p:sp>
      <p:sp>
        <p:nvSpPr>
          <p:cNvPr id="11" name="TextBox 10"/>
          <p:cNvSpPr txBox="1"/>
          <p:nvPr/>
        </p:nvSpPr>
        <p:spPr>
          <a:xfrm>
            <a:off x="1261872" y="3868928"/>
            <a:ext cx="4462272" cy="475488"/>
          </a:xfrm>
          <a:prstGeom prst="rect">
            <a:avLst/>
          </a:prstGeom>
          <a:noFill/>
        </p:spPr>
        <p:txBody>
          <a:bodyPr wrap="square" lIns="45720" rIns="45720">
            <a:spAutoFit/>
          </a:bodyPr>
          <a:lstStyle/>
          <a:p>
            <a:pPr>
              <a:defRPr sz="1500" b="0">
                <a:solidFill>
                  <a:srgbClr val="EDF2F7"/>
                </a:solidFill>
                <a:latin typeface="Aptos"/>
              </a:defRPr>
            </a:pPr>
            <a:r>
              <a:t>Built-in identity behavior for serialization</a:t>
            </a:r>
          </a:p>
        </p:txBody>
      </p:sp>
      <p:sp>
        <p:nvSpPr>
          <p:cNvPr id="12" name="TextBox 11"/>
          <p:cNvSpPr txBox="1"/>
          <p:nvPr/>
        </p:nvSpPr>
        <p:spPr>
          <a:xfrm>
            <a:off x="877824" y="4464304"/>
            <a:ext cx="347472" cy="301752"/>
          </a:xfrm>
          <a:prstGeom prst="rect">
            <a:avLst/>
          </a:prstGeom>
          <a:noFill/>
        </p:spPr>
        <p:txBody>
          <a:bodyPr wrap="square" lIns="45720" rIns="45720">
            <a:spAutoFit/>
          </a:bodyPr>
          <a:lstStyle/>
          <a:p>
            <a:pPr>
              <a:defRPr sz="1100" b="1">
                <a:solidFill>
                  <a:srgbClr val="46D9C3"/>
                </a:solidFill>
                <a:latin typeface="Aptos"/>
              </a:defRPr>
            </a:pPr>
            <a:r>
              <a:t>03</a:t>
            </a:r>
          </a:p>
        </p:txBody>
      </p:sp>
      <p:sp>
        <p:nvSpPr>
          <p:cNvPr id="13" name="TextBox 12"/>
          <p:cNvSpPr txBox="1"/>
          <p:nvPr/>
        </p:nvSpPr>
        <p:spPr>
          <a:xfrm>
            <a:off x="1261872" y="4446016"/>
            <a:ext cx="4462272" cy="475488"/>
          </a:xfrm>
          <a:prstGeom prst="rect">
            <a:avLst/>
          </a:prstGeom>
          <a:noFill/>
        </p:spPr>
        <p:txBody>
          <a:bodyPr wrap="square" lIns="45720" rIns="45720">
            <a:spAutoFit/>
          </a:bodyPr>
          <a:lstStyle/>
          <a:p>
            <a:pPr>
              <a:defRPr sz="1500" b="0">
                <a:solidFill>
                  <a:srgbClr val="EDF2F7"/>
                </a:solidFill>
                <a:latin typeface="Aptos"/>
              </a:defRPr>
            </a:pPr>
            <a:r>
              <a:t>Standard reflective construction is restricted</a:t>
            </a:r>
          </a:p>
        </p:txBody>
      </p:sp>
      <p:sp>
        <p:nvSpPr>
          <p:cNvPr id="14" name="Rounded Rectangle 13"/>
          <p:cNvSpPr/>
          <p:nvPr/>
        </p:nvSpPr>
        <p:spPr>
          <a:xfrm>
            <a:off x="6199632" y="1481328"/>
            <a:ext cx="5358384" cy="4279392"/>
          </a:xfrm>
          <a:prstGeom prst="roundRect">
            <a:avLst/>
          </a:prstGeom>
          <a:solidFill>
            <a:srgbClr val="1C29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55664" y="1737360"/>
            <a:ext cx="4846320" cy="310896"/>
          </a:xfrm>
          <a:prstGeom prst="rect">
            <a:avLst/>
          </a:prstGeom>
          <a:noFill/>
        </p:spPr>
        <p:txBody>
          <a:bodyPr wrap="square" lIns="45720" rIns="45720">
            <a:spAutoFit/>
          </a:bodyPr>
          <a:lstStyle/>
          <a:p>
            <a:pPr>
              <a:defRPr sz="1300" b="1">
                <a:solidFill>
                  <a:srgbClr val="46D9C3"/>
                </a:solidFill>
                <a:latin typeface="Aptos"/>
              </a:defRPr>
            </a:pPr>
            <a:r>
              <a:t>TRADEOFFS AND OTHER ENUMS</a:t>
            </a:r>
          </a:p>
        </p:txBody>
      </p:sp>
      <p:sp>
        <p:nvSpPr>
          <p:cNvPr id="16" name="Rounded Rectangle 15"/>
          <p:cNvSpPr/>
          <p:nvPr/>
        </p:nvSpPr>
        <p:spPr>
          <a:xfrm>
            <a:off x="6455664" y="2212848"/>
            <a:ext cx="4846320" cy="822960"/>
          </a:xfrm>
          <a:prstGeom prst="roundRect">
            <a:avLst/>
          </a:prstGeom>
          <a:solidFill>
            <a:srgbClr val="23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01968" y="2313432"/>
            <a:ext cx="4553712" cy="640080"/>
          </a:xfrm>
          <a:prstGeom prst="rect">
            <a:avLst/>
          </a:prstGeom>
          <a:noFill/>
        </p:spPr>
        <p:txBody>
          <a:bodyPr wrap="square" lIns="18288" tIns="18288" rIns="18288" bIns="18288">
            <a:spAutoFit/>
          </a:bodyPr>
          <a:lstStyle/>
          <a:p>
            <a:pPr>
              <a:defRPr sz="1400" b="0">
                <a:solidFill>
                  <a:srgbClr val="46D9C3"/>
                </a:solidFill>
                <a:latin typeface="Consolas"/>
              </a:defRPr>
            </a:pPr>
            <a:r>
              <a:t>enum ReportFormat { CSV, JSON, XML }</a:t>
            </a:r>
          </a:p>
        </p:txBody>
      </p:sp>
      <p:sp>
        <p:nvSpPr>
          <p:cNvPr id="18" name="TextBox 17"/>
          <p:cNvSpPr txBox="1"/>
          <p:nvPr/>
        </p:nvSpPr>
        <p:spPr>
          <a:xfrm>
            <a:off x="6455664" y="3310128"/>
            <a:ext cx="347472" cy="301752"/>
          </a:xfrm>
          <a:prstGeom prst="rect">
            <a:avLst/>
          </a:prstGeom>
          <a:noFill/>
        </p:spPr>
        <p:txBody>
          <a:bodyPr wrap="square" lIns="45720" rIns="45720">
            <a:spAutoFit/>
          </a:bodyPr>
          <a:lstStyle/>
          <a:p>
            <a:pPr>
              <a:defRPr sz="1100" b="1">
                <a:solidFill>
                  <a:srgbClr val="46D9C3"/>
                </a:solidFill>
                <a:latin typeface="Aptos"/>
              </a:defRPr>
            </a:pPr>
            <a:r>
              <a:t>01</a:t>
            </a:r>
          </a:p>
        </p:txBody>
      </p:sp>
      <p:sp>
        <p:nvSpPr>
          <p:cNvPr id="19" name="TextBox 18"/>
          <p:cNvSpPr txBox="1"/>
          <p:nvPr/>
        </p:nvSpPr>
        <p:spPr>
          <a:xfrm>
            <a:off x="6839712" y="3291840"/>
            <a:ext cx="4462272" cy="475488"/>
          </a:xfrm>
          <a:prstGeom prst="rect">
            <a:avLst/>
          </a:prstGeom>
          <a:noFill/>
        </p:spPr>
        <p:txBody>
          <a:bodyPr wrap="square" lIns="45720" rIns="45720">
            <a:spAutoFit/>
          </a:bodyPr>
          <a:lstStyle/>
          <a:p>
            <a:pPr>
              <a:defRPr sz="1500" b="0">
                <a:solidFill>
                  <a:srgbClr val="EDF2F7"/>
                </a:solidFill>
                <a:latin typeface="Aptos"/>
              </a:defRPr>
            </a:pPr>
            <a:r>
              <a:t>Fixed constants; runtime configuration is awkward</a:t>
            </a:r>
          </a:p>
        </p:txBody>
      </p:sp>
      <p:sp>
        <p:nvSpPr>
          <p:cNvPr id="20" name="TextBox 19"/>
          <p:cNvSpPr txBox="1"/>
          <p:nvPr/>
        </p:nvSpPr>
        <p:spPr>
          <a:xfrm>
            <a:off x="6455664" y="3887216"/>
            <a:ext cx="347472" cy="301752"/>
          </a:xfrm>
          <a:prstGeom prst="rect">
            <a:avLst/>
          </a:prstGeom>
          <a:noFill/>
        </p:spPr>
        <p:txBody>
          <a:bodyPr wrap="square" lIns="45720" rIns="45720">
            <a:spAutoFit/>
          </a:bodyPr>
          <a:lstStyle/>
          <a:p>
            <a:pPr>
              <a:defRPr sz="1100" b="1">
                <a:solidFill>
                  <a:srgbClr val="46D9C3"/>
                </a:solidFill>
                <a:latin typeface="Aptos"/>
              </a:defRPr>
            </a:pPr>
            <a:r>
              <a:t>02</a:t>
            </a:r>
          </a:p>
        </p:txBody>
      </p:sp>
      <p:sp>
        <p:nvSpPr>
          <p:cNvPr id="21" name="TextBox 20"/>
          <p:cNvSpPr txBox="1"/>
          <p:nvPr/>
        </p:nvSpPr>
        <p:spPr>
          <a:xfrm>
            <a:off x="6839712" y="3868928"/>
            <a:ext cx="4462272" cy="475488"/>
          </a:xfrm>
          <a:prstGeom prst="rect">
            <a:avLst/>
          </a:prstGeom>
          <a:noFill/>
        </p:spPr>
        <p:txBody>
          <a:bodyPr wrap="square" lIns="45720" rIns="45720">
            <a:spAutoFit/>
          </a:bodyPr>
          <a:lstStyle/>
          <a:p>
            <a:pPr>
              <a:defRPr sz="1500" b="0">
                <a:solidFill>
                  <a:srgbClr val="EDF2F7"/>
                </a:solidFill>
                <a:latin typeface="Aptos"/>
              </a:defRPr>
            </a:pPr>
            <a:r>
              <a:t>Cannot extend another class</a:t>
            </a:r>
          </a:p>
        </p:txBody>
      </p:sp>
      <p:sp>
        <p:nvSpPr>
          <p:cNvPr id="22" name="TextBox 21"/>
          <p:cNvSpPr txBox="1"/>
          <p:nvPr/>
        </p:nvSpPr>
        <p:spPr>
          <a:xfrm>
            <a:off x="6455664" y="4464304"/>
            <a:ext cx="347472" cy="301752"/>
          </a:xfrm>
          <a:prstGeom prst="rect">
            <a:avLst/>
          </a:prstGeom>
          <a:noFill/>
        </p:spPr>
        <p:txBody>
          <a:bodyPr wrap="square" lIns="45720" rIns="45720">
            <a:spAutoFit/>
          </a:bodyPr>
          <a:lstStyle/>
          <a:p>
            <a:pPr>
              <a:defRPr sz="1100" b="1">
                <a:solidFill>
                  <a:srgbClr val="46D9C3"/>
                </a:solidFill>
                <a:latin typeface="Aptos"/>
              </a:defRPr>
            </a:pPr>
            <a:r>
              <a:t>03</a:t>
            </a:r>
          </a:p>
        </p:txBody>
      </p:sp>
      <p:sp>
        <p:nvSpPr>
          <p:cNvPr id="23" name="TextBox 22"/>
          <p:cNvSpPr txBox="1"/>
          <p:nvPr/>
        </p:nvSpPr>
        <p:spPr>
          <a:xfrm>
            <a:off x="6839712" y="4446016"/>
            <a:ext cx="4462272" cy="475488"/>
          </a:xfrm>
          <a:prstGeom prst="rect">
            <a:avLst/>
          </a:prstGeom>
          <a:noFill/>
        </p:spPr>
        <p:txBody>
          <a:bodyPr wrap="square" lIns="45720" rIns="45720">
            <a:spAutoFit/>
          </a:bodyPr>
          <a:lstStyle/>
          <a:p>
            <a:pPr>
              <a:defRPr sz="1500" b="0">
                <a:solidFill>
                  <a:srgbClr val="EDF2F7"/>
                </a:solidFill>
                <a:latin typeface="Aptos"/>
              </a:defRPr>
            </a:pPr>
            <a:r>
              <a:t>Fixed choices are not necessarily a Singleton</a:t>
            </a:r>
          </a:p>
        </p:txBody>
      </p:sp>
      <p:sp>
        <p:nvSpPr>
          <p:cNvPr id="24" name="TextBox 23"/>
          <p:cNvSpPr txBox="1"/>
          <p:nvPr/>
        </p:nvSpPr>
        <p:spPr>
          <a:xfrm>
            <a:off x="658368" y="6007608"/>
            <a:ext cx="10881360" cy="329184"/>
          </a:xfrm>
          <a:prstGeom prst="rect">
            <a:avLst/>
          </a:prstGeom>
          <a:noFill/>
        </p:spPr>
        <p:txBody>
          <a:bodyPr wrap="square" lIns="45720" rIns="45720">
            <a:spAutoFit/>
          </a:bodyPr>
          <a:lstStyle/>
          <a:p>
            <a:pPr>
              <a:defRPr sz="1400" b="1">
                <a:solidFill>
                  <a:srgbClr val="FFD479"/>
                </a:solidFill>
                <a:latin typeface="Aptos"/>
              </a:defRPr>
            </a:pPr>
            <a:r>
              <a:t>Enum constants provide identity guarantees, not automatic mutable-state safety.</a:t>
            </a:r>
          </a:p>
        </p:txBody>
      </p:sp>
      <p:sp>
        <p:nvSpPr>
          <p:cNvPr id="25" name="TextBox 24"/>
          <p:cNvSpPr txBox="1"/>
          <p:nvPr/>
        </p:nvSpPr>
        <p:spPr>
          <a:xfrm>
            <a:off x="640080" y="6510528"/>
            <a:ext cx="7315200" cy="164592"/>
          </a:xfrm>
          <a:prstGeom prst="rect">
            <a:avLst/>
          </a:prstGeom>
          <a:noFill/>
        </p:spPr>
        <p:txBody>
          <a:bodyPr wrap="square" lIns="45720" rIns="45720">
            <a:spAutoFit/>
          </a:bodyPr>
          <a:lstStyle/>
          <a:p>
            <a:pPr>
              <a:defRPr sz="800" b="0">
                <a:solidFill>
                  <a:srgbClr val="ACBDD2"/>
                </a:solidFill>
                <a:latin typeface="Aptos"/>
              </a:defRPr>
            </a:pPr>
            <a:r>
              <a:t>JAVA SINGLETON  |  DESIGN AND INTERVIEW REVIEW</a:t>
            </a:r>
          </a:p>
        </p:txBody>
      </p:sp>
      <p:sp>
        <p:nvSpPr>
          <p:cNvPr id="26" name="TextBox 25"/>
          <p:cNvSpPr txBox="1"/>
          <p:nvPr/>
        </p:nvSpPr>
        <p:spPr>
          <a:xfrm>
            <a:off x="10789920" y="6492240"/>
            <a:ext cx="731520" cy="182880"/>
          </a:xfrm>
          <a:prstGeom prst="rect">
            <a:avLst/>
          </a:prstGeom>
          <a:noFill/>
        </p:spPr>
        <p:txBody>
          <a:bodyPr wrap="square" lIns="45720" rIns="45720">
            <a:spAutoFit/>
          </a:bodyPr>
          <a:lstStyle/>
          <a:p>
            <a:pPr>
              <a:defRPr sz="900" b="0">
                <a:solidFill>
                  <a:srgbClr val="ACBDD2"/>
                </a:solidFill>
                <a:latin typeface="Aptos"/>
              </a:defRPr>
            </a:pPr>
            <a:r>
              <a:t>07 / 10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01827"/>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10927080" cy="310896"/>
          </a:xfrm>
          <a:prstGeom prst="rect">
            <a:avLst/>
          </a:prstGeom>
          <a:noFill/>
        </p:spPr>
        <p:txBody>
          <a:bodyPr wrap="square" lIns="45720" rIns="45720">
            <a:spAutoFit/>
          </a:bodyPr>
          <a:lstStyle/>
          <a:p>
            <a:pPr>
              <a:defRPr sz="1100" b="1">
                <a:solidFill>
                  <a:srgbClr val="46D9C3"/>
                </a:solidFill>
                <a:latin typeface="Aptos"/>
              </a:defRPr>
            </a:pPr>
            <a:r>
              <a:t>07  |  DESIGN CHOICE</a:t>
            </a:r>
          </a:p>
        </p:txBody>
      </p:sp>
      <p:sp>
        <p:nvSpPr>
          <p:cNvPr id="3" name="TextBox 2"/>
          <p:cNvSpPr txBox="1"/>
          <p:nvPr/>
        </p:nvSpPr>
        <p:spPr>
          <a:xfrm>
            <a:off x="621792" y="621792"/>
            <a:ext cx="10927080" cy="658368"/>
          </a:xfrm>
          <a:prstGeom prst="rect">
            <a:avLst/>
          </a:prstGeom>
          <a:noFill/>
        </p:spPr>
        <p:txBody>
          <a:bodyPr wrap="square" lIns="45720" rIns="45720">
            <a:spAutoFit/>
          </a:bodyPr>
          <a:lstStyle/>
          <a:p>
            <a:pPr>
              <a:defRPr sz="2900" b="1">
                <a:solidFill>
                  <a:srgbClr val="EDF2F7"/>
                </a:solidFill>
                <a:latin typeface="Aptos"/>
              </a:defRPr>
            </a:pPr>
            <a:r>
              <a:t>Choose the simplest fit</a:t>
            </a:r>
          </a:p>
        </p:txBody>
      </p:sp>
      <p:sp>
        <p:nvSpPr>
          <p:cNvPr id="4" name="Rounded Rectangle 3"/>
          <p:cNvSpPr/>
          <p:nvPr/>
        </p:nvSpPr>
        <p:spPr>
          <a:xfrm>
            <a:off x="621792" y="1481328"/>
            <a:ext cx="5367528" cy="2039112"/>
          </a:xfrm>
          <a:prstGeom prst="roundRect">
            <a:avLst/>
          </a:prstGeom>
          <a:solidFill>
            <a:srgbClr val="1C29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7824" y="1700784"/>
            <a:ext cx="4855464" cy="292608"/>
          </a:xfrm>
          <a:prstGeom prst="rect">
            <a:avLst/>
          </a:prstGeom>
          <a:noFill/>
        </p:spPr>
        <p:txBody>
          <a:bodyPr wrap="square" lIns="45720" rIns="45720">
            <a:spAutoFit/>
          </a:bodyPr>
          <a:lstStyle/>
          <a:p>
            <a:pPr>
              <a:defRPr sz="1300" b="1">
                <a:solidFill>
                  <a:srgbClr val="46D9C3"/>
                </a:solidFill>
                <a:latin typeface="Aptos"/>
              </a:defRPr>
            </a:pPr>
            <a:r>
              <a:t>EAGER</a:t>
            </a:r>
          </a:p>
        </p:txBody>
      </p:sp>
      <p:sp>
        <p:nvSpPr>
          <p:cNvPr id="6" name="TextBox 5"/>
          <p:cNvSpPr txBox="1"/>
          <p:nvPr/>
        </p:nvSpPr>
        <p:spPr>
          <a:xfrm>
            <a:off x="877824" y="2176272"/>
            <a:ext cx="4855464" cy="786384"/>
          </a:xfrm>
          <a:prstGeom prst="rect">
            <a:avLst/>
          </a:prstGeom>
          <a:noFill/>
        </p:spPr>
        <p:txBody>
          <a:bodyPr wrap="square" lIns="45720" rIns="45720">
            <a:spAutoFit/>
          </a:bodyPr>
          <a:lstStyle/>
          <a:p>
            <a:pPr>
              <a:defRPr sz="1800" b="1">
                <a:solidFill>
                  <a:srgbClr val="EDF2F7"/>
                </a:solidFill>
                <a:latin typeface="Aptos"/>
              </a:defRPr>
            </a:pPr>
            <a:r>
              <a:t>Use when creation is inexpensive and the instance is always needed.</a:t>
            </a:r>
          </a:p>
        </p:txBody>
      </p:sp>
      <p:sp>
        <p:nvSpPr>
          <p:cNvPr id="7" name="Rounded Rectangle 6"/>
          <p:cNvSpPr/>
          <p:nvPr/>
        </p:nvSpPr>
        <p:spPr>
          <a:xfrm>
            <a:off x="6190488" y="1481328"/>
            <a:ext cx="5367528" cy="2039112"/>
          </a:xfrm>
          <a:prstGeom prst="roundRect">
            <a:avLst/>
          </a:prstGeom>
          <a:solidFill>
            <a:srgbClr val="1C29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46520" y="1700784"/>
            <a:ext cx="4855464" cy="292608"/>
          </a:xfrm>
          <a:prstGeom prst="rect">
            <a:avLst/>
          </a:prstGeom>
          <a:noFill/>
        </p:spPr>
        <p:txBody>
          <a:bodyPr wrap="square" lIns="45720" rIns="45720">
            <a:spAutoFit/>
          </a:bodyPr>
          <a:lstStyle/>
          <a:p>
            <a:pPr>
              <a:defRPr sz="1300" b="1">
                <a:solidFill>
                  <a:srgbClr val="46D9C3"/>
                </a:solidFill>
                <a:latin typeface="Aptos"/>
              </a:defRPr>
            </a:pPr>
            <a:r>
              <a:t>HOLDER</a:t>
            </a:r>
          </a:p>
        </p:txBody>
      </p:sp>
      <p:sp>
        <p:nvSpPr>
          <p:cNvPr id="9" name="TextBox 8"/>
          <p:cNvSpPr txBox="1"/>
          <p:nvPr/>
        </p:nvSpPr>
        <p:spPr>
          <a:xfrm>
            <a:off x="6446520" y="2176272"/>
            <a:ext cx="4855464" cy="786384"/>
          </a:xfrm>
          <a:prstGeom prst="rect">
            <a:avLst/>
          </a:prstGeom>
          <a:noFill/>
        </p:spPr>
        <p:txBody>
          <a:bodyPr wrap="square" lIns="45720" rIns="45720">
            <a:spAutoFit/>
          </a:bodyPr>
          <a:lstStyle/>
          <a:p>
            <a:pPr>
              <a:defRPr sz="1800" b="1">
                <a:solidFill>
                  <a:srgbClr val="EDF2F7"/>
                </a:solidFill>
                <a:latin typeface="Aptos"/>
              </a:defRPr>
            </a:pPr>
            <a:r>
              <a:t>Use for a lazy, parameter-free class-based Singleton.</a:t>
            </a:r>
          </a:p>
        </p:txBody>
      </p:sp>
      <p:sp>
        <p:nvSpPr>
          <p:cNvPr id="10" name="Rounded Rectangle 9"/>
          <p:cNvSpPr/>
          <p:nvPr/>
        </p:nvSpPr>
        <p:spPr>
          <a:xfrm>
            <a:off x="621792" y="3721608"/>
            <a:ext cx="5367528" cy="2039112"/>
          </a:xfrm>
          <a:prstGeom prst="roundRect">
            <a:avLst/>
          </a:prstGeom>
          <a:solidFill>
            <a:srgbClr val="1C29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77824" y="3941064"/>
            <a:ext cx="4855464" cy="292608"/>
          </a:xfrm>
          <a:prstGeom prst="rect">
            <a:avLst/>
          </a:prstGeom>
          <a:noFill/>
        </p:spPr>
        <p:txBody>
          <a:bodyPr wrap="square" lIns="45720" rIns="45720">
            <a:spAutoFit/>
          </a:bodyPr>
          <a:lstStyle/>
          <a:p>
            <a:pPr>
              <a:defRPr sz="1300" b="1">
                <a:solidFill>
                  <a:srgbClr val="46D9C3"/>
                </a:solidFill>
                <a:latin typeface="Aptos"/>
              </a:defRPr>
            </a:pPr>
            <a:r>
              <a:t>ENUM</a:t>
            </a:r>
          </a:p>
        </p:txBody>
      </p:sp>
      <p:sp>
        <p:nvSpPr>
          <p:cNvPr id="12" name="TextBox 11"/>
          <p:cNvSpPr txBox="1"/>
          <p:nvPr/>
        </p:nvSpPr>
        <p:spPr>
          <a:xfrm>
            <a:off x="877824" y="4416552"/>
            <a:ext cx="4855464" cy="786384"/>
          </a:xfrm>
          <a:prstGeom prst="rect">
            <a:avLst/>
          </a:prstGeom>
          <a:noFill/>
        </p:spPr>
        <p:txBody>
          <a:bodyPr wrap="square" lIns="45720" rIns="45720">
            <a:spAutoFit/>
          </a:bodyPr>
          <a:lstStyle/>
          <a:p>
            <a:pPr>
              <a:defRPr sz="1800" b="1">
                <a:solidFill>
                  <a:srgbClr val="EDF2F7"/>
                </a:solidFill>
                <a:latin typeface="Aptos"/>
              </a:defRPr>
            </a:pPr>
            <a:r>
              <a:t>Use for a fixed, self-contained shared policy.</a:t>
            </a:r>
          </a:p>
        </p:txBody>
      </p:sp>
      <p:sp>
        <p:nvSpPr>
          <p:cNvPr id="13" name="Rounded Rectangle 12"/>
          <p:cNvSpPr/>
          <p:nvPr/>
        </p:nvSpPr>
        <p:spPr>
          <a:xfrm>
            <a:off x="6190488" y="3721608"/>
            <a:ext cx="5367528" cy="2039112"/>
          </a:xfrm>
          <a:prstGeom prst="roundRect">
            <a:avLst/>
          </a:prstGeom>
          <a:solidFill>
            <a:srgbClr val="1C29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3941064"/>
            <a:ext cx="4855464" cy="292608"/>
          </a:xfrm>
          <a:prstGeom prst="rect">
            <a:avLst/>
          </a:prstGeom>
          <a:noFill/>
        </p:spPr>
        <p:txBody>
          <a:bodyPr wrap="square" lIns="45720" rIns="45720">
            <a:spAutoFit/>
          </a:bodyPr>
          <a:lstStyle/>
          <a:p>
            <a:pPr>
              <a:defRPr sz="1300" b="1">
                <a:solidFill>
                  <a:srgbClr val="46D9C3"/>
                </a:solidFill>
                <a:latin typeface="Aptos"/>
              </a:defRPr>
            </a:pPr>
            <a:r>
              <a:t>RETHINK GLOBAL ACCESS</a:t>
            </a:r>
          </a:p>
        </p:txBody>
      </p:sp>
      <p:sp>
        <p:nvSpPr>
          <p:cNvPr id="15" name="TextBox 14"/>
          <p:cNvSpPr txBox="1"/>
          <p:nvPr/>
        </p:nvSpPr>
        <p:spPr>
          <a:xfrm>
            <a:off x="6446520" y="4416552"/>
            <a:ext cx="4855464" cy="786384"/>
          </a:xfrm>
          <a:prstGeom prst="rect">
            <a:avLst/>
          </a:prstGeom>
          <a:noFill/>
        </p:spPr>
        <p:txBody>
          <a:bodyPr wrap="square" lIns="45720" rIns="45720">
            <a:spAutoFit/>
          </a:bodyPr>
          <a:lstStyle/>
          <a:p>
            <a:pPr>
              <a:defRPr sz="1800" b="1">
                <a:solidFill>
                  <a:srgbClr val="EDF2F7"/>
                </a:solidFill>
                <a:latin typeface="Aptos"/>
              </a:defRPr>
            </a:pPr>
            <a:r>
              <a:t>Consider dependencies, lifecycle, mutable state, and test isolation.</a:t>
            </a:r>
          </a:p>
        </p:txBody>
      </p:sp>
      <p:sp>
        <p:nvSpPr>
          <p:cNvPr id="16" name="TextBox 15"/>
          <p:cNvSpPr txBox="1"/>
          <p:nvPr/>
        </p:nvSpPr>
        <p:spPr>
          <a:xfrm>
            <a:off x="658368" y="6007608"/>
            <a:ext cx="10881360" cy="329184"/>
          </a:xfrm>
          <a:prstGeom prst="rect">
            <a:avLst/>
          </a:prstGeom>
          <a:noFill/>
        </p:spPr>
        <p:txBody>
          <a:bodyPr wrap="square" lIns="45720" rIns="45720">
            <a:spAutoFit/>
          </a:bodyPr>
          <a:lstStyle/>
          <a:p>
            <a:pPr>
              <a:defRPr sz="1400" b="1">
                <a:solidFill>
                  <a:srgbClr val="FFD479"/>
                </a:solidFill>
                <a:latin typeface="Aptos"/>
              </a:defRPr>
            </a:pPr>
            <a:r>
              <a:t>Instance creation, state safety, scope, and lifecycle are separate design decisions.</a:t>
            </a:r>
          </a:p>
        </p:txBody>
      </p:sp>
      <p:sp>
        <p:nvSpPr>
          <p:cNvPr id="17" name="TextBox 16"/>
          <p:cNvSpPr txBox="1"/>
          <p:nvPr/>
        </p:nvSpPr>
        <p:spPr>
          <a:xfrm>
            <a:off x="640080" y="6510528"/>
            <a:ext cx="7315200" cy="164592"/>
          </a:xfrm>
          <a:prstGeom prst="rect">
            <a:avLst/>
          </a:prstGeom>
          <a:noFill/>
        </p:spPr>
        <p:txBody>
          <a:bodyPr wrap="square" lIns="45720" rIns="45720">
            <a:spAutoFit/>
          </a:bodyPr>
          <a:lstStyle/>
          <a:p>
            <a:pPr>
              <a:defRPr sz="800" b="0">
                <a:solidFill>
                  <a:srgbClr val="ACBDD2"/>
                </a:solidFill>
                <a:latin typeface="Aptos"/>
              </a:defRPr>
            </a:pPr>
            <a:r>
              <a:t>JAVA SINGLETON  |  DESIGN AND INTERVIEW REVIEW</a:t>
            </a:r>
          </a:p>
        </p:txBody>
      </p:sp>
      <p:sp>
        <p:nvSpPr>
          <p:cNvPr id="18" name="TextBox 17"/>
          <p:cNvSpPr txBox="1"/>
          <p:nvPr/>
        </p:nvSpPr>
        <p:spPr>
          <a:xfrm>
            <a:off x="10789920" y="6492240"/>
            <a:ext cx="731520" cy="182880"/>
          </a:xfrm>
          <a:prstGeom prst="rect">
            <a:avLst/>
          </a:prstGeom>
          <a:noFill/>
        </p:spPr>
        <p:txBody>
          <a:bodyPr wrap="square" lIns="45720" rIns="45720">
            <a:spAutoFit/>
          </a:bodyPr>
          <a:lstStyle/>
          <a:p>
            <a:pPr>
              <a:defRPr sz="900" b="0">
                <a:solidFill>
                  <a:srgbClr val="ACBDD2"/>
                </a:solidFill>
                <a:latin typeface="Aptos"/>
              </a:defRPr>
            </a:pPr>
            <a:r>
              <a:t>08 /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01827"/>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10927080" cy="310896"/>
          </a:xfrm>
          <a:prstGeom prst="rect">
            <a:avLst/>
          </a:prstGeom>
          <a:noFill/>
        </p:spPr>
        <p:txBody>
          <a:bodyPr wrap="square" lIns="45720" rIns="45720">
            <a:spAutoFit/>
          </a:bodyPr>
          <a:lstStyle/>
          <a:p>
            <a:pPr>
              <a:defRPr sz="1100" b="1">
                <a:solidFill>
                  <a:srgbClr val="46D9C3"/>
                </a:solidFill>
                <a:latin typeface="Aptos"/>
              </a:defRPr>
            </a:pPr>
            <a:r>
              <a:t>08  |  INTERVIEW QUESTIONS</a:t>
            </a:r>
          </a:p>
        </p:txBody>
      </p:sp>
      <p:sp>
        <p:nvSpPr>
          <p:cNvPr id="3" name="TextBox 2"/>
          <p:cNvSpPr txBox="1"/>
          <p:nvPr/>
        </p:nvSpPr>
        <p:spPr>
          <a:xfrm>
            <a:off x="621792" y="621792"/>
            <a:ext cx="10927080" cy="658368"/>
          </a:xfrm>
          <a:prstGeom prst="rect">
            <a:avLst/>
          </a:prstGeom>
          <a:noFill/>
        </p:spPr>
        <p:txBody>
          <a:bodyPr wrap="square" lIns="45720" rIns="45720">
            <a:spAutoFit/>
          </a:bodyPr>
          <a:lstStyle/>
          <a:p>
            <a:pPr>
              <a:defRPr sz="2900" b="1">
                <a:solidFill>
                  <a:srgbClr val="EDF2F7"/>
                </a:solidFill>
                <a:latin typeface="Aptos"/>
              </a:defRPr>
            </a:pPr>
            <a:r>
              <a:t>Singleton interview questions</a:t>
            </a:r>
          </a:p>
        </p:txBody>
      </p:sp>
      <p:sp>
        <p:nvSpPr>
          <p:cNvPr id="4" name="Rounded Rectangle 3"/>
          <p:cNvSpPr/>
          <p:nvPr/>
        </p:nvSpPr>
        <p:spPr>
          <a:xfrm>
            <a:off x="621792" y="1481328"/>
            <a:ext cx="5358384" cy="4352544"/>
          </a:xfrm>
          <a:prstGeom prst="roundRect">
            <a:avLst/>
          </a:prstGeom>
          <a:solidFill>
            <a:srgbClr val="1C29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664208"/>
            <a:ext cx="347472" cy="274320"/>
          </a:xfrm>
          <a:prstGeom prst="rect">
            <a:avLst/>
          </a:prstGeom>
          <a:noFill/>
        </p:spPr>
        <p:txBody>
          <a:bodyPr wrap="square" lIns="45720" rIns="45720">
            <a:spAutoFit/>
          </a:bodyPr>
          <a:lstStyle/>
          <a:p>
            <a:pPr>
              <a:defRPr sz="1100" b="1">
                <a:solidFill>
                  <a:srgbClr val="46D9C3"/>
                </a:solidFill>
                <a:latin typeface="Aptos"/>
              </a:defRPr>
            </a:pPr>
            <a:r>
              <a:t>01</a:t>
            </a:r>
          </a:p>
        </p:txBody>
      </p:sp>
      <p:sp>
        <p:nvSpPr>
          <p:cNvPr id="6" name="TextBox 5"/>
          <p:cNvSpPr txBox="1"/>
          <p:nvPr/>
        </p:nvSpPr>
        <p:spPr>
          <a:xfrm>
            <a:off x="1216152" y="1645920"/>
            <a:ext cx="4562856" cy="658368"/>
          </a:xfrm>
          <a:prstGeom prst="rect">
            <a:avLst/>
          </a:prstGeom>
          <a:noFill/>
        </p:spPr>
        <p:txBody>
          <a:bodyPr wrap="square" lIns="45720" rIns="45720">
            <a:spAutoFit/>
          </a:bodyPr>
          <a:lstStyle/>
          <a:p>
            <a:pPr>
              <a:defRPr sz="1500" b="0">
                <a:solidFill>
                  <a:srgbClr val="EDF2F7"/>
                </a:solidFill>
                <a:latin typeface="Aptos"/>
              </a:defRPr>
            </a:pPr>
            <a:r>
              <a:t>What problem does the Singleton pattern solve, and what are its main tradeoffs?</a:t>
            </a:r>
          </a:p>
        </p:txBody>
      </p:sp>
      <p:sp>
        <p:nvSpPr>
          <p:cNvPr id="7" name="TextBox 6"/>
          <p:cNvSpPr txBox="1"/>
          <p:nvPr/>
        </p:nvSpPr>
        <p:spPr>
          <a:xfrm>
            <a:off x="822960" y="2441448"/>
            <a:ext cx="347472" cy="274320"/>
          </a:xfrm>
          <a:prstGeom prst="rect">
            <a:avLst/>
          </a:prstGeom>
          <a:noFill/>
        </p:spPr>
        <p:txBody>
          <a:bodyPr wrap="square" lIns="45720" rIns="45720">
            <a:spAutoFit/>
          </a:bodyPr>
          <a:lstStyle/>
          <a:p>
            <a:pPr>
              <a:defRPr sz="1100" b="1">
                <a:solidFill>
                  <a:srgbClr val="46D9C3"/>
                </a:solidFill>
                <a:latin typeface="Aptos"/>
              </a:defRPr>
            </a:pPr>
            <a:r>
              <a:t>02</a:t>
            </a:r>
          </a:p>
        </p:txBody>
      </p:sp>
      <p:sp>
        <p:nvSpPr>
          <p:cNvPr id="8" name="TextBox 7"/>
          <p:cNvSpPr txBox="1"/>
          <p:nvPr/>
        </p:nvSpPr>
        <p:spPr>
          <a:xfrm>
            <a:off x="1216152" y="2423160"/>
            <a:ext cx="4562856" cy="658368"/>
          </a:xfrm>
          <a:prstGeom prst="rect">
            <a:avLst/>
          </a:prstGeom>
          <a:noFill/>
        </p:spPr>
        <p:txBody>
          <a:bodyPr wrap="square" lIns="45720" rIns="45720">
            <a:spAutoFit/>
          </a:bodyPr>
          <a:lstStyle/>
          <a:p>
            <a:pPr>
              <a:defRPr sz="1500" b="0">
                <a:solidFill>
                  <a:srgbClr val="EDF2F7"/>
                </a:solidFill>
                <a:latin typeface="Aptos"/>
              </a:defRPr>
            </a:pPr>
            <a:r>
              <a:t>What is the difference between eager and lazy initialization?</a:t>
            </a:r>
          </a:p>
        </p:txBody>
      </p:sp>
      <p:sp>
        <p:nvSpPr>
          <p:cNvPr id="9" name="TextBox 8"/>
          <p:cNvSpPr txBox="1"/>
          <p:nvPr/>
        </p:nvSpPr>
        <p:spPr>
          <a:xfrm>
            <a:off x="822960" y="3218688"/>
            <a:ext cx="347472" cy="274320"/>
          </a:xfrm>
          <a:prstGeom prst="rect">
            <a:avLst/>
          </a:prstGeom>
          <a:noFill/>
        </p:spPr>
        <p:txBody>
          <a:bodyPr wrap="square" lIns="45720" rIns="45720">
            <a:spAutoFit/>
          </a:bodyPr>
          <a:lstStyle/>
          <a:p>
            <a:pPr>
              <a:defRPr sz="1100" b="1">
                <a:solidFill>
                  <a:srgbClr val="46D9C3"/>
                </a:solidFill>
                <a:latin typeface="Aptos"/>
              </a:defRPr>
            </a:pPr>
            <a:r>
              <a:t>03</a:t>
            </a:r>
          </a:p>
        </p:txBody>
      </p:sp>
      <p:sp>
        <p:nvSpPr>
          <p:cNvPr id="10" name="TextBox 9"/>
          <p:cNvSpPr txBox="1"/>
          <p:nvPr/>
        </p:nvSpPr>
        <p:spPr>
          <a:xfrm>
            <a:off x="1216152" y="3200400"/>
            <a:ext cx="4562856" cy="658368"/>
          </a:xfrm>
          <a:prstGeom prst="rect">
            <a:avLst/>
          </a:prstGeom>
          <a:noFill/>
        </p:spPr>
        <p:txBody>
          <a:bodyPr wrap="square" lIns="45720" rIns="45720">
            <a:spAutoFit/>
          </a:bodyPr>
          <a:lstStyle/>
          <a:p>
            <a:pPr>
              <a:defRPr sz="1500" b="0">
                <a:solidFill>
                  <a:srgbClr val="EDF2F7"/>
                </a:solidFill>
                <a:latin typeface="Aptos"/>
              </a:defRPr>
            </a:pPr>
            <a:r>
              <a:t>Why can a simple lazy Singleton create multiple instances under concurrent access?</a:t>
            </a:r>
          </a:p>
        </p:txBody>
      </p:sp>
      <p:sp>
        <p:nvSpPr>
          <p:cNvPr id="11" name="TextBox 10"/>
          <p:cNvSpPr txBox="1"/>
          <p:nvPr/>
        </p:nvSpPr>
        <p:spPr>
          <a:xfrm>
            <a:off x="822960" y="3995928"/>
            <a:ext cx="347472" cy="274320"/>
          </a:xfrm>
          <a:prstGeom prst="rect">
            <a:avLst/>
          </a:prstGeom>
          <a:noFill/>
        </p:spPr>
        <p:txBody>
          <a:bodyPr wrap="square" lIns="45720" rIns="45720">
            <a:spAutoFit/>
          </a:bodyPr>
          <a:lstStyle/>
          <a:p>
            <a:pPr>
              <a:defRPr sz="1100" b="1">
                <a:solidFill>
                  <a:srgbClr val="46D9C3"/>
                </a:solidFill>
                <a:latin typeface="Aptos"/>
              </a:defRPr>
            </a:pPr>
            <a:r>
              <a:t>04</a:t>
            </a:r>
          </a:p>
        </p:txBody>
      </p:sp>
      <p:sp>
        <p:nvSpPr>
          <p:cNvPr id="12" name="TextBox 11"/>
          <p:cNvSpPr txBox="1"/>
          <p:nvPr/>
        </p:nvSpPr>
        <p:spPr>
          <a:xfrm>
            <a:off x="1216152" y="3977640"/>
            <a:ext cx="4562856" cy="658368"/>
          </a:xfrm>
          <a:prstGeom prst="rect">
            <a:avLst/>
          </a:prstGeom>
          <a:noFill/>
        </p:spPr>
        <p:txBody>
          <a:bodyPr wrap="square" lIns="45720" rIns="45720">
            <a:spAutoFit/>
          </a:bodyPr>
          <a:lstStyle/>
          <a:p>
            <a:pPr>
              <a:defRPr sz="1500" b="0">
                <a:solidFill>
                  <a:srgbClr val="EDF2F7"/>
                </a:solidFill>
                <a:latin typeface="Aptos"/>
              </a:defRPr>
            </a:pPr>
            <a:r>
              <a:t>How does a synchronized accessor protect creation, and which monitor does it use?</a:t>
            </a:r>
          </a:p>
        </p:txBody>
      </p:sp>
      <p:sp>
        <p:nvSpPr>
          <p:cNvPr id="13" name="Rounded Rectangle 12"/>
          <p:cNvSpPr/>
          <p:nvPr/>
        </p:nvSpPr>
        <p:spPr>
          <a:xfrm>
            <a:off x="6199632" y="1481328"/>
            <a:ext cx="5358384" cy="4352544"/>
          </a:xfrm>
          <a:prstGeom prst="roundRect">
            <a:avLst/>
          </a:prstGeom>
          <a:solidFill>
            <a:srgbClr val="1C29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0" y="1664208"/>
            <a:ext cx="347472" cy="274320"/>
          </a:xfrm>
          <a:prstGeom prst="rect">
            <a:avLst/>
          </a:prstGeom>
          <a:noFill/>
        </p:spPr>
        <p:txBody>
          <a:bodyPr wrap="square" lIns="45720" rIns="45720">
            <a:spAutoFit/>
          </a:bodyPr>
          <a:lstStyle/>
          <a:p>
            <a:pPr>
              <a:defRPr sz="1100" b="1">
                <a:solidFill>
                  <a:srgbClr val="46D9C3"/>
                </a:solidFill>
                <a:latin typeface="Aptos"/>
              </a:defRPr>
            </a:pPr>
            <a:r>
              <a:t>05</a:t>
            </a:r>
          </a:p>
        </p:txBody>
      </p:sp>
      <p:sp>
        <p:nvSpPr>
          <p:cNvPr id="15" name="TextBox 14"/>
          <p:cNvSpPr txBox="1"/>
          <p:nvPr/>
        </p:nvSpPr>
        <p:spPr>
          <a:xfrm>
            <a:off x="6793992" y="1645920"/>
            <a:ext cx="4562856" cy="896112"/>
          </a:xfrm>
          <a:prstGeom prst="rect">
            <a:avLst/>
          </a:prstGeom>
          <a:noFill/>
        </p:spPr>
        <p:txBody>
          <a:bodyPr wrap="square" lIns="45720" rIns="45720">
            <a:spAutoFit/>
          </a:bodyPr>
          <a:lstStyle/>
          <a:p>
            <a:pPr>
              <a:defRPr sz="1500" b="0">
                <a:solidFill>
                  <a:srgbClr val="EDF2F7"/>
                </a:solidFill>
                <a:latin typeface="Aptos"/>
              </a:defRPr>
            </a:pPr>
            <a:r>
              <a:t>How does double-checked locking work, and why does it need both volatile and the inner check?</a:t>
            </a:r>
          </a:p>
        </p:txBody>
      </p:sp>
      <p:sp>
        <p:nvSpPr>
          <p:cNvPr id="16" name="TextBox 15"/>
          <p:cNvSpPr txBox="1"/>
          <p:nvPr/>
        </p:nvSpPr>
        <p:spPr>
          <a:xfrm>
            <a:off x="6400800" y="2679191"/>
            <a:ext cx="347472" cy="274320"/>
          </a:xfrm>
          <a:prstGeom prst="rect">
            <a:avLst/>
          </a:prstGeom>
          <a:noFill/>
        </p:spPr>
        <p:txBody>
          <a:bodyPr wrap="square" lIns="45720" rIns="45720">
            <a:spAutoFit/>
          </a:bodyPr>
          <a:lstStyle/>
          <a:p>
            <a:pPr>
              <a:defRPr sz="1100" b="1">
                <a:solidFill>
                  <a:srgbClr val="46D9C3"/>
                </a:solidFill>
                <a:latin typeface="Aptos"/>
              </a:defRPr>
            </a:pPr>
            <a:r>
              <a:t>06</a:t>
            </a:r>
          </a:p>
        </p:txBody>
      </p:sp>
      <p:sp>
        <p:nvSpPr>
          <p:cNvPr id="17" name="TextBox 16"/>
          <p:cNvSpPr txBox="1"/>
          <p:nvPr/>
        </p:nvSpPr>
        <p:spPr>
          <a:xfrm>
            <a:off x="6793992" y="2660903"/>
            <a:ext cx="4562856" cy="658368"/>
          </a:xfrm>
          <a:prstGeom prst="rect">
            <a:avLst/>
          </a:prstGeom>
          <a:noFill/>
        </p:spPr>
        <p:txBody>
          <a:bodyPr wrap="square" lIns="45720" rIns="45720">
            <a:spAutoFit/>
          </a:bodyPr>
          <a:lstStyle/>
          <a:p>
            <a:pPr>
              <a:defRPr sz="1500" b="0">
                <a:solidFill>
                  <a:srgbClr val="EDF2F7"/>
                </a:solidFill>
                <a:latin typeface="Aptos"/>
              </a:defRPr>
            </a:pPr>
            <a:r>
              <a:t>What does volatile guarantee in a Singleton, and what does it not guarantee?</a:t>
            </a:r>
          </a:p>
        </p:txBody>
      </p:sp>
      <p:sp>
        <p:nvSpPr>
          <p:cNvPr id="18" name="TextBox 17"/>
          <p:cNvSpPr txBox="1"/>
          <p:nvPr/>
        </p:nvSpPr>
        <p:spPr>
          <a:xfrm>
            <a:off x="6400800" y="3456432"/>
            <a:ext cx="347472" cy="274320"/>
          </a:xfrm>
          <a:prstGeom prst="rect">
            <a:avLst/>
          </a:prstGeom>
          <a:noFill/>
        </p:spPr>
        <p:txBody>
          <a:bodyPr wrap="square" lIns="45720" rIns="45720">
            <a:spAutoFit/>
          </a:bodyPr>
          <a:lstStyle/>
          <a:p>
            <a:pPr>
              <a:defRPr sz="1100" b="1">
                <a:solidFill>
                  <a:srgbClr val="46D9C3"/>
                </a:solidFill>
                <a:latin typeface="Aptos"/>
              </a:defRPr>
            </a:pPr>
            <a:r>
              <a:t>07</a:t>
            </a:r>
          </a:p>
        </p:txBody>
      </p:sp>
      <p:sp>
        <p:nvSpPr>
          <p:cNvPr id="19" name="TextBox 18"/>
          <p:cNvSpPr txBox="1"/>
          <p:nvPr/>
        </p:nvSpPr>
        <p:spPr>
          <a:xfrm>
            <a:off x="6793992" y="3438144"/>
            <a:ext cx="4562856" cy="658368"/>
          </a:xfrm>
          <a:prstGeom prst="rect">
            <a:avLst/>
          </a:prstGeom>
          <a:noFill/>
        </p:spPr>
        <p:txBody>
          <a:bodyPr wrap="square" lIns="45720" rIns="45720">
            <a:spAutoFit/>
          </a:bodyPr>
          <a:lstStyle/>
          <a:p>
            <a:pPr>
              <a:defRPr sz="1500" b="0">
                <a:solidFill>
                  <a:srgbClr val="EDF2F7"/>
                </a:solidFill>
                <a:latin typeface="Aptos"/>
              </a:defRPr>
            </a:pPr>
            <a:r>
              <a:t>How does the Bill Pugh holder idiom provide lazy, thread-safe initialization?</a:t>
            </a:r>
          </a:p>
        </p:txBody>
      </p:sp>
      <p:sp>
        <p:nvSpPr>
          <p:cNvPr id="20" name="TextBox 19"/>
          <p:cNvSpPr txBox="1"/>
          <p:nvPr/>
        </p:nvSpPr>
        <p:spPr>
          <a:xfrm>
            <a:off x="6400800" y="4233672"/>
            <a:ext cx="347472" cy="274320"/>
          </a:xfrm>
          <a:prstGeom prst="rect">
            <a:avLst/>
          </a:prstGeom>
          <a:noFill/>
        </p:spPr>
        <p:txBody>
          <a:bodyPr wrap="square" lIns="45720" rIns="45720">
            <a:spAutoFit/>
          </a:bodyPr>
          <a:lstStyle/>
          <a:p>
            <a:pPr>
              <a:defRPr sz="1100" b="1">
                <a:solidFill>
                  <a:srgbClr val="46D9C3"/>
                </a:solidFill>
                <a:latin typeface="Aptos"/>
              </a:defRPr>
            </a:pPr>
            <a:r>
              <a:t>08</a:t>
            </a:r>
          </a:p>
        </p:txBody>
      </p:sp>
      <p:sp>
        <p:nvSpPr>
          <p:cNvPr id="21" name="TextBox 20"/>
          <p:cNvSpPr txBox="1"/>
          <p:nvPr/>
        </p:nvSpPr>
        <p:spPr>
          <a:xfrm>
            <a:off x="6793992" y="4215384"/>
            <a:ext cx="4562856" cy="896112"/>
          </a:xfrm>
          <a:prstGeom prst="rect">
            <a:avLst/>
          </a:prstGeom>
          <a:noFill/>
        </p:spPr>
        <p:txBody>
          <a:bodyPr wrap="square" lIns="45720" rIns="45720">
            <a:spAutoFit/>
          </a:bodyPr>
          <a:lstStyle/>
          <a:p>
            <a:pPr>
              <a:defRPr sz="1500" b="0">
                <a:solidFill>
                  <a:srgbClr val="EDF2F7"/>
                </a:solidFill>
                <a:latin typeface="Aptos"/>
              </a:defRPr>
            </a:pPr>
            <a:r>
              <a:t>Is a Singleton unique across the JVM, or can different class loaders create separate instances?</a:t>
            </a:r>
          </a:p>
        </p:txBody>
      </p:sp>
      <p:sp>
        <p:nvSpPr>
          <p:cNvPr id="22" name="TextBox 21"/>
          <p:cNvSpPr txBox="1"/>
          <p:nvPr/>
        </p:nvSpPr>
        <p:spPr>
          <a:xfrm>
            <a:off x="640080" y="6510528"/>
            <a:ext cx="7315200" cy="164592"/>
          </a:xfrm>
          <a:prstGeom prst="rect">
            <a:avLst/>
          </a:prstGeom>
          <a:noFill/>
        </p:spPr>
        <p:txBody>
          <a:bodyPr wrap="square" lIns="45720" rIns="45720">
            <a:spAutoFit/>
          </a:bodyPr>
          <a:lstStyle/>
          <a:p>
            <a:pPr>
              <a:defRPr sz="800" b="0">
                <a:solidFill>
                  <a:srgbClr val="ACBDD2"/>
                </a:solidFill>
                <a:latin typeface="Aptos"/>
              </a:defRPr>
            </a:pPr>
            <a:r>
              <a:t>JAVA SINGLETON  |  DESIGN AND INTERVIEW REVIEW</a:t>
            </a:r>
          </a:p>
        </p:txBody>
      </p:sp>
      <p:sp>
        <p:nvSpPr>
          <p:cNvPr id="23" name="TextBox 22"/>
          <p:cNvSpPr txBox="1"/>
          <p:nvPr/>
        </p:nvSpPr>
        <p:spPr>
          <a:xfrm>
            <a:off x="10789920" y="6492240"/>
            <a:ext cx="731520" cy="182880"/>
          </a:xfrm>
          <a:prstGeom prst="rect">
            <a:avLst/>
          </a:prstGeom>
          <a:noFill/>
        </p:spPr>
        <p:txBody>
          <a:bodyPr wrap="square" lIns="45720" rIns="45720">
            <a:spAutoFit/>
          </a:bodyPr>
          <a:lstStyle/>
          <a:p>
            <a:pPr>
              <a:defRPr sz="900" b="0">
                <a:solidFill>
                  <a:srgbClr val="ACBDD2"/>
                </a:solidFill>
                <a:latin typeface="Aptos"/>
              </a:defRPr>
            </a:pPr>
            <a:r>
              <a:t>09 / 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01827"/>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10927080" cy="310896"/>
          </a:xfrm>
          <a:prstGeom prst="rect">
            <a:avLst/>
          </a:prstGeom>
          <a:noFill/>
        </p:spPr>
        <p:txBody>
          <a:bodyPr wrap="square" lIns="45720" rIns="45720">
            <a:spAutoFit/>
          </a:bodyPr>
          <a:lstStyle/>
          <a:p>
            <a:pPr>
              <a:defRPr sz="1100" b="1">
                <a:solidFill>
                  <a:srgbClr val="46D9C3"/>
                </a:solidFill>
                <a:latin typeface="Aptos"/>
              </a:defRPr>
            </a:pPr>
            <a:r>
              <a:t>08  |  INTERVIEW QUESTIONS</a:t>
            </a:r>
          </a:p>
        </p:txBody>
      </p:sp>
      <p:sp>
        <p:nvSpPr>
          <p:cNvPr id="3" name="TextBox 2"/>
          <p:cNvSpPr txBox="1"/>
          <p:nvPr/>
        </p:nvSpPr>
        <p:spPr>
          <a:xfrm>
            <a:off x="621792" y="621792"/>
            <a:ext cx="10927080" cy="658368"/>
          </a:xfrm>
          <a:prstGeom prst="rect">
            <a:avLst/>
          </a:prstGeom>
          <a:noFill/>
        </p:spPr>
        <p:txBody>
          <a:bodyPr wrap="square" lIns="45720" rIns="45720">
            <a:spAutoFit/>
          </a:bodyPr>
          <a:lstStyle/>
          <a:p>
            <a:pPr>
              <a:defRPr sz="2900" b="1">
                <a:solidFill>
                  <a:srgbClr val="EDF2F7"/>
                </a:solidFill>
                <a:latin typeface="Aptos"/>
              </a:defRPr>
            </a:pPr>
            <a:r>
              <a:t>Singleton interview questions</a:t>
            </a:r>
          </a:p>
        </p:txBody>
      </p:sp>
      <p:sp>
        <p:nvSpPr>
          <p:cNvPr id="4" name="Rounded Rectangle 3"/>
          <p:cNvSpPr/>
          <p:nvPr/>
        </p:nvSpPr>
        <p:spPr>
          <a:xfrm>
            <a:off x="621792" y="1481328"/>
            <a:ext cx="5358384" cy="4352544"/>
          </a:xfrm>
          <a:prstGeom prst="roundRect">
            <a:avLst/>
          </a:prstGeom>
          <a:solidFill>
            <a:srgbClr val="1C29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664208"/>
            <a:ext cx="347472" cy="274320"/>
          </a:xfrm>
          <a:prstGeom prst="rect">
            <a:avLst/>
          </a:prstGeom>
          <a:noFill/>
        </p:spPr>
        <p:txBody>
          <a:bodyPr wrap="square" lIns="45720" rIns="45720">
            <a:spAutoFit/>
          </a:bodyPr>
          <a:lstStyle/>
          <a:p>
            <a:pPr>
              <a:defRPr sz="1100" b="1">
                <a:solidFill>
                  <a:srgbClr val="46D9C3"/>
                </a:solidFill>
                <a:latin typeface="Aptos"/>
              </a:defRPr>
            </a:pPr>
            <a:r>
              <a:t>09</a:t>
            </a:r>
          </a:p>
        </p:txBody>
      </p:sp>
      <p:sp>
        <p:nvSpPr>
          <p:cNvPr id="6" name="TextBox 5"/>
          <p:cNvSpPr txBox="1"/>
          <p:nvPr/>
        </p:nvSpPr>
        <p:spPr>
          <a:xfrm>
            <a:off x="1216152" y="1645920"/>
            <a:ext cx="4562856" cy="896112"/>
          </a:xfrm>
          <a:prstGeom prst="rect">
            <a:avLst/>
          </a:prstGeom>
          <a:noFill/>
        </p:spPr>
        <p:txBody>
          <a:bodyPr wrap="square" lIns="45720" rIns="45720">
            <a:spAutoFit/>
          </a:bodyPr>
          <a:lstStyle/>
          <a:p>
            <a:pPr>
              <a:defRPr sz="1500" b="0">
                <a:solidFill>
                  <a:srgbClr val="EDF2F7"/>
                </a:solidFill>
                <a:latin typeface="Aptos"/>
              </a:defRPr>
            </a:pPr>
            <a:r>
              <a:t>How can reflection break a class-based Singleton, and what are the limits of a constructor guard?</a:t>
            </a:r>
          </a:p>
        </p:txBody>
      </p:sp>
      <p:sp>
        <p:nvSpPr>
          <p:cNvPr id="7" name="TextBox 6"/>
          <p:cNvSpPr txBox="1"/>
          <p:nvPr/>
        </p:nvSpPr>
        <p:spPr>
          <a:xfrm>
            <a:off x="822960" y="2679191"/>
            <a:ext cx="347472" cy="274320"/>
          </a:xfrm>
          <a:prstGeom prst="rect">
            <a:avLst/>
          </a:prstGeom>
          <a:noFill/>
        </p:spPr>
        <p:txBody>
          <a:bodyPr wrap="square" lIns="45720" rIns="45720">
            <a:spAutoFit/>
          </a:bodyPr>
          <a:lstStyle/>
          <a:p>
            <a:pPr>
              <a:defRPr sz="1100" b="1">
                <a:solidFill>
                  <a:srgbClr val="46D9C3"/>
                </a:solidFill>
                <a:latin typeface="Aptos"/>
              </a:defRPr>
            </a:pPr>
            <a:r>
              <a:t>10</a:t>
            </a:r>
          </a:p>
        </p:txBody>
      </p:sp>
      <p:sp>
        <p:nvSpPr>
          <p:cNvPr id="8" name="TextBox 7"/>
          <p:cNvSpPr txBox="1"/>
          <p:nvPr/>
        </p:nvSpPr>
        <p:spPr>
          <a:xfrm>
            <a:off x="1216152" y="2660903"/>
            <a:ext cx="4562856" cy="658368"/>
          </a:xfrm>
          <a:prstGeom prst="rect">
            <a:avLst/>
          </a:prstGeom>
          <a:noFill/>
        </p:spPr>
        <p:txBody>
          <a:bodyPr wrap="square" lIns="45720" rIns="45720">
            <a:spAutoFit/>
          </a:bodyPr>
          <a:lstStyle/>
          <a:p>
            <a:pPr>
              <a:defRPr sz="1500" b="0">
                <a:solidFill>
                  <a:srgbClr val="EDF2F7"/>
                </a:solidFill>
                <a:latin typeface="Aptos"/>
              </a:defRPr>
            </a:pPr>
            <a:r>
              <a:t>How can serialization break a Singleton, and how does readResolve() help?</a:t>
            </a:r>
          </a:p>
        </p:txBody>
      </p:sp>
      <p:sp>
        <p:nvSpPr>
          <p:cNvPr id="9" name="TextBox 8"/>
          <p:cNvSpPr txBox="1"/>
          <p:nvPr/>
        </p:nvSpPr>
        <p:spPr>
          <a:xfrm>
            <a:off x="822960" y="3456432"/>
            <a:ext cx="347472" cy="274320"/>
          </a:xfrm>
          <a:prstGeom prst="rect">
            <a:avLst/>
          </a:prstGeom>
          <a:noFill/>
        </p:spPr>
        <p:txBody>
          <a:bodyPr wrap="square" lIns="45720" rIns="45720">
            <a:spAutoFit/>
          </a:bodyPr>
          <a:lstStyle/>
          <a:p>
            <a:pPr>
              <a:defRPr sz="1100" b="1">
                <a:solidFill>
                  <a:srgbClr val="46D9C3"/>
                </a:solidFill>
                <a:latin typeface="Aptos"/>
              </a:defRPr>
            </a:pPr>
            <a:r>
              <a:t>11</a:t>
            </a:r>
          </a:p>
        </p:txBody>
      </p:sp>
      <p:sp>
        <p:nvSpPr>
          <p:cNvPr id="10" name="TextBox 9"/>
          <p:cNvSpPr txBox="1"/>
          <p:nvPr/>
        </p:nvSpPr>
        <p:spPr>
          <a:xfrm>
            <a:off x="1216152" y="3438144"/>
            <a:ext cx="4562856" cy="658368"/>
          </a:xfrm>
          <a:prstGeom prst="rect">
            <a:avLst/>
          </a:prstGeom>
          <a:noFill/>
        </p:spPr>
        <p:txBody>
          <a:bodyPr wrap="square" lIns="45720" rIns="45720">
            <a:spAutoFit/>
          </a:bodyPr>
          <a:lstStyle/>
          <a:p>
            <a:pPr>
              <a:defRPr sz="1500" b="0">
                <a:solidFill>
                  <a:srgbClr val="EDF2F7"/>
                </a:solidFill>
                <a:latin typeface="Aptos"/>
              </a:defRPr>
            </a:pPr>
            <a:r>
              <a:t>How can cloning break a Singleton, and how can cloning be prevented?</a:t>
            </a:r>
          </a:p>
        </p:txBody>
      </p:sp>
      <p:sp>
        <p:nvSpPr>
          <p:cNvPr id="11" name="TextBox 10"/>
          <p:cNvSpPr txBox="1"/>
          <p:nvPr/>
        </p:nvSpPr>
        <p:spPr>
          <a:xfrm>
            <a:off x="822960" y="4233672"/>
            <a:ext cx="347472" cy="274320"/>
          </a:xfrm>
          <a:prstGeom prst="rect">
            <a:avLst/>
          </a:prstGeom>
          <a:noFill/>
        </p:spPr>
        <p:txBody>
          <a:bodyPr wrap="square" lIns="45720" rIns="45720">
            <a:spAutoFit/>
          </a:bodyPr>
          <a:lstStyle/>
          <a:p>
            <a:pPr>
              <a:defRPr sz="1100" b="1">
                <a:solidFill>
                  <a:srgbClr val="46D9C3"/>
                </a:solidFill>
                <a:latin typeface="Aptos"/>
              </a:defRPr>
            </a:pPr>
            <a:r>
              <a:t>12</a:t>
            </a:r>
          </a:p>
        </p:txBody>
      </p:sp>
      <p:sp>
        <p:nvSpPr>
          <p:cNvPr id="12" name="TextBox 11"/>
          <p:cNvSpPr txBox="1"/>
          <p:nvPr/>
        </p:nvSpPr>
        <p:spPr>
          <a:xfrm>
            <a:off x="1216152" y="4215384"/>
            <a:ext cx="4562856" cy="658368"/>
          </a:xfrm>
          <a:prstGeom prst="rect">
            <a:avLst/>
          </a:prstGeom>
          <a:noFill/>
        </p:spPr>
        <p:txBody>
          <a:bodyPr wrap="square" lIns="45720" rIns="45720">
            <a:spAutoFit/>
          </a:bodyPr>
          <a:lstStyle/>
          <a:p>
            <a:pPr>
              <a:defRPr sz="1500" b="0">
                <a:solidFill>
                  <a:srgbClr val="EDF2F7"/>
                </a:solidFill>
                <a:latin typeface="Aptos"/>
              </a:defRPr>
            </a:pPr>
            <a:r>
              <a:t>What are the advantages and tradeoffs of an enum Singleton?</a:t>
            </a:r>
          </a:p>
        </p:txBody>
      </p:sp>
      <p:sp>
        <p:nvSpPr>
          <p:cNvPr id="13" name="Rounded Rectangle 12"/>
          <p:cNvSpPr/>
          <p:nvPr/>
        </p:nvSpPr>
        <p:spPr>
          <a:xfrm>
            <a:off x="6199632" y="1481328"/>
            <a:ext cx="5358384" cy="4352544"/>
          </a:xfrm>
          <a:prstGeom prst="roundRect">
            <a:avLst/>
          </a:prstGeom>
          <a:solidFill>
            <a:srgbClr val="1C29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0" y="1664208"/>
            <a:ext cx="347472" cy="274320"/>
          </a:xfrm>
          <a:prstGeom prst="rect">
            <a:avLst/>
          </a:prstGeom>
          <a:noFill/>
        </p:spPr>
        <p:txBody>
          <a:bodyPr wrap="square" lIns="45720" rIns="45720">
            <a:spAutoFit/>
          </a:bodyPr>
          <a:lstStyle/>
          <a:p>
            <a:pPr>
              <a:defRPr sz="1100" b="1">
                <a:solidFill>
                  <a:srgbClr val="46D9C3"/>
                </a:solidFill>
                <a:latin typeface="Aptos"/>
              </a:defRPr>
            </a:pPr>
            <a:r>
              <a:t>13</a:t>
            </a:r>
          </a:p>
        </p:txBody>
      </p:sp>
      <p:sp>
        <p:nvSpPr>
          <p:cNvPr id="15" name="TextBox 14"/>
          <p:cNvSpPr txBox="1"/>
          <p:nvPr/>
        </p:nvSpPr>
        <p:spPr>
          <a:xfrm>
            <a:off x="6793992" y="1645920"/>
            <a:ext cx="4562856" cy="658368"/>
          </a:xfrm>
          <a:prstGeom prst="rect">
            <a:avLst/>
          </a:prstGeom>
          <a:noFill/>
        </p:spPr>
        <p:txBody>
          <a:bodyPr wrap="square" lIns="45720" rIns="45720">
            <a:spAutoFit/>
          </a:bodyPr>
          <a:lstStyle/>
          <a:p>
            <a:pPr>
              <a:defRPr sz="1500" b="0">
                <a:solidFill>
                  <a:srgbClr val="EDF2F7"/>
                </a:solidFill>
                <a:latin typeface="Aptos"/>
              </a:defRPr>
            </a:pPr>
            <a:r>
              <a:t>How does an enum Singleton differ from an enum used to represent fixed choices?</a:t>
            </a:r>
          </a:p>
        </p:txBody>
      </p:sp>
      <p:sp>
        <p:nvSpPr>
          <p:cNvPr id="16" name="TextBox 15"/>
          <p:cNvSpPr txBox="1"/>
          <p:nvPr/>
        </p:nvSpPr>
        <p:spPr>
          <a:xfrm>
            <a:off x="6400800" y="2441448"/>
            <a:ext cx="347472" cy="274320"/>
          </a:xfrm>
          <a:prstGeom prst="rect">
            <a:avLst/>
          </a:prstGeom>
          <a:noFill/>
        </p:spPr>
        <p:txBody>
          <a:bodyPr wrap="square" lIns="45720" rIns="45720">
            <a:spAutoFit/>
          </a:bodyPr>
          <a:lstStyle/>
          <a:p>
            <a:pPr>
              <a:defRPr sz="1100" b="1">
                <a:solidFill>
                  <a:srgbClr val="46D9C3"/>
                </a:solidFill>
                <a:latin typeface="Aptos"/>
              </a:defRPr>
            </a:pPr>
            <a:r>
              <a:t>14</a:t>
            </a:r>
          </a:p>
        </p:txBody>
      </p:sp>
      <p:sp>
        <p:nvSpPr>
          <p:cNvPr id="17" name="TextBox 16"/>
          <p:cNvSpPr txBox="1"/>
          <p:nvPr/>
        </p:nvSpPr>
        <p:spPr>
          <a:xfrm>
            <a:off x="6793992" y="2423160"/>
            <a:ext cx="4562856" cy="658368"/>
          </a:xfrm>
          <a:prstGeom prst="rect">
            <a:avLst/>
          </a:prstGeom>
          <a:noFill/>
        </p:spPr>
        <p:txBody>
          <a:bodyPr wrap="square" lIns="45720" rIns="45720">
            <a:spAutoFit/>
          </a:bodyPr>
          <a:lstStyle/>
          <a:p>
            <a:pPr>
              <a:defRPr sz="1500" b="0">
                <a:solidFill>
                  <a:srgbClr val="EDF2F7"/>
                </a:solidFill>
                <a:latin typeface="Aptos"/>
              </a:defRPr>
            </a:pPr>
            <a:r>
              <a:t>Why should Singleton identity be checked with == rather than by comparing hash codes?</a:t>
            </a:r>
          </a:p>
        </p:txBody>
      </p:sp>
      <p:sp>
        <p:nvSpPr>
          <p:cNvPr id="18" name="TextBox 17"/>
          <p:cNvSpPr txBox="1"/>
          <p:nvPr/>
        </p:nvSpPr>
        <p:spPr>
          <a:xfrm>
            <a:off x="6400800" y="3218688"/>
            <a:ext cx="347472" cy="274320"/>
          </a:xfrm>
          <a:prstGeom prst="rect">
            <a:avLst/>
          </a:prstGeom>
          <a:noFill/>
        </p:spPr>
        <p:txBody>
          <a:bodyPr wrap="square" lIns="45720" rIns="45720">
            <a:spAutoFit/>
          </a:bodyPr>
          <a:lstStyle/>
          <a:p>
            <a:pPr>
              <a:defRPr sz="1100" b="1">
                <a:solidFill>
                  <a:srgbClr val="46D9C3"/>
                </a:solidFill>
                <a:latin typeface="Aptos"/>
              </a:defRPr>
            </a:pPr>
            <a:r>
              <a:t>15</a:t>
            </a:r>
          </a:p>
        </p:txBody>
      </p:sp>
      <p:sp>
        <p:nvSpPr>
          <p:cNvPr id="19" name="TextBox 18"/>
          <p:cNvSpPr txBox="1"/>
          <p:nvPr/>
        </p:nvSpPr>
        <p:spPr>
          <a:xfrm>
            <a:off x="6793992" y="3200400"/>
            <a:ext cx="4562856" cy="896112"/>
          </a:xfrm>
          <a:prstGeom prst="rect">
            <a:avLst/>
          </a:prstGeom>
          <a:noFill/>
        </p:spPr>
        <p:txBody>
          <a:bodyPr wrap="square" lIns="45720" rIns="45720">
            <a:spAutoFit/>
          </a:bodyPr>
          <a:lstStyle/>
          <a:p>
            <a:pPr>
              <a:defRPr sz="1500" b="0">
                <a:solidFill>
                  <a:srgbClr val="EDF2F7"/>
                </a:solidFill>
                <a:latin typeface="Aptos"/>
              </a:defRPr>
            </a:pPr>
            <a:r>
              <a:t>Given a use case, how would you choose between eager initialization, synchronization, double-checked locking, the holder idiom, and an enum?</a:t>
            </a:r>
          </a:p>
        </p:txBody>
      </p:sp>
      <p:sp>
        <p:nvSpPr>
          <p:cNvPr id="20" name="TextBox 19"/>
          <p:cNvSpPr txBox="1"/>
          <p:nvPr/>
        </p:nvSpPr>
        <p:spPr>
          <a:xfrm>
            <a:off x="640080" y="6510528"/>
            <a:ext cx="7315200" cy="164592"/>
          </a:xfrm>
          <a:prstGeom prst="rect">
            <a:avLst/>
          </a:prstGeom>
          <a:noFill/>
        </p:spPr>
        <p:txBody>
          <a:bodyPr wrap="square" lIns="45720" rIns="45720">
            <a:spAutoFit/>
          </a:bodyPr>
          <a:lstStyle/>
          <a:p>
            <a:pPr>
              <a:defRPr sz="800" b="0">
                <a:solidFill>
                  <a:srgbClr val="ACBDD2"/>
                </a:solidFill>
                <a:latin typeface="Aptos"/>
              </a:defRPr>
            </a:pPr>
            <a:r>
              <a:t>JAVA SINGLETON  |  DESIGN AND INTERVIEW REVIEW</a:t>
            </a:r>
          </a:p>
        </p:txBody>
      </p:sp>
      <p:sp>
        <p:nvSpPr>
          <p:cNvPr id="21" name="TextBox 20"/>
          <p:cNvSpPr txBox="1"/>
          <p:nvPr/>
        </p:nvSpPr>
        <p:spPr>
          <a:xfrm>
            <a:off x="10789920" y="6492240"/>
            <a:ext cx="731520" cy="182880"/>
          </a:xfrm>
          <a:prstGeom prst="rect">
            <a:avLst/>
          </a:prstGeom>
          <a:noFill/>
        </p:spPr>
        <p:txBody>
          <a:bodyPr wrap="square" lIns="45720" rIns="45720">
            <a:spAutoFit/>
          </a:bodyPr>
          <a:lstStyle/>
          <a:p>
            <a:pPr>
              <a:defRPr sz="900" b="0">
                <a:solidFill>
                  <a:srgbClr val="ACBDD2"/>
                </a:solidFill>
                <a:latin typeface="Aptos"/>
              </a:defRPr>
            </a:pPr>
            <a: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509</TotalTime>
  <Words>1649</Words>
  <Application>Microsoft Office PowerPoint</Application>
  <PresentationFormat>Widescreen</PresentationFormat>
  <Paragraphs>195</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Singleton Design Pattern</dc:title>
  <dc:subject>Initialization, concurrency, identity, defenses, enums, and interviews</dc:subject>
  <dc:creator>Java Learning</dc:creator>
  <cp:keywords>Java, Singleton, DCL, Bill Pugh, Enum</cp:keywords>
  <dc:description>generated using python-pptx</dc:description>
  <cp:lastModifiedBy>Kusetty Pravakar Rao</cp:lastModifiedBy>
  <cp:revision>2</cp:revision>
  <dcterms:created xsi:type="dcterms:W3CDTF">2013-01-27T09:14:16Z</dcterms:created>
  <dcterms:modified xsi:type="dcterms:W3CDTF">2026-10-12T04:25:17Z</dcterms:modified>
  <cp:category/>
</cp:coreProperties>
</file>