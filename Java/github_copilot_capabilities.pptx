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2" r:id="rId3"/>
    <p:sldId id="2563" r:id="rId4"/>
    <p:sldId id="2564" r:id="rId5"/>
    <p:sldId id="2565" r:id="rId6"/>
    <p:sldId id="2567" r:id="rId7"/>
    <p:sldId id="2568" r:id="rId8"/>
    <p:sldId id="2569" r:id="rId9"/>
    <p:sldId id="2570" r:id="rId10"/>
    <p:sldId id="2571" r:id="rId11"/>
    <p:sldId id="2572" r:id="rId12"/>
    <p:sldId id="2573" r:id="rId13"/>
    <p:sldId id="2574" r:id="rId14"/>
    <p:sldId id="25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tHub Copilot Capabilities and Interaction Modes" id="{D24DA51B-0DE2-4EA9-8E31-F08D027396C1}">
          <p14:sldIdLst>
            <p14:sldId id="2561"/>
          </p14:sldIdLst>
        </p14:section>
        <p14:section name="Overview of GitHub Copilot" id="{12891482-A68D-4A8C-B96B-D05072CA3B92}">
          <p14:sldIdLst>
            <p14:sldId id="2562"/>
            <p14:sldId id="2563"/>
            <p14:sldId id="2564"/>
          </p14:sldIdLst>
        </p14:section>
        <p14:section name="Core Interaction Modes" id="{E9955F3E-1350-4E03-9585-A19256F1A3CB}">
          <p14:sldIdLst>
            <p14:sldId id="2565"/>
            <p14:sldId id="2567"/>
          </p14:sldIdLst>
        </p14:section>
        <p14:section name="Context and Model Management" id="{2AFF638D-3822-47C7-8396-A093CA177702}">
          <p14:sldIdLst>
            <p14:sldId id="2568"/>
            <p14:sldId id="2569"/>
          </p14:sldIdLst>
        </p14:section>
        <p14:section name="Annotations and Commands" id="{B57523D6-3765-4475-9004-E5F08716D2A9}">
          <p14:sldIdLst>
            <p14:sldId id="2570"/>
            <p14:sldId id="2571"/>
            <p14:sldId id="2572"/>
          </p14:sldIdLst>
        </p14:section>
        <p14:section name="Instruction Files and Value Proposition" id="{DC415982-4720-42C8-B524-3A28AAC26A62}">
          <p14:sldIdLst>
            <p14:sldId id="2573"/>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D0F95A-3F58-24A6-9123-604A9AC74BEF}" v="16" dt="2026-05-12T02:26:59.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5C7366-C024-45B1-81DE-486B4BCB2740}" type="datetimeFigureOut">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E3CEDB-0C72-4FED-A1EC-AEE885493860}" type="slidenum">
              <a:t>‹#›</a:t>
            </a:fld>
            <a:endParaRPr lang="en-US"/>
          </a:p>
        </p:txBody>
      </p:sp>
    </p:spTree>
    <p:extLst>
      <p:ext uri="{BB962C8B-B14F-4D97-AF65-F5344CB8AC3E}">
        <p14:creationId xmlns:p14="http://schemas.microsoft.com/office/powerpoint/2010/main" val="396531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A38CF08-3220-4676-A614-DE741B6DD0D0}" type="slidenum">
              <a:t>1</a:t>
            </a:fld>
            <a:endParaRPr lang="en-US"/>
          </a:p>
        </p:txBody>
      </p:sp>
    </p:spTree>
    <p:extLst>
      <p:ext uri="{BB962C8B-B14F-4D97-AF65-F5344CB8AC3E}">
        <p14:creationId xmlns:p14="http://schemas.microsoft.com/office/powerpoint/2010/main" val="250358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GitHub Copilot Capabilities Overview, Interaction Modes in GitHub Copilot</a:t>
            </a:r>
          </a:p>
        </p:txBody>
      </p:sp>
      <p:sp>
        <p:nvSpPr>
          <p:cNvPr id="4" name="Slide Number Placeholder 3"/>
          <p:cNvSpPr>
            <a:spLocks noGrp="1"/>
          </p:cNvSpPr>
          <p:nvPr>
            <p:ph type="sldNum" sz="quarter" idx="5"/>
          </p:nvPr>
        </p:nvSpPr>
        <p:spPr/>
        <p:txBody>
          <a:bodyPr/>
          <a:lstStyle/>
          <a:p>
            <a:fld id="{9A38CF08-3220-4676-A614-DE741B6DD0D0}" type="slidenum">
              <a:t>2</a:t>
            </a:fld>
            <a:endParaRPr lang="en-US"/>
          </a:p>
        </p:txBody>
      </p:sp>
    </p:spTree>
    <p:extLst>
      <p:ext uri="{BB962C8B-B14F-4D97-AF65-F5344CB8AC3E}">
        <p14:creationId xmlns:p14="http://schemas.microsoft.com/office/powerpoint/2010/main" val="154308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Copilot is an AI-powered developer assistant designed to significantly improve software development productivity by integrating large language models directly into the developer workflow. Built by GitHub in collaboration with OpenAI, Copilot assists developers by generating code, explaining logic, refactoring existing implementations, and supporting learning across a wide range of programming languages and frameworks. Its core capability lies in understanding both natural language prompts and the surrounding code context, enabling it to provide highly relevant and actionable suggestions. For example, a developer writing a REST API in Java or Python can receive function stubs, data models, and error-handling logic in real time, reducing repetitive boilerplate work. Copilot also supports modern development practices such as test-driven development by generating unit tests, mocks, and edge-case scenarios based on existing code. Another key capability is its deep IDE integration, particularly with Visual Studio Code, JetBrains IDEs, and GitHub’s web-based experiences, allowing assistance without disrupting developer focus. Copilot adapts to coding style, project structure, and naming conventions, which helps maintain consistency across large codebases. In enterprise environments, GitHub Copilot can be configured with additional governance, security, and compliance controls, ensuring that AI assistance aligns with organizational policies. Overall, GitHub Copilot is positioned not as a replacement for developers, but as a collaborative coding partner that accelerates development, improves code quality, and lowers the cognitive load associated with complex systems.</a:t>
            </a:r>
          </a:p>
        </p:txBody>
      </p:sp>
      <p:sp>
        <p:nvSpPr>
          <p:cNvPr id="4" name="Slide Number Placeholder 3"/>
          <p:cNvSpPr>
            <a:spLocks noGrp="1"/>
          </p:cNvSpPr>
          <p:nvPr>
            <p:ph type="sldNum" sz="quarter" idx="5"/>
          </p:nvPr>
        </p:nvSpPr>
        <p:spPr/>
        <p:txBody>
          <a:bodyPr/>
          <a:lstStyle/>
          <a:p>
            <a:fld id="{9A38CF08-3220-4676-A614-DE741B6DD0D0}" type="slidenum">
              <a:t>3</a:t>
            </a:fld>
            <a:endParaRPr lang="en-US"/>
          </a:p>
        </p:txBody>
      </p:sp>
    </p:spTree>
    <p:extLst>
      <p:ext uri="{BB962C8B-B14F-4D97-AF65-F5344CB8AC3E}">
        <p14:creationId xmlns:p14="http://schemas.microsoft.com/office/powerpoint/2010/main" val="2014602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Copilot offers multiple interaction modes that allow developers to engage with the AI in ways that best fit their workflow and task complexity. These interaction modes include autocomplete, inline chat, and a full chat mode with specialized capabilities such as Ask, Agent, and Plan. Each mode is optimized for a different level of intent and interaction depth. Autocomplete is designed for rapid, low-friction assistance, offering real-time code suggestions as developers type. Inline chat enables contextual conversations directly within files, making it easy to ask questions about specific code blocks. Chat mode expands these interactions into more structured problem-solving, architectural discussions, and multi-step task execution. This multi-modal design ensures that Copilot can support everything from simple syntax completion to complex refactoring or feature planning. Importantly, these modes are context-aware, meaning they leverage open files, highlighted code, and workspace metadata to tailor responses. For instance, a developer debugging an issue can quickly switch from autocomplete to inline chat to ask why a function behaves unexpectedly, and then move to Agent mode to apply fixes across multiple files. By offering flexible interaction styles, GitHub Copilot accommodates different developer preferences, experience levels, and use cases, making it a versatile tool for both individual contributors and large engineering teams.</a:t>
            </a:r>
          </a:p>
        </p:txBody>
      </p:sp>
      <p:sp>
        <p:nvSpPr>
          <p:cNvPr id="4" name="Slide Number Placeholder 3"/>
          <p:cNvSpPr>
            <a:spLocks noGrp="1"/>
          </p:cNvSpPr>
          <p:nvPr>
            <p:ph type="sldNum" sz="quarter" idx="5"/>
          </p:nvPr>
        </p:nvSpPr>
        <p:spPr/>
        <p:txBody>
          <a:bodyPr/>
          <a:lstStyle/>
          <a:p>
            <a:fld id="{9A38CF08-3220-4676-A614-DE741B6DD0D0}" type="slidenum">
              <a:t>4</a:t>
            </a:fld>
            <a:endParaRPr lang="en-US"/>
          </a:p>
        </p:txBody>
      </p:sp>
    </p:spTree>
    <p:extLst>
      <p:ext uri="{BB962C8B-B14F-4D97-AF65-F5344CB8AC3E}">
        <p14:creationId xmlns:p14="http://schemas.microsoft.com/office/powerpoint/2010/main" val="2235095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Autocomplete Capabilities, Inline Chat for Contextual Assistance, Chat Modes: Ask, Agent, and Plan</a:t>
            </a:r>
          </a:p>
        </p:txBody>
      </p:sp>
      <p:sp>
        <p:nvSpPr>
          <p:cNvPr id="4" name="Slide Number Placeholder 3"/>
          <p:cNvSpPr>
            <a:spLocks noGrp="1"/>
          </p:cNvSpPr>
          <p:nvPr>
            <p:ph type="sldNum" sz="quarter" idx="5"/>
          </p:nvPr>
        </p:nvSpPr>
        <p:spPr/>
        <p:txBody>
          <a:bodyPr/>
          <a:lstStyle/>
          <a:p>
            <a:fld id="{9A38CF08-3220-4676-A614-DE741B6DD0D0}" type="slidenum">
              <a:t>5</a:t>
            </a:fld>
            <a:endParaRPr lang="en-US"/>
          </a:p>
        </p:txBody>
      </p:sp>
    </p:spTree>
    <p:extLst>
      <p:ext uri="{BB962C8B-B14F-4D97-AF65-F5344CB8AC3E}">
        <p14:creationId xmlns:p14="http://schemas.microsoft.com/office/powerpoint/2010/main" val="2822826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Copilot’s chat mode extends interaction beyond single-file contexts and introduces three powerful sub-modes: Ask, Agent, and Plan. Ask mode is designed for straightforward questions and explanations, such as clarifying an error message, understanding a framework concept, or requesting a code example. It functions similarly to a knowledgeable technical assistant available on demand. Agent mode goes a step further by handling multi-step tasks that may span multiple files, such as implementing a feature, fixing a bug across modules, or updating dependencies. In this mode, Copilot can reason about the task, propose changes, and apply them systematically. Plan mode focuses on high-level thinking and task decomposition, helping developers break complex requirements into actionable steps, architectures, or implementation strategies. For example, when starting a new microservice, a developer can use Plan mode to outline components, data flows, and technology choices. Together, these chat modes support the full spectrum of development activities, from learning and troubleshooting to execution and design, making Copilot a comprehensive development partner rather than just a code generator.</a:t>
            </a:r>
          </a:p>
        </p:txBody>
      </p:sp>
      <p:sp>
        <p:nvSpPr>
          <p:cNvPr id="4" name="Slide Number Placeholder 3"/>
          <p:cNvSpPr>
            <a:spLocks noGrp="1"/>
          </p:cNvSpPr>
          <p:nvPr>
            <p:ph type="sldNum" sz="quarter" idx="5"/>
          </p:nvPr>
        </p:nvSpPr>
        <p:spPr/>
        <p:txBody>
          <a:bodyPr/>
          <a:lstStyle/>
          <a:p>
            <a:fld id="{9A38CF08-3220-4676-A614-DE741B6DD0D0}" type="slidenum">
              <a:t>7</a:t>
            </a:fld>
            <a:endParaRPr lang="en-US"/>
          </a:p>
        </p:txBody>
      </p:sp>
    </p:spTree>
    <p:extLst>
      <p:ext uri="{BB962C8B-B14F-4D97-AF65-F5344CB8AC3E}">
        <p14:creationId xmlns:p14="http://schemas.microsoft.com/office/powerpoint/2010/main" val="1897212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Setting Context for Better Results, LLM Switching and Enterprise Capabilities</a:t>
            </a:r>
          </a:p>
        </p:txBody>
      </p:sp>
      <p:sp>
        <p:nvSpPr>
          <p:cNvPr id="4" name="Slide Number Placeholder 3"/>
          <p:cNvSpPr>
            <a:spLocks noGrp="1"/>
          </p:cNvSpPr>
          <p:nvPr>
            <p:ph type="sldNum" sz="quarter" idx="5"/>
          </p:nvPr>
        </p:nvSpPr>
        <p:spPr/>
        <p:txBody>
          <a:bodyPr/>
          <a:lstStyle/>
          <a:p>
            <a:fld id="{9A38CF08-3220-4676-A614-DE741B6DD0D0}" type="slidenum">
              <a:t>8</a:t>
            </a:fld>
            <a:endParaRPr lang="en-US"/>
          </a:p>
        </p:txBody>
      </p:sp>
    </p:spTree>
    <p:extLst>
      <p:ext uri="{BB962C8B-B14F-4D97-AF65-F5344CB8AC3E}">
        <p14:creationId xmlns:p14="http://schemas.microsoft.com/office/powerpoint/2010/main" val="2240998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Copilot supports flexibility in underlying large language models, allowing organizations to switch models based on performance, cost, or compliance needs. In enterprise environments, this capability is critical for balancing innovation with governance. Enterprise-grade Copilot offerings provide enhanced security, data handling assurances, and administrative controls, ensuring that proprietary code is handled responsibly. Features such as access management, auditability, and policy enforcement help organizations integrate AI assistance without compromising intellectual property or regulatory requirements. Model switching also enables teams to adopt newer or more specialized models as they become available, improving accuracy and relevance over time. These capabilities make GitHub Copilot suitable not only for individual developers but also for large-scale, mission-critical software development in regulated industries.</a:t>
            </a:r>
          </a:p>
        </p:txBody>
      </p:sp>
      <p:sp>
        <p:nvSpPr>
          <p:cNvPr id="4" name="Slide Number Placeholder 3"/>
          <p:cNvSpPr>
            <a:spLocks noGrp="1"/>
          </p:cNvSpPr>
          <p:nvPr>
            <p:ph type="sldNum" sz="quarter" idx="5"/>
          </p:nvPr>
        </p:nvSpPr>
        <p:spPr/>
        <p:txBody>
          <a:bodyPr/>
          <a:lstStyle/>
          <a:p>
            <a:fld id="{9A38CF08-3220-4676-A614-DE741B6DD0D0}" type="slidenum">
              <a:t>9</a:t>
            </a:fld>
            <a:endParaRPr lang="en-US"/>
          </a:p>
        </p:txBody>
      </p:sp>
    </p:spTree>
    <p:extLst>
      <p:ext uri="{BB962C8B-B14F-4D97-AF65-F5344CB8AC3E}">
        <p14:creationId xmlns:p14="http://schemas.microsoft.com/office/powerpoint/2010/main" val="2663198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Annotations with @workspace and @terminal, Hashes and Slashes Commands</a:t>
            </a:r>
          </a:p>
        </p:txBody>
      </p:sp>
      <p:sp>
        <p:nvSpPr>
          <p:cNvPr id="4" name="Slide Number Placeholder 3"/>
          <p:cNvSpPr>
            <a:spLocks noGrp="1"/>
          </p:cNvSpPr>
          <p:nvPr>
            <p:ph type="sldNum" sz="quarter" idx="5"/>
          </p:nvPr>
        </p:nvSpPr>
        <p:spPr/>
        <p:txBody>
          <a:bodyPr/>
          <a:lstStyle/>
          <a:p>
            <a:fld id="{9A38CF08-3220-4676-A614-DE741B6DD0D0}" type="slidenum">
              <a:t>10</a:t>
            </a:fld>
            <a:endParaRPr lang="en-US"/>
          </a:p>
        </p:txBody>
      </p:sp>
    </p:spTree>
    <p:extLst>
      <p:ext uri="{BB962C8B-B14F-4D97-AF65-F5344CB8AC3E}">
        <p14:creationId xmlns:p14="http://schemas.microsoft.com/office/powerpoint/2010/main" val="623207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Annotations in GitHub Copilot, such as @workspace and @terminal, allow developers to explicitly reference different sources of context during interactions. The @workspace annotation enables Copilot to consider the entire project structure, including multiple files and directories, which is useful for cross-cutting concerns like refactoring or dependency analysis. The @terminal annotation allows Copilot to interpret command-line output, logs, or build errors, making it easier to diagnose issues and suggest fixes. For example, after a failed build, a developer can reference terminal output and ask Copilot to explain the error and propose a solution. These annotations improve clarity and reduce misinterpretation by explicitly signaling where Copilot should focus its attention. As a result, interactions become more precise and efficient, particularly in complex development scenarios.</a:t>
            </a:r>
          </a:p>
        </p:txBody>
      </p:sp>
      <p:sp>
        <p:nvSpPr>
          <p:cNvPr id="4" name="Slide Number Placeholder 3"/>
          <p:cNvSpPr>
            <a:spLocks noGrp="1"/>
          </p:cNvSpPr>
          <p:nvPr>
            <p:ph type="sldNum" sz="quarter" idx="5"/>
          </p:nvPr>
        </p:nvSpPr>
        <p:spPr/>
        <p:txBody>
          <a:bodyPr/>
          <a:lstStyle/>
          <a:p>
            <a:fld id="{9A38CF08-3220-4676-A614-DE741B6DD0D0}" type="slidenum">
              <a:t>11</a:t>
            </a:fld>
            <a:endParaRPr lang="en-US"/>
          </a:p>
        </p:txBody>
      </p:sp>
    </p:spTree>
    <p:extLst>
      <p:ext uri="{BB962C8B-B14F-4D97-AF65-F5344CB8AC3E}">
        <p14:creationId xmlns:p14="http://schemas.microsoft.com/office/powerpoint/2010/main" val="3535815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Copilot also supports lightweight command mechanisms using hashes (#) and slashes (/) to streamline interactions. Hashes are often used to reference specific symbols, files, or concepts, helping Copilot quickly identify relevant context. Slashes introduce quick commands that trigger predefined actions, such as generating tests, explaining code, or creating documentation. These shortcuts reduce the need for verbose prompts and make Copilot interactions faster and more consistent. For example, a developer might use a slash command to instantly generate unit tests for a selected function. By combining natural language with structured commands, Copilot offers both flexibility and efficiency, catering to different working styles and productivity needs.</a:t>
            </a:r>
          </a:p>
        </p:txBody>
      </p:sp>
      <p:sp>
        <p:nvSpPr>
          <p:cNvPr id="4" name="Slide Number Placeholder 3"/>
          <p:cNvSpPr>
            <a:spLocks noGrp="1"/>
          </p:cNvSpPr>
          <p:nvPr>
            <p:ph type="sldNum" sz="quarter" idx="5"/>
          </p:nvPr>
        </p:nvSpPr>
        <p:spPr/>
        <p:txBody>
          <a:bodyPr/>
          <a:lstStyle/>
          <a:p>
            <a:fld id="{9A38CF08-3220-4676-A614-DE741B6DD0D0}" type="slidenum">
              <a:t>12</a:t>
            </a:fld>
            <a:endParaRPr lang="en-US"/>
          </a:p>
        </p:txBody>
      </p:sp>
    </p:spTree>
    <p:extLst>
      <p:ext uri="{BB962C8B-B14F-4D97-AF65-F5344CB8AC3E}">
        <p14:creationId xmlns:p14="http://schemas.microsoft.com/office/powerpoint/2010/main" val="112387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Code Instruction Files, Benefits of Using GitHub Copilot</a:t>
            </a:r>
          </a:p>
        </p:txBody>
      </p:sp>
      <p:sp>
        <p:nvSpPr>
          <p:cNvPr id="4" name="Slide Number Placeholder 3"/>
          <p:cNvSpPr>
            <a:spLocks noGrp="1"/>
          </p:cNvSpPr>
          <p:nvPr>
            <p:ph type="sldNum" sz="quarter" idx="5"/>
          </p:nvPr>
        </p:nvSpPr>
        <p:spPr/>
        <p:txBody>
          <a:bodyPr/>
          <a:lstStyle/>
          <a:p>
            <a:fld id="{9A38CF08-3220-4676-A614-DE741B6DD0D0}" type="slidenum">
              <a:t>13</a:t>
            </a:fld>
            <a:endParaRPr lang="en-US"/>
          </a:p>
        </p:txBody>
      </p:sp>
    </p:spTree>
    <p:extLst>
      <p:ext uri="{BB962C8B-B14F-4D97-AF65-F5344CB8AC3E}">
        <p14:creationId xmlns:p14="http://schemas.microsoft.com/office/powerpoint/2010/main" val="1866264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Code instruction files in GitHub Copilot allow teams to define standardized guidance for how the AI should generate code, perform reviews, or create unit tests. These files act as persistent instructions that align Copilot’s behavior with team conventions, architectural principles, and quality standards. For example, a code generation instruction file might specify preferred design patterns, naming conventions, or error-handling approaches. Code review instructions can guide Copilot to focus on security, performance, or readability concerns, while unit test instructions can define testing frameworks, coverage expectations, and mocking strategies. By externalizing these rules, teams ensure consistency across developers and reduce reliance on individual prompt quality. Instruction files are especially valuable in large or distributed teams, where maintaining uniform standards is challenging. They transform Copilot from a generic assistant into a customized, team-aware collaborator.</a:t>
            </a:r>
          </a:p>
        </p:txBody>
      </p:sp>
      <p:sp>
        <p:nvSpPr>
          <p:cNvPr id="4" name="Slide Number Placeholder 3"/>
          <p:cNvSpPr>
            <a:spLocks noGrp="1"/>
          </p:cNvSpPr>
          <p:nvPr>
            <p:ph type="sldNum" sz="quarter" idx="5"/>
          </p:nvPr>
        </p:nvSpPr>
        <p:spPr/>
        <p:txBody>
          <a:bodyPr/>
          <a:lstStyle/>
          <a:p>
            <a:fld id="{9A38CF08-3220-4676-A614-DE741B6DD0D0}" type="slidenum">
              <a:t>14</a:t>
            </a:fld>
            <a:endParaRPr lang="en-US"/>
          </a:p>
        </p:txBody>
      </p:sp>
    </p:spTree>
    <p:extLst>
      <p:ext uri="{BB962C8B-B14F-4D97-AF65-F5344CB8AC3E}">
        <p14:creationId xmlns:p14="http://schemas.microsoft.com/office/powerpoint/2010/main" val="3324547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overall benefits of GitHub Copilot extend beyond faster code writing to include improved quality, knowledge sharing, and developer satisfaction. By automating repetitive tasks and providing instant access to expertise, Copilot allows developers to focus on higher-value problem-solving and design work. It accelerates onboarding by helping new team members understand codebases and best practices more quickly. Copilot also supports continuous learning, as developers are exposed to idiomatic patterns and alternative solutions during daily work. In enterprise settings, standardized instructions and governance features help scale best practices across teams. Collectively, these benefits lead to shorter development cycles, reduced error rates, and more maintainable software, making GitHub Copilot a strategic asset in modern software engineering.</a:t>
            </a:r>
          </a:p>
        </p:txBody>
      </p:sp>
      <p:sp>
        <p:nvSpPr>
          <p:cNvPr id="4" name="Slide Number Placeholder 3"/>
          <p:cNvSpPr>
            <a:spLocks noGrp="1"/>
          </p:cNvSpPr>
          <p:nvPr>
            <p:ph type="sldNum" sz="quarter" idx="5"/>
          </p:nvPr>
        </p:nvSpPr>
        <p:spPr/>
        <p:txBody>
          <a:bodyPr/>
          <a:lstStyle/>
          <a:p>
            <a:fld id="{9A38CF08-3220-4676-A614-DE741B6DD0D0}" type="slidenum">
              <a:t>15</a:t>
            </a:fld>
            <a:endParaRPr lang="en-US"/>
          </a:p>
        </p:txBody>
      </p:sp>
    </p:spTree>
    <p:extLst>
      <p:ext uri="{BB962C8B-B14F-4D97-AF65-F5344CB8AC3E}">
        <p14:creationId xmlns:p14="http://schemas.microsoft.com/office/powerpoint/2010/main" val="329593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423204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90735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3771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003806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686859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807918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750103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405126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472957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654347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45127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6656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35872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1652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729536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18361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61967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45264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90053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0638639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30199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45809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929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431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624203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4069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49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918170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58361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442226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088474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5669715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50940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5340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8979816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56988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15014524"/>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11178487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367002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2334735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519617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406032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654982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330047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389628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373761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6314414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663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252924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276197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811839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8029182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47108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85897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27CB4-0D98-89E4-5E4D-57FC87CE3980}"/>
              </a:ext>
            </a:extLst>
          </p:cNvPr>
          <p:cNvSpPr>
            <a:spLocks noGrp="1"/>
          </p:cNvSpPr>
          <p:nvPr>
            <p:ph type="ctrTitle"/>
          </p:nvPr>
        </p:nvSpPr>
        <p:spPr>
          <a:xfrm>
            <a:off x="609600" y="2154268"/>
            <a:ext cx="4856348" cy="1731932"/>
          </a:xfrm>
        </p:spPr>
        <p:txBody>
          <a:bodyPr anchor="b">
            <a:normAutofit/>
          </a:bodyPr>
          <a:lstStyle/>
          <a:p>
            <a:r>
              <a:rPr lang="en-US" sz="3100"/>
              <a:t>GitHub Copilot Capabilities and Interaction Modes</a:t>
            </a:r>
          </a:p>
        </p:txBody>
      </p:sp>
      <p:sp>
        <p:nvSpPr>
          <p:cNvPr id="3" name="Subtitle 2">
            <a:extLst>
              <a:ext uri="{FF2B5EF4-FFF2-40B4-BE49-F238E27FC236}">
                <a16:creationId xmlns:a16="http://schemas.microsoft.com/office/drawing/2014/main" id="{2245F499-93F5-4634-550F-3375C3E0525F}"/>
              </a:ext>
            </a:extLst>
          </p:cNvPr>
          <p:cNvSpPr>
            <a:spLocks noGrp="1"/>
          </p:cNvSpPr>
          <p:nvPr>
            <p:ph type="subTitle" idx="1"/>
          </p:nvPr>
        </p:nvSpPr>
        <p:spPr>
          <a:xfrm>
            <a:off x="609600" y="4142852"/>
            <a:ext cx="4856348" cy="2029344"/>
          </a:xfrm>
        </p:spPr>
        <p:txBody>
          <a:bodyPr>
            <a:normAutofit/>
          </a:bodyPr>
          <a:lstStyle/>
          <a:p>
            <a:r>
              <a:rPr lang="en-US"/>
              <a:t>Exploring AI-powered coding assistance and user engagement</a:t>
            </a:r>
          </a:p>
        </p:txBody>
      </p:sp>
      <p:pic>
        <p:nvPicPr>
          <p:cNvPr id="4" name="Picture 3" descr="Artificial Intelligence digital concept with brain shape">
            <a:extLst>
              <a:ext uri="{FF2B5EF4-FFF2-40B4-BE49-F238E27FC236}">
                <a16:creationId xmlns:a16="http://schemas.microsoft.com/office/drawing/2014/main" id="{23D2B77C-4683-43F6-856C-E91ADA116822}"/>
              </a:ext>
            </a:extLst>
          </p:cNvPr>
          <p:cNvPicPr>
            <a:picLocks noChangeAspect="1"/>
          </p:cNvPicPr>
          <p:nvPr/>
        </p:nvPicPr>
        <p:blipFill>
          <a:blip r:embed="rId3"/>
          <a:stretch>
            <a:fillRect/>
          </a:stretch>
        </p:blipFill>
        <p:spPr>
          <a:xfrm>
            <a:off x="6366168" y="1347597"/>
            <a:ext cx="5550408" cy="4162806"/>
          </a:xfrm>
          <a:prstGeom prst="rect">
            <a:avLst/>
          </a:prstGeom>
        </p:spPr>
      </p:pic>
    </p:spTree>
    <p:extLst>
      <p:ext uri="{BB962C8B-B14F-4D97-AF65-F5344CB8AC3E}">
        <p14:creationId xmlns:p14="http://schemas.microsoft.com/office/powerpoint/2010/main" val="363314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5923D-0D0F-2749-F7DC-4B82AF1E8B1A}"/>
              </a:ext>
            </a:extLst>
          </p:cNvPr>
          <p:cNvSpPr>
            <a:spLocks noGrp="1"/>
          </p:cNvSpPr>
          <p:nvPr>
            <p:ph type="ctrTitle"/>
          </p:nvPr>
        </p:nvSpPr>
        <p:spPr>
          <a:xfrm>
            <a:off x="612648" y="1417671"/>
            <a:ext cx="7909560" cy="4754529"/>
          </a:xfrm>
        </p:spPr>
        <p:txBody>
          <a:bodyPr anchor="b">
            <a:normAutofit/>
          </a:bodyPr>
          <a:lstStyle/>
          <a:p>
            <a:r>
              <a:rPr lang="en-US"/>
              <a:t>Overview of GitHub Copilot</a:t>
            </a:r>
          </a:p>
        </p:txBody>
      </p:sp>
    </p:spTree>
    <p:extLst>
      <p:ext uri="{BB962C8B-B14F-4D97-AF65-F5344CB8AC3E}">
        <p14:creationId xmlns:p14="http://schemas.microsoft.com/office/powerpoint/2010/main" val="865952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2870-6277-074F-F444-8443962EEE90}"/>
              </a:ext>
            </a:extLst>
          </p:cNvPr>
          <p:cNvSpPr>
            <a:spLocks noGrp="1"/>
          </p:cNvSpPr>
          <p:nvPr>
            <p:ph type="title"/>
          </p:nvPr>
        </p:nvSpPr>
        <p:spPr>
          <a:xfrm>
            <a:off x="609600" y="709099"/>
            <a:ext cx="8019289" cy="891101"/>
          </a:xfrm>
        </p:spPr>
        <p:txBody>
          <a:bodyPr anchor="b">
            <a:normAutofit/>
          </a:bodyPr>
          <a:lstStyle/>
          <a:p>
            <a:r>
              <a:rPr lang="en-US"/>
              <a:t>GitHub Copilot Capabilities Overview</a:t>
            </a:r>
          </a:p>
        </p:txBody>
      </p:sp>
      <p:sp>
        <p:nvSpPr>
          <p:cNvPr id="4" name="Content Placeholder 3">
            <a:extLst>
              <a:ext uri="{FF2B5EF4-FFF2-40B4-BE49-F238E27FC236}">
                <a16:creationId xmlns:a16="http://schemas.microsoft.com/office/drawing/2014/main" id="{48BC0D51-6228-9A79-F87A-45037C23405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vert="horz" lIns="91440" tIns="45720" rIns="91440" bIns="45720" rtlCol="0" anchor="t">
            <a:normAutofit/>
          </a:bodyPr>
          <a:lstStyle/>
          <a:p>
            <a:pPr marL="0" indent="0">
              <a:lnSpc>
                <a:spcPct val="110000"/>
              </a:lnSpc>
              <a:spcBef>
                <a:spcPts val="2500"/>
              </a:spcBef>
              <a:buFont typeface="Arial" panose="020B0604020202020204" pitchFamily="34" charset="0"/>
              <a:buNone/>
            </a:pPr>
            <a:r>
              <a:rPr lang="en-US" sz="1300" b="1"/>
              <a:t>AI-Powered Code Generation</a:t>
            </a:r>
          </a:p>
          <a:p>
            <a:pPr marL="0" lvl="1" indent="0">
              <a:lnSpc>
                <a:spcPct val="110000"/>
              </a:lnSpc>
              <a:buFont typeface="Arial" panose="020B0604020202020204" pitchFamily="34" charset="0"/>
              <a:buNone/>
            </a:pPr>
            <a:r>
              <a:rPr lang="en-US" sz="1300"/>
              <a:t>Copilot generates code snippets and function stubs in real time, reducing repetitive coding tasks and boosting productivity.</a:t>
            </a:r>
          </a:p>
          <a:p>
            <a:pPr marL="0" indent="0">
              <a:lnSpc>
                <a:spcPct val="110000"/>
              </a:lnSpc>
              <a:spcBef>
                <a:spcPts val="2500"/>
              </a:spcBef>
              <a:buFont typeface="Arial" panose="020B0604020202020204" pitchFamily="34" charset="0"/>
              <a:buNone/>
            </a:pPr>
            <a:r>
              <a:rPr lang="en-US" sz="1300" b="1"/>
              <a:t>Support for Multiple Languages</a:t>
            </a:r>
          </a:p>
          <a:p>
            <a:pPr marL="0" lvl="1" indent="0">
              <a:lnSpc>
                <a:spcPct val="110000"/>
              </a:lnSpc>
              <a:buFont typeface="Arial" panose="020B0604020202020204" pitchFamily="34" charset="0"/>
              <a:buNone/>
            </a:pPr>
            <a:r>
              <a:rPr lang="en-US" sz="1300"/>
              <a:t>Supports many programming languages and frameworks, helping developers across diverse technology stacks.</a:t>
            </a:r>
          </a:p>
          <a:p>
            <a:pPr marL="0" indent="0">
              <a:lnSpc>
                <a:spcPct val="110000"/>
              </a:lnSpc>
              <a:spcBef>
                <a:spcPts val="2500"/>
              </a:spcBef>
              <a:buFont typeface="Arial" panose="020B0604020202020204" pitchFamily="34" charset="0"/>
              <a:buNone/>
            </a:pPr>
            <a:r>
              <a:rPr lang="en-US" sz="1300" b="1"/>
              <a:t>Integrated Development Environment Support</a:t>
            </a:r>
          </a:p>
          <a:p>
            <a:pPr marL="0" lvl="1" indent="0">
              <a:lnSpc>
                <a:spcPct val="110000"/>
              </a:lnSpc>
              <a:buFont typeface="Arial" panose="020B0604020202020204" pitchFamily="34" charset="0"/>
              <a:buNone/>
            </a:pPr>
            <a:r>
              <a:rPr lang="en-US" sz="1300" dirty="0"/>
              <a:t>Seamlessly integrates with IDEs like Visual Studio Code and JetBrains, providing assistance without disrupting workflow.</a:t>
            </a:r>
          </a:p>
        </p:txBody>
      </p:sp>
      <p:pic>
        <p:nvPicPr>
          <p:cNvPr id="5" name="Content Placeholder 4" descr="Abstract Technology Background">
            <a:extLst>
              <a:ext uri="{FF2B5EF4-FFF2-40B4-BE49-F238E27FC236}">
                <a16:creationId xmlns:a16="http://schemas.microsoft.com/office/drawing/2014/main" id="{88D3D9CB-47FE-47A0-B5B7-17A3D6D6EB00}"/>
              </a:ext>
            </a:extLst>
          </p:cNvPr>
          <p:cNvPicPr>
            <a:picLocks noGrp="1" noChangeAspect="1"/>
          </p:cNvPicPr>
          <p:nvPr>
            <p:ph type="pic" sz="quarter" idx="18"/>
          </p:nvPr>
        </p:nvPicPr>
        <p:blipFill>
          <a:blip r:embed="rId3"/>
          <a:srcRect l="53363" r="25279" b="1"/>
          <a:stretch>
            <a:fillRect/>
          </a:stretch>
        </p:blipFill>
        <p:spPr>
          <a:xfrm>
            <a:off x="9521861" y="269622"/>
            <a:ext cx="2395728" cy="6309360"/>
          </a:xfrm>
        </p:spPr>
      </p:pic>
    </p:spTree>
    <p:extLst>
      <p:ext uri="{BB962C8B-B14F-4D97-AF65-F5344CB8AC3E}">
        <p14:creationId xmlns:p14="http://schemas.microsoft.com/office/powerpoint/2010/main" val="93207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44944-821E-9ACE-94DD-893F94C52D58}"/>
              </a:ext>
            </a:extLst>
          </p:cNvPr>
          <p:cNvSpPr>
            <a:spLocks noGrp="1"/>
          </p:cNvSpPr>
          <p:nvPr>
            <p:ph type="title"/>
          </p:nvPr>
        </p:nvSpPr>
        <p:spPr>
          <a:xfrm>
            <a:off x="609600" y="709099"/>
            <a:ext cx="8019289" cy="891101"/>
          </a:xfrm>
        </p:spPr>
        <p:txBody>
          <a:bodyPr anchor="b">
            <a:normAutofit/>
          </a:bodyPr>
          <a:lstStyle/>
          <a:p>
            <a:r>
              <a:rPr lang="en-US"/>
              <a:t>Interaction Modes in GitHub Copilot</a:t>
            </a:r>
          </a:p>
        </p:txBody>
      </p:sp>
      <p:sp>
        <p:nvSpPr>
          <p:cNvPr id="4" name="Content Placeholder 3">
            <a:extLst>
              <a:ext uri="{FF2B5EF4-FFF2-40B4-BE49-F238E27FC236}">
                <a16:creationId xmlns:a16="http://schemas.microsoft.com/office/drawing/2014/main" id="{65DA8CC6-6F04-177B-C7AF-E968450849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300" b="1"/>
              <a:t>Autocomplete Mode</a:t>
            </a:r>
          </a:p>
          <a:p>
            <a:pPr marL="0" lvl="1" indent="0">
              <a:buFont typeface="Arial" panose="020B0604020202020204" pitchFamily="34" charset="0"/>
              <a:buNone/>
            </a:pPr>
            <a:r>
              <a:rPr lang="en-US" sz="1300" dirty="0"/>
              <a:t>Autocomplete provides real-time code suggestions for rapid, low-friction developer assistance during coding.</a:t>
            </a:r>
          </a:p>
          <a:p>
            <a:pPr marL="0" indent="0">
              <a:spcBef>
                <a:spcPts val="2500"/>
              </a:spcBef>
              <a:buFont typeface="Arial" panose="020B0604020202020204" pitchFamily="34" charset="0"/>
              <a:buNone/>
            </a:pPr>
            <a:r>
              <a:rPr lang="en-US" sz="1300" b="1"/>
              <a:t>Inline Chat Mode</a:t>
            </a:r>
          </a:p>
          <a:p>
            <a:pPr marL="0" lvl="1" indent="0">
              <a:buFont typeface="Arial" panose="020B0604020202020204" pitchFamily="34" charset="0"/>
              <a:buNone/>
            </a:pPr>
            <a:r>
              <a:rPr lang="en-US" sz="1300"/>
              <a:t>Inline chat allows contextual conversations within code files to ask questions about specific code blocks.</a:t>
            </a:r>
          </a:p>
          <a:p>
            <a:pPr marL="0" indent="0">
              <a:spcBef>
                <a:spcPts val="2500"/>
              </a:spcBef>
              <a:buFont typeface="Arial" panose="020B0604020202020204" pitchFamily="34" charset="0"/>
              <a:buNone/>
            </a:pPr>
            <a:r>
              <a:rPr lang="en-US" sz="1300" b="1"/>
              <a:t>Full Chat Mode</a:t>
            </a:r>
          </a:p>
          <a:p>
            <a:pPr marL="0" lvl="1" indent="0">
              <a:buFont typeface="Arial" panose="020B0604020202020204" pitchFamily="34" charset="0"/>
              <a:buNone/>
            </a:pPr>
            <a:r>
              <a:rPr lang="en-US" sz="1300"/>
              <a:t>Full chat mode supports structured problem-solving, architectural discussions, and multi-step task execution.</a:t>
            </a:r>
          </a:p>
        </p:txBody>
      </p:sp>
      <p:pic>
        <p:nvPicPr>
          <p:cNvPr id="5" name="Content Placeholder 4" descr="Cropped shot of a young computer programmer looking through data">
            <a:extLst>
              <a:ext uri="{FF2B5EF4-FFF2-40B4-BE49-F238E27FC236}">
                <a16:creationId xmlns:a16="http://schemas.microsoft.com/office/drawing/2014/main" id="{78880187-06CB-44A9-B0BD-7DFE28B6EAC5}"/>
              </a:ext>
            </a:extLst>
          </p:cNvPr>
          <p:cNvPicPr>
            <a:picLocks noGrp="1" noChangeAspect="1"/>
          </p:cNvPicPr>
          <p:nvPr>
            <p:ph type="pic" sz="quarter" idx="18"/>
          </p:nvPr>
        </p:nvPicPr>
        <p:blipFill>
          <a:blip r:embed="rId3"/>
          <a:srcRect l="43451" r="31203" b="2"/>
          <a:stretch>
            <a:fillRect/>
          </a:stretch>
        </p:blipFill>
        <p:spPr>
          <a:xfrm>
            <a:off x="9521861" y="269622"/>
            <a:ext cx="2395728" cy="6309360"/>
          </a:xfrm>
        </p:spPr>
      </p:pic>
    </p:spTree>
    <p:extLst>
      <p:ext uri="{BB962C8B-B14F-4D97-AF65-F5344CB8AC3E}">
        <p14:creationId xmlns:p14="http://schemas.microsoft.com/office/powerpoint/2010/main" val="4474829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09AC-14DC-FF62-F2C5-55671172B77F}"/>
              </a:ext>
            </a:extLst>
          </p:cNvPr>
          <p:cNvSpPr>
            <a:spLocks noGrp="1"/>
          </p:cNvSpPr>
          <p:nvPr>
            <p:ph type="ctrTitle"/>
          </p:nvPr>
        </p:nvSpPr>
        <p:spPr>
          <a:xfrm>
            <a:off x="612648" y="1417671"/>
            <a:ext cx="7909560" cy="4754529"/>
          </a:xfrm>
        </p:spPr>
        <p:txBody>
          <a:bodyPr anchor="b">
            <a:normAutofit/>
          </a:bodyPr>
          <a:lstStyle/>
          <a:p>
            <a:r>
              <a:rPr lang="en-US"/>
              <a:t>Core Interaction Modes</a:t>
            </a:r>
          </a:p>
        </p:txBody>
      </p:sp>
    </p:spTree>
    <p:extLst>
      <p:ext uri="{BB962C8B-B14F-4D97-AF65-F5344CB8AC3E}">
        <p14:creationId xmlns:p14="http://schemas.microsoft.com/office/powerpoint/2010/main" val="2674534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D1A8-1B05-598C-27E0-51BAE1F44FBB}"/>
              </a:ext>
            </a:extLst>
          </p:cNvPr>
          <p:cNvSpPr>
            <a:spLocks noGrp="1"/>
          </p:cNvSpPr>
          <p:nvPr>
            <p:ph type="title"/>
          </p:nvPr>
        </p:nvSpPr>
        <p:spPr>
          <a:xfrm>
            <a:off x="7924800" y="671136"/>
            <a:ext cx="3657474" cy="909797"/>
          </a:xfrm>
        </p:spPr>
        <p:txBody>
          <a:bodyPr anchor="b">
            <a:normAutofit/>
          </a:bodyPr>
          <a:lstStyle/>
          <a:p>
            <a:r>
              <a:rPr lang="en-US" sz="2700"/>
              <a:t>Chat Modes: Ask, Agent, and Plan</a:t>
            </a:r>
          </a:p>
        </p:txBody>
      </p:sp>
      <p:pic>
        <p:nvPicPr>
          <p:cNvPr id="5" name="Content Placeholder 4" descr="Social media and people 4K">
            <a:extLst>
              <a:ext uri="{FF2B5EF4-FFF2-40B4-BE49-F238E27FC236}">
                <a16:creationId xmlns:a16="http://schemas.microsoft.com/office/drawing/2014/main" id="{9E7F052D-FFF4-4FFA-9246-FAE5D09CEF60}"/>
              </a:ext>
            </a:extLst>
          </p:cNvPr>
          <p:cNvPicPr>
            <a:picLocks noGrp="1" noChangeAspect="1"/>
          </p:cNvPicPr>
          <p:nvPr>
            <p:ph type="pic" sz="quarter" idx="18"/>
          </p:nvPr>
        </p:nvPicPr>
        <p:blipFill>
          <a:blip r:embed="rId3"/>
          <a:stretch/>
        </p:blipFill>
        <p:spPr>
          <a:xfrm>
            <a:off x="272796" y="1521207"/>
            <a:ext cx="6766560" cy="3806190"/>
          </a:xfrm>
        </p:spPr>
      </p:pic>
      <p:sp>
        <p:nvSpPr>
          <p:cNvPr id="4" name="Content Placeholder 3">
            <a:extLst>
              <a:ext uri="{FF2B5EF4-FFF2-40B4-BE49-F238E27FC236}">
                <a16:creationId xmlns:a16="http://schemas.microsoft.com/office/drawing/2014/main" id="{7DE49F4D-A5FE-4AF0-9C04-F009AD23AB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Ask Mode Functionality</a:t>
            </a:r>
          </a:p>
          <a:p>
            <a:pPr marL="0" lvl="1" indent="0">
              <a:lnSpc>
                <a:spcPct val="110000"/>
              </a:lnSpc>
              <a:buFont typeface="Arial" panose="020B0604020202020204" pitchFamily="34" charset="0"/>
              <a:buNone/>
            </a:pPr>
            <a:r>
              <a:rPr lang="en-US" sz="1200"/>
              <a:t>Ask mode handles straightforward questions, explanations, and code examples like a technical assistant.</a:t>
            </a:r>
          </a:p>
          <a:p>
            <a:pPr marL="0" indent="0">
              <a:lnSpc>
                <a:spcPct val="110000"/>
              </a:lnSpc>
              <a:spcBef>
                <a:spcPts val="2500"/>
              </a:spcBef>
              <a:buFont typeface="Arial" panose="020B0604020202020204" pitchFamily="34" charset="0"/>
              <a:buNone/>
            </a:pPr>
            <a:r>
              <a:rPr lang="en-US" sz="1200" b="1"/>
              <a:t>Agent Mode Capabilities</a:t>
            </a:r>
          </a:p>
          <a:p>
            <a:pPr marL="0" lvl="1" indent="0">
              <a:lnSpc>
                <a:spcPct val="110000"/>
              </a:lnSpc>
              <a:buFont typeface="Arial" panose="020B0604020202020204" pitchFamily="34" charset="0"/>
              <a:buNone/>
            </a:pPr>
            <a:r>
              <a:rPr lang="en-US" sz="1200"/>
              <a:t>Agent mode manages multi-step tasks across files, enabling systematic changes and bug fixes.</a:t>
            </a:r>
          </a:p>
          <a:p>
            <a:pPr marL="0" indent="0">
              <a:lnSpc>
                <a:spcPct val="110000"/>
              </a:lnSpc>
              <a:spcBef>
                <a:spcPts val="2500"/>
              </a:spcBef>
              <a:buFont typeface="Arial" panose="020B0604020202020204" pitchFamily="34" charset="0"/>
              <a:buNone/>
            </a:pPr>
            <a:r>
              <a:rPr lang="en-US" sz="1200" b="1"/>
              <a:t>Plan Mode Overview</a:t>
            </a:r>
          </a:p>
          <a:p>
            <a:pPr marL="0" lvl="1" indent="0">
              <a:lnSpc>
                <a:spcPct val="110000"/>
              </a:lnSpc>
              <a:buFont typeface="Arial" panose="020B0604020202020204" pitchFamily="34" charset="0"/>
              <a:buNone/>
            </a:pPr>
            <a:r>
              <a:rPr lang="en-US" sz="1200"/>
              <a:t>Plan mode supports high-level task decomposition and architectural planning for complex projects.</a:t>
            </a:r>
          </a:p>
        </p:txBody>
      </p:sp>
    </p:spTree>
    <p:extLst>
      <p:ext uri="{BB962C8B-B14F-4D97-AF65-F5344CB8AC3E}">
        <p14:creationId xmlns:p14="http://schemas.microsoft.com/office/powerpoint/2010/main" val="1450360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08CA-FB0F-7188-FA03-510DDDB0A03E}"/>
              </a:ext>
            </a:extLst>
          </p:cNvPr>
          <p:cNvSpPr>
            <a:spLocks noGrp="1"/>
          </p:cNvSpPr>
          <p:nvPr>
            <p:ph type="ctrTitle"/>
          </p:nvPr>
        </p:nvSpPr>
        <p:spPr/>
        <p:txBody>
          <a:bodyPr/>
          <a:lstStyle/>
          <a:p>
            <a:r>
              <a:rPr lang="en-US"/>
              <a:t>Context and Model Management</a:t>
            </a:r>
          </a:p>
        </p:txBody>
      </p:sp>
    </p:spTree>
    <p:extLst>
      <p:ext uri="{BB962C8B-B14F-4D97-AF65-F5344CB8AC3E}">
        <p14:creationId xmlns:p14="http://schemas.microsoft.com/office/powerpoint/2010/main" val="1714800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E450-5FC2-0DF8-0D64-C862F92A6E2B}"/>
              </a:ext>
            </a:extLst>
          </p:cNvPr>
          <p:cNvSpPr>
            <a:spLocks noGrp="1"/>
          </p:cNvSpPr>
          <p:nvPr>
            <p:ph type="title"/>
          </p:nvPr>
        </p:nvSpPr>
        <p:spPr>
          <a:xfrm>
            <a:off x="609600" y="709099"/>
            <a:ext cx="8019289" cy="891101"/>
          </a:xfrm>
        </p:spPr>
        <p:txBody>
          <a:bodyPr anchor="b">
            <a:normAutofit/>
          </a:bodyPr>
          <a:lstStyle/>
          <a:p>
            <a:r>
              <a:rPr lang="en-US"/>
              <a:t>LLM Switching and Enterprise Capabilities</a:t>
            </a:r>
          </a:p>
        </p:txBody>
      </p:sp>
      <p:sp>
        <p:nvSpPr>
          <p:cNvPr id="4" name="Content Placeholder 3">
            <a:extLst>
              <a:ext uri="{FF2B5EF4-FFF2-40B4-BE49-F238E27FC236}">
                <a16:creationId xmlns:a16="http://schemas.microsoft.com/office/drawing/2014/main" id="{01CADCB5-47B5-C8FD-C125-5F7BAF692C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Flexible Model Switching</a:t>
            </a:r>
          </a:p>
          <a:p>
            <a:pPr marL="0" lvl="1" indent="0">
              <a:lnSpc>
                <a:spcPct val="110000"/>
              </a:lnSpc>
              <a:buFont typeface="Arial" panose="020B0604020202020204" pitchFamily="34" charset="0"/>
              <a:buNone/>
            </a:pPr>
            <a:r>
              <a:rPr lang="en-US" sz="1300"/>
              <a:t>Organizations can switch large language models based on performance, cost, or compliance needs for optimal results.</a:t>
            </a:r>
          </a:p>
          <a:p>
            <a:pPr marL="0" indent="0">
              <a:lnSpc>
                <a:spcPct val="110000"/>
              </a:lnSpc>
              <a:spcBef>
                <a:spcPts val="2500"/>
              </a:spcBef>
              <a:buFont typeface="Arial" panose="020B0604020202020204" pitchFamily="34" charset="0"/>
              <a:buNone/>
            </a:pPr>
            <a:r>
              <a:rPr lang="en-US" sz="1300" b="1"/>
              <a:t>Enterprise Security Features</a:t>
            </a:r>
          </a:p>
          <a:p>
            <a:pPr marL="0" lvl="1" indent="0">
              <a:lnSpc>
                <a:spcPct val="110000"/>
              </a:lnSpc>
              <a:buFont typeface="Arial" panose="020B0604020202020204" pitchFamily="34" charset="0"/>
              <a:buNone/>
            </a:pPr>
            <a:r>
              <a:rPr lang="en-US" sz="1300"/>
              <a:t>Enterprise-grade offerings include enhanced security, data handling, access management, and policy enforcement.</a:t>
            </a:r>
          </a:p>
          <a:p>
            <a:pPr marL="0" indent="0">
              <a:lnSpc>
                <a:spcPct val="110000"/>
              </a:lnSpc>
              <a:spcBef>
                <a:spcPts val="2500"/>
              </a:spcBef>
              <a:buFont typeface="Arial" panose="020B0604020202020204" pitchFamily="34" charset="0"/>
              <a:buNone/>
            </a:pPr>
            <a:r>
              <a:rPr lang="en-US" sz="1300" b="1"/>
              <a:t>Governance and Compliance</a:t>
            </a:r>
          </a:p>
          <a:p>
            <a:pPr marL="0" lvl="1" indent="0">
              <a:lnSpc>
                <a:spcPct val="110000"/>
              </a:lnSpc>
              <a:buFont typeface="Arial" panose="020B0604020202020204" pitchFamily="34" charset="0"/>
              <a:buNone/>
            </a:pPr>
            <a:r>
              <a:rPr lang="en-US" sz="1300"/>
              <a:t>Governance features ensure safe integration of AI while protecting intellectual property and regulatory compliance.</a:t>
            </a:r>
          </a:p>
          <a:p>
            <a:pPr marL="0" indent="0">
              <a:lnSpc>
                <a:spcPct val="110000"/>
              </a:lnSpc>
              <a:spcBef>
                <a:spcPts val="2500"/>
              </a:spcBef>
              <a:buFont typeface="Arial" panose="020B0604020202020204" pitchFamily="34" charset="0"/>
              <a:buNone/>
            </a:pPr>
            <a:r>
              <a:rPr lang="en-US" sz="1300" b="1"/>
              <a:t>Enhanced AI Adoption</a:t>
            </a:r>
          </a:p>
          <a:p>
            <a:pPr marL="0" lvl="1" indent="0">
              <a:lnSpc>
                <a:spcPct val="110000"/>
              </a:lnSpc>
              <a:buFont typeface="Arial" panose="020B0604020202020204" pitchFamily="34" charset="0"/>
              <a:buNone/>
            </a:pPr>
            <a:r>
              <a:rPr lang="en-US" sz="1300"/>
              <a:t>Model switching enables adoption of newer, specialized models improving accuracy and relevance over time.</a:t>
            </a:r>
          </a:p>
        </p:txBody>
      </p:sp>
      <p:pic>
        <p:nvPicPr>
          <p:cNvPr id="5" name="Content Placeholder 4" descr="Woman showing Earth and network hologram by using the user interface technology.">
            <a:extLst>
              <a:ext uri="{FF2B5EF4-FFF2-40B4-BE49-F238E27FC236}">
                <a16:creationId xmlns:a16="http://schemas.microsoft.com/office/drawing/2014/main" id="{1A0D9BE7-759C-496B-9C24-115C25EBD8F0}"/>
              </a:ext>
            </a:extLst>
          </p:cNvPr>
          <p:cNvPicPr>
            <a:picLocks noGrp="1" noChangeAspect="1"/>
          </p:cNvPicPr>
          <p:nvPr>
            <p:ph type="pic" sz="quarter" idx="18"/>
          </p:nvPr>
        </p:nvPicPr>
        <p:blipFill>
          <a:blip r:embed="rId3"/>
          <a:srcRect l="49059" r="29582" b="1"/>
          <a:stretch>
            <a:fillRect/>
          </a:stretch>
        </p:blipFill>
        <p:spPr>
          <a:xfrm>
            <a:off x="9521861" y="269622"/>
            <a:ext cx="2395728" cy="6309360"/>
          </a:xfrm>
        </p:spPr>
      </p:pic>
    </p:spTree>
    <p:extLst>
      <p:ext uri="{BB962C8B-B14F-4D97-AF65-F5344CB8AC3E}">
        <p14:creationId xmlns:p14="http://schemas.microsoft.com/office/powerpoint/2010/main" val="30511362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F672-CD39-5FE9-99C4-C0B6514945CA}"/>
              </a:ext>
            </a:extLst>
          </p:cNvPr>
          <p:cNvSpPr>
            <a:spLocks noGrp="1"/>
          </p:cNvSpPr>
          <p:nvPr>
            <p:ph type="ctrTitle"/>
          </p:nvPr>
        </p:nvSpPr>
        <p:spPr>
          <a:xfrm>
            <a:off x="612648" y="1417671"/>
            <a:ext cx="7909560" cy="4754529"/>
          </a:xfrm>
        </p:spPr>
        <p:txBody>
          <a:bodyPr anchor="b">
            <a:normAutofit/>
          </a:bodyPr>
          <a:lstStyle/>
          <a:p>
            <a:r>
              <a:rPr lang="en-US"/>
              <a:t>Annotations and Commands</a:t>
            </a:r>
          </a:p>
        </p:txBody>
      </p:sp>
    </p:spTree>
    <p:extLst>
      <p:ext uri="{BB962C8B-B14F-4D97-AF65-F5344CB8AC3E}">
        <p14:creationId xmlns:p14="http://schemas.microsoft.com/office/powerpoint/2010/main" val="18291902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3E93F-B2E1-030F-DB04-603E7298E5CA}"/>
              </a:ext>
            </a:extLst>
          </p:cNvPr>
          <p:cNvSpPr>
            <a:spLocks noGrp="1"/>
          </p:cNvSpPr>
          <p:nvPr>
            <p:ph type="title"/>
          </p:nvPr>
        </p:nvSpPr>
        <p:spPr>
          <a:xfrm>
            <a:off x="7004302" y="685800"/>
            <a:ext cx="4572001" cy="895139"/>
          </a:xfrm>
        </p:spPr>
        <p:txBody>
          <a:bodyPr anchor="b">
            <a:normAutofit/>
          </a:bodyPr>
          <a:lstStyle/>
          <a:p>
            <a:r>
              <a:rPr lang="en-US" sz="2000"/>
              <a:t>Annotations with @workspace and @terminal</a:t>
            </a:r>
          </a:p>
        </p:txBody>
      </p:sp>
      <p:pic>
        <p:nvPicPr>
          <p:cNvPr id="5" name="Content Placeholder 4" descr="Data Download concept.">
            <a:extLst>
              <a:ext uri="{FF2B5EF4-FFF2-40B4-BE49-F238E27FC236}">
                <a16:creationId xmlns:a16="http://schemas.microsoft.com/office/drawing/2014/main" id="{3C410055-B2B5-4876-B409-D5598B587046}"/>
              </a:ext>
            </a:extLst>
          </p:cNvPr>
          <p:cNvPicPr>
            <a:picLocks noGrp="1" noChangeAspect="1"/>
          </p:cNvPicPr>
          <p:nvPr>
            <p:ph type="pic" sz="quarter" idx="18"/>
          </p:nvPr>
        </p:nvPicPr>
        <p:blipFill>
          <a:blip r:embed="rId3"/>
          <a:srcRect l="17998" r="12436" b="-1"/>
          <a:stretch>
            <a:fillRect/>
          </a:stretch>
        </p:blipFill>
        <p:spPr>
          <a:xfrm>
            <a:off x="271445" y="274320"/>
            <a:ext cx="5852160" cy="6309360"/>
          </a:xfrm>
        </p:spPr>
      </p:pic>
      <p:sp>
        <p:nvSpPr>
          <p:cNvPr id="4" name="Content Placeholder 3">
            <a:extLst>
              <a:ext uri="{FF2B5EF4-FFF2-40B4-BE49-F238E27FC236}">
                <a16:creationId xmlns:a16="http://schemas.microsoft.com/office/drawing/2014/main" id="{CE78B3EF-0C0C-4234-29A6-C8E725718B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vert="horz" lIns="91440" tIns="45720" rIns="91440" bIns="45720" rtlCol="0" anchor="t">
            <a:normAutofit/>
          </a:bodyPr>
          <a:lstStyle/>
          <a:p>
            <a:pPr>
              <a:spcBef>
                <a:spcPts val="2500"/>
              </a:spcBef>
            </a:pPr>
            <a:r>
              <a:rPr lang="en-US" b="1"/>
              <a:t>@project Annotation</a:t>
            </a:r>
          </a:p>
          <a:p>
            <a:pPr marL="0" lvl="1" indent="0">
              <a:buFont typeface="Arial" panose="020B0604020202020204" pitchFamily="34" charset="0"/>
              <a:buNone/>
            </a:pPr>
            <a:r>
              <a:rPr lang="en-US" dirty="0"/>
              <a:t>@project annotation lets Copilot access entire project files for tasks like refactoring and analysis.</a:t>
            </a:r>
          </a:p>
          <a:p>
            <a:pPr marL="0" indent="0">
              <a:spcBef>
                <a:spcPts val="2500"/>
              </a:spcBef>
              <a:buFont typeface="Arial" panose="020B0604020202020204" pitchFamily="34" charset="0"/>
              <a:buNone/>
            </a:pPr>
            <a:r>
              <a:rPr lang="en-US" b="1"/>
              <a:t>@terminal Annotation</a:t>
            </a:r>
          </a:p>
          <a:p>
            <a:pPr marL="0" lvl="1" indent="0">
              <a:buFont typeface="Arial" panose="020B0604020202020204" pitchFamily="34" charset="0"/>
              <a:buNone/>
            </a:pPr>
            <a:r>
              <a:rPr lang="en-US"/>
              <a:t>@terminal annotation helps Copilot interpret command-line outputs, logs, and build errors for troubleshooting.</a:t>
            </a:r>
          </a:p>
          <a:p>
            <a:pPr marL="0" indent="0">
              <a:spcBef>
                <a:spcPts val="2500"/>
              </a:spcBef>
              <a:buFont typeface="Arial" panose="020B0604020202020204" pitchFamily="34" charset="0"/>
              <a:buNone/>
            </a:pPr>
            <a:r>
              <a:rPr lang="en-US" b="1"/>
              <a:t>Improved Interaction Precision</a:t>
            </a:r>
          </a:p>
          <a:p>
            <a:pPr marL="0" lvl="1" indent="0">
              <a:buFont typeface="Arial" panose="020B0604020202020204" pitchFamily="34" charset="0"/>
              <a:buNone/>
            </a:pPr>
            <a:r>
              <a:rPr lang="en-US"/>
              <a:t>These annotations guide Copilot's focus, making interactions clearer and more efficient in complex coding scenarios.</a:t>
            </a:r>
          </a:p>
        </p:txBody>
      </p:sp>
    </p:spTree>
    <p:extLst>
      <p:ext uri="{BB962C8B-B14F-4D97-AF65-F5344CB8AC3E}">
        <p14:creationId xmlns:p14="http://schemas.microsoft.com/office/powerpoint/2010/main" val="1772637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176C4-94DA-450F-0CD5-075B45083164}"/>
              </a:ext>
            </a:extLst>
          </p:cNvPr>
          <p:cNvSpPr>
            <a:spLocks noGrp="1"/>
          </p:cNvSpPr>
          <p:nvPr>
            <p:ph type="title"/>
          </p:nvPr>
        </p:nvSpPr>
        <p:spPr>
          <a:xfrm>
            <a:off x="7924800" y="671136"/>
            <a:ext cx="3657474" cy="909797"/>
          </a:xfrm>
        </p:spPr>
        <p:txBody>
          <a:bodyPr anchor="b">
            <a:normAutofit/>
          </a:bodyPr>
          <a:lstStyle/>
          <a:p>
            <a:r>
              <a:rPr lang="en-US" sz="2200"/>
              <a:t>Hashes and Slashes Commands</a:t>
            </a:r>
          </a:p>
        </p:txBody>
      </p:sp>
      <p:pic>
        <p:nvPicPr>
          <p:cNvPr id="5" name="Content Placeholder 4" descr="Program coding on a computer screen">
            <a:extLst>
              <a:ext uri="{FF2B5EF4-FFF2-40B4-BE49-F238E27FC236}">
                <a16:creationId xmlns:a16="http://schemas.microsoft.com/office/drawing/2014/main" id="{3CF4EA2F-85C1-4034-BBD9-607481D5E055}"/>
              </a:ext>
            </a:extLst>
          </p:cNvPr>
          <p:cNvPicPr>
            <a:picLocks noGrp="1" noChangeAspect="1"/>
          </p:cNvPicPr>
          <p:nvPr>
            <p:ph type="pic" sz="quarter" idx="18"/>
          </p:nvPr>
        </p:nvPicPr>
        <p:blipFill>
          <a:blip r:embed="rId3"/>
          <a:stretch/>
        </p:blipFill>
        <p:spPr>
          <a:xfrm>
            <a:off x="272796" y="1165962"/>
            <a:ext cx="6766560" cy="4516680"/>
          </a:xfrm>
        </p:spPr>
      </p:pic>
      <p:sp>
        <p:nvSpPr>
          <p:cNvPr id="4" name="Content Placeholder 3">
            <a:extLst>
              <a:ext uri="{FF2B5EF4-FFF2-40B4-BE49-F238E27FC236}">
                <a16:creationId xmlns:a16="http://schemas.microsoft.com/office/drawing/2014/main" id="{EA172066-D8CC-6DE9-C32D-FB51D63EEF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Use of Hashes</a:t>
            </a:r>
          </a:p>
          <a:p>
            <a:pPr marL="0" lvl="1" indent="0">
              <a:lnSpc>
                <a:spcPct val="110000"/>
              </a:lnSpc>
              <a:buFont typeface="Arial" panose="020B0604020202020204" pitchFamily="34" charset="0"/>
              <a:buNone/>
            </a:pPr>
            <a:r>
              <a:rPr lang="en-US" sz="1200"/>
              <a:t>Hashes (#) reference symbols, files, or concepts to help Copilot find relevant context quickly.</a:t>
            </a:r>
          </a:p>
          <a:p>
            <a:pPr marL="0" indent="0">
              <a:lnSpc>
                <a:spcPct val="110000"/>
              </a:lnSpc>
              <a:spcBef>
                <a:spcPts val="2500"/>
              </a:spcBef>
              <a:buFont typeface="Arial" panose="020B0604020202020204" pitchFamily="34" charset="0"/>
              <a:buNone/>
            </a:pPr>
            <a:r>
              <a:rPr lang="en-US" sz="1200" b="1"/>
              <a:t>Slash Command Functions</a:t>
            </a:r>
          </a:p>
          <a:p>
            <a:pPr marL="0" lvl="1" indent="0">
              <a:lnSpc>
                <a:spcPct val="110000"/>
              </a:lnSpc>
              <a:buFont typeface="Arial" panose="020B0604020202020204" pitchFamily="34" charset="0"/>
              <a:buNone/>
            </a:pPr>
            <a:r>
              <a:rPr lang="en-US" sz="1200"/>
              <a:t>Slashes (/) trigger quick commands like generating tests, explaining code, or creating documentation.</a:t>
            </a:r>
          </a:p>
          <a:p>
            <a:pPr marL="0" indent="0">
              <a:lnSpc>
                <a:spcPct val="110000"/>
              </a:lnSpc>
              <a:spcBef>
                <a:spcPts val="2500"/>
              </a:spcBef>
              <a:buFont typeface="Arial" panose="020B0604020202020204" pitchFamily="34" charset="0"/>
              <a:buNone/>
            </a:pPr>
            <a:r>
              <a:rPr lang="en-US" sz="1200" b="1"/>
              <a:t>Improved Developer Efficiency</a:t>
            </a:r>
          </a:p>
          <a:p>
            <a:pPr marL="0" lvl="1" indent="0">
              <a:lnSpc>
                <a:spcPct val="110000"/>
              </a:lnSpc>
              <a:buFont typeface="Arial" panose="020B0604020202020204" pitchFamily="34" charset="0"/>
              <a:buNone/>
            </a:pPr>
            <a:r>
              <a:rPr lang="en-US" sz="1200"/>
              <a:t>Combining natural language with commands streamlines workflows and boosts productivity in coding tasks.</a:t>
            </a:r>
          </a:p>
        </p:txBody>
      </p:sp>
    </p:spTree>
    <p:extLst>
      <p:ext uri="{BB962C8B-B14F-4D97-AF65-F5344CB8AC3E}">
        <p14:creationId xmlns:p14="http://schemas.microsoft.com/office/powerpoint/2010/main" val="578487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2667-3062-4241-ECA9-D90DAB517839}"/>
              </a:ext>
            </a:extLst>
          </p:cNvPr>
          <p:cNvSpPr>
            <a:spLocks noGrp="1"/>
          </p:cNvSpPr>
          <p:nvPr>
            <p:ph type="ctrTitle"/>
          </p:nvPr>
        </p:nvSpPr>
        <p:spPr>
          <a:xfrm>
            <a:off x="612648" y="1417671"/>
            <a:ext cx="7909560" cy="4754529"/>
          </a:xfrm>
        </p:spPr>
        <p:txBody>
          <a:bodyPr anchor="b">
            <a:normAutofit/>
          </a:bodyPr>
          <a:lstStyle/>
          <a:p>
            <a:r>
              <a:rPr lang="en-US"/>
              <a:t>Instruction Files and Value Proposition</a:t>
            </a:r>
          </a:p>
        </p:txBody>
      </p:sp>
    </p:spTree>
    <p:extLst>
      <p:ext uri="{BB962C8B-B14F-4D97-AF65-F5344CB8AC3E}">
        <p14:creationId xmlns:p14="http://schemas.microsoft.com/office/powerpoint/2010/main" val="367507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6C446-BDEE-647D-B530-F53BA9DF018C}"/>
              </a:ext>
            </a:extLst>
          </p:cNvPr>
          <p:cNvSpPr>
            <a:spLocks noGrp="1"/>
          </p:cNvSpPr>
          <p:nvPr>
            <p:ph type="title"/>
          </p:nvPr>
        </p:nvSpPr>
        <p:spPr>
          <a:xfrm>
            <a:off x="609600" y="709099"/>
            <a:ext cx="8019289" cy="891101"/>
          </a:xfrm>
        </p:spPr>
        <p:txBody>
          <a:bodyPr anchor="b">
            <a:normAutofit/>
          </a:bodyPr>
          <a:lstStyle/>
          <a:p>
            <a:r>
              <a:rPr lang="en-US"/>
              <a:t>Code Instruction Files</a:t>
            </a:r>
          </a:p>
        </p:txBody>
      </p:sp>
      <p:sp>
        <p:nvSpPr>
          <p:cNvPr id="4" name="Content Placeholder 3">
            <a:extLst>
              <a:ext uri="{FF2B5EF4-FFF2-40B4-BE49-F238E27FC236}">
                <a16:creationId xmlns:a16="http://schemas.microsoft.com/office/drawing/2014/main" id="{822C300D-22D0-C1DA-3109-536665523F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Standardized Coding Guidance</a:t>
            </a:r>
          </a:p>
          <a:p>
            <a:pPr marL="0" lvl="1" indent="0">
              <a:buFont typeface="Arial" panose="020B0604020202020204" pitchFamily="34" charset="0"/>
              <a:buNone/>
            </a:pPr>
            <a:r>
              <a:rPr lang="en-US" sz="1300"/>
              <a:t>Instruction files define team conventions for code generation, ensuring consistent design patterns and error handling.</a:t>
            </a:r>
          </a:p>
          <a:p>
            <a:pPr marL="0" indent="0">
              <a:spcBef>
                <a:spcPts val="2500"/>
              </a:spcBef>
              <a:buFont typeface="Arial" panose="020B0604020202020204" pitchFamily="34" charset="0"/>
              <a:buNone/>
            </a:pPr>
            <a:r>
              <a:rPr lang="en-US" sz="1300" b="1"/>
              <a:t>Focused Code Reviews</a:t>
            </a:r>
          </a:p>
          <a:p>
            <a:pPr marL="0" lvl="1" indent="0">
              <a:buFont typeface="Arial" panose="020B0604020202020204" pitchFamily="34" charset="0"/>
              <a:buNone/>
            </a:pPr>
            <a:r>
              <a:rPr lang="en-US" sz="1300"/>
              <a:t>Code review instructions help the AI emphasize security, performance, and readability during reviews.</a:t>
            </a:r>
          </a:p>
          <a:p>
            <a:pPr marL="0" indent="0">
              <a:spcBef>
                <a:spcPts val="2500"/>
              </a:spcBef>
              <a:buFont typeface="Arial" panose="020B0604020202020204" pitchFamily="34" charset="0"/>
              <a:buNone/>
            </a:pPr>
            <a:r>
              <a:rPr lang="en-US" sz="1300" b="1"/>
              <a:t>Unit Testing Instructions</a:t>
            </a:r>
          </a:p>
          <a:p>
            <a:pPr marL="0" lvl="1" indent="0">
              <a:buFont typeface="Arial" panose="020B0604020202020204" pitchFamily="34" charset="0"/>
              <a:buNone/>
            </a:pPr>
            <a:r>
              <a:rPr lang="en-US" sz="1300"/>
              <a:t>Unit test instructions specify testing frameworks, coverage goals, and mocking strategies for reliable tests.</a:t>
            </a:r>
          </a:p>
          <a:p>
            <a:pPr marL="0" indent="0">
              <a:spcBef>
                <a:spcPts val="2500"/>
              </a:spcBef>
              <a:buFont typeface="Arial" panose="020B0604020202020204" pitchFamily="34" charset="0"/>
              <a:buNone/>
            </a:pPr>
            <a:r>
              <a:rPr lang="en-US" sz="1300" b="1"/>
              <a:t>Enhanced Team Collaboration</a:t>
            </a:r>
          </a:p>
          <a:p>
            <a:pPr marL="0" lvl="1" indent="0">
              <a:buFont typeface="Arial" panose="020B0604020202020204" pitchFamily="34" charset="0"/>
              <a:buNone/>
            </a:pPr>
            <a:r>
              <a:rPr lang="en-US" sz="1300"/>
              <a:t>Instruction files enable Copilot to act as a customized, team-aware collaborator across distributed teams.</a:t>
            </a:r>
          </a:p>
        </p:txBody>
      </p:sp>
      <p:pic>
        <p:nvPicPr>
          <p:cNvPr id="5" name="Content Placeholder 4" descr="Bald young caucasian man, working as a developer coding at his office desk. Screens show coding language user interface. Software engineer create innovative e-commerce app. Program development">
            <a:extLst>
              <a:ext uri="{FF2B5EF4-FFF2-40B4-BE49-F238E27FC236}">
                <a16:creationId xmlns:a16="http://schemas.microsoft.com/office/drawing/2014/main" id="{1B8FC04C-559E-4096-B0AA-4C422D740D76}"/>
              </a:ext>
            </a:extLst>
          </p:cNvPr>
          <p:cNvPicPr>
            <a:picLocks noGrp="1" noChangeAspect="1"/>
          </p:cNvPicPr>
          <p:nvPr>
            <p:ph type="pic" sz="quarter" idx="18"/>
          </p:nvPr>
        </p:nvPicPr>
        <p:blipFill>
          <a:blip r:embed="rId3"/>
          <a:srcRect l="58138" r="16517" b="2"/>
          <a:stretch>
            <a:fillRect/>
          </a:stretch>
        </p:blipFill>
        <p:spPr>
          <a:xfrm>
            <a:off x="9521861" y="269622"/>
            <a:ext cx="2395728" cy="6309360"/>
          </a:xfrm>
        </p:spPr>
      </p:pic>
    </p:spTree>
    <p:extLst>
      <p:ext uri="{BB962C8B-B14F-4D97-AF65-F5344CB8AC3E}">
        <p14:creationId xmlns:p14="http://schemas.microsoft.com/office/powerpoint/2010/main" val="1371257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B8C4B-88FD-88C1-B1A1-E3679DABA0A4}"/>
              </a:ext>
            </a:extLst>
          </p:cNvPr>
          <p:cNvSpPr>
            <a:spLocks noGrp="1"/>
          </p:cNvSpPr>
          <p:nvPr>
            <p:ph type="title"/>
          </p:nvPr>
        </p:nvSpPr>
        <p:spPr>
          <a:xfrm>
            <a:off x="612647" y="709099"/>
            <a:ext cx="3956305" cy="891101"/>
          </a:xfrm>
        </p:spPr>
        <p:txBody>
          <a:bodyPr anchor="b">
            <a:normAutofit/>
          </a:bodyPr>
          <a:lstStyle/>
          <a:p>
            <a:r>
              <a:rPr lang="en-US" sz="2700"/>
              <a:t>Benefits of Using GitHub Copilot</a:t>
            </a:r>
          </a:p>
        </p:txBody>
      </p:sp>
      <p:pic>
        <p:nvPicPr>
          <p:cNvPr id="5" name="Content Placeholder 4" descr="A man stands in front of a wall that is illuminated with numbers in a row, which are being shown against a black wall. It gives an interesting effect.">
            <a:extLst>
              <a:ext uri="{FF2B5EF4-FFF2-40B4-BE49-F238E27FC236}">
                <a16:creationId xmlns:a16="http://schemas.microsoft.com/office/drawing/2014/main" id="{B17851C4-6639-40CE-B4A4-20753548F750}"/>
              </a:ext>
            </a:extLst>
          </p:cNvPr>
          <p:cNvPicPr>
            <a:picLocks noGrp="1" noChangeAspect="1"/>
          </p:cNvPicPr>
          <p:nvPr>
            <p:ph type="pic" sz="quarter" idx="15"/>
          </p:nvPr>
        </p:nvPicPr>
        <p:blipFill>
          <a:blip r:embed="rId3"/>
          <a:stretch/>
        </p:blipFill>
        <p:spPr>
          <a:xfrm>
            <a:off x="986599" y="2777629"/>
            <a:ext cx="4224528" cy="2798749"/>
          </a:xfrm>
        </p:spPr>
      </p:pic>
      <p:sp>
        <p:nvSpPr>
          <p:cNvPr id="4" name="Content Placeholder 3">
            <a:extLst>
              <a:ext uri="{FF2B5EF4-FFF2-40B4-BE49-F238E27FC236}">
                <a16:creationId xmlns:a16="http://schemas.microsoft.com/office/drawing/2014/main" id="{12247D79-160F-D61B-BC70-8A593F8124E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Enhanced Developer Productivity</a:t>
            </a:r>
          </a:p>
          <a:p>
            <a:pPr marL="0" lvl="1" indent="0">
              <a:buFont typeface="Arial" panose="020B0604020202020204" pitchFamily="34" charset="0"/>
              <a:buNone/>
            </a:pPr>
            <a:r>
              <a:rPr lang="en-US"/>
              <a:t>Copilot automates repetitive programming tasks, enabling developers to focus on complex problem-solving and design.</a:t>
            </a:r>
          </a:p>
          <a:p>
            <a:pPr marL="0" indent="0">
              <a:spcBef>
                <a:spcPts val="2500"/>
              </a:spcBef>
              <a:buFont typeface="Arial" panose="020B0604020202020204" pitchFamily="34" charset="0"/>
              <a:buNone/>
            </a:pPr>
            <a:r>
              <a:rPr lang="en-US" b="1"/>
              <a:t>Accelerated Onboarding</a:t>
            </a:r>
          </a:p>
          <a:p>
            <a:pPr marL="0" lvl="1" indent="0">
              <a:buFont typeface="Arial" panose="020B0604020202020204" pitchFamily="34" charset="0"/>
              <a:buNone/>
            </a:pPr>
            <a:r>
              <a:rPr lang="en-US"/>
              <a:t>New team members quickly understand codebases and best practices through Copilot’s guidance and suggestions.</a:t>
            </a:r>
          </a:p>
          <a:p>
            <a:pPr marL="0" indent="0">
              <a:spcBef>
                <a:spcPts val="2500"/>
              </a:spcBef>
              <a:buFont typeface="Arial" panose="020B0604020202020204" pitchFamily="34" charset="0"/>
              <a:buNone/>
            </a:pPr>
            <a:r>
              <a:rPr lang="en-US" b="1"/>
              <a:t>Continuous Learning and Quality</a:t>
            </a:r>
          </a:p>
          <a:p>
            <a:pPr marL="0" lvl="1" indent="0">
              <a:buFont typeface="Arial" panose="020B0604020202020204" pitchFamily="34" charset="0"/>
              <a:buNone/>
            </a:pPr>
            <a:r>
              <a:rPr lang="en-US"/>
              <a:t>Developers gain exposure to idiomatic code patterns and alternatives, improving code quality and expertise.</a:t>
            </a:r>
          </a:p>
          <a:p>
            <a:pPr marL="0" indent="0">
              <a:spcBef>
                <a:spcPts val="2500"/>
              </a:spcBef>
              <a:buFont typeface="Arial" panose="020B0604020202020204" pitchFamily="34" charset="0"/>
              <a:buNone/>
            </a:pPr>
            <a:r>
              <a:rPr lang="en-US" b="1"/>
              <a:t>Enterprise Scalability and Governance</a:t>
            </a:r>
          </a:p>
          <a:p>
            <a:pPr marL="0" lvl="1" indent="0">
              <a:buFont typeface="Arial" panose="020B0604020202020204" pitchFamily="34" charset="0"/>
              <a:buNone/>
            </a:pPr>
            <a:r>
              <a:rPr lang="en-US"/>
              <a:t>Standardized instructions and governance in Copilot help scale best practices across development teams.</a:t>
            </a:r>
          </a:p>
        </p:txBody>
      </p:sp>
    </p:spTree>
    <p:extLst>
      <p:ext uri="{BB962C8B-B14F-4D97-AF65-F5344CB8AC3E}">
        <p14:creationId xmlns:p14="http://schemas.microsoft.com/office/powerpoint/2010/main" val="1143636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Solace</vt:lpstr>
      <vt:lpstr>GitHub Copilot Capabilities and Interaction Modes</vt:lpstr>
      <vt:lpstr>Overview of GitHub Copilot</vt:lpstr>
      <vt:lpstr>GitHub Copilot Capabilities Overview</vt:lpstr>
      <vt:lpstr>Interaction Modes in GitHub Copilot</vt:lpstr>
      <vt:lpstr>Core Interaction Modes</vt:lpstr>
      <vt:lpstr>Chat Modes: Ask, Agent, and Plan</vt:lpstr>
      <vt:lpstr>Context and Model Management</vt:lpstr>
      <vt:lpstr>LLM Switching and Enterprise Capabilities</vt:lpstr>
      <vt:lpstr>Annotations and Commands</vt:lpstr>
      <vt:lpstr>Annotations with @workspace and @terminal</vt:lpstr>
      <vt:lpstr>Hashes and Slashes Commands</vt:lpstr>
      <vt:lpstr>Instruction Files and Value Proposition</vt:lpstr>
      <vt:lpstr>Code Instruction Files</vt:lpstr>
      <vt:lpstr>Benefits of Using GitHub Copilot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anshul_garg2@epam.com</dc:creator>
  <cp:lastModifiedBy>anshul_garg2@epam.com</cp:lastModifiedBy>
  <cp:revision>12</cp:revision>
  <dcterms:modified xsi:type="dcterms:W3CDTF">2026-05-12T02:38:45Z</dcterms:modified>
</cp:coreProperties>
</file>