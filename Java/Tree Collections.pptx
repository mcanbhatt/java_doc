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86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97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691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7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45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661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774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575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42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17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158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3461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5165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596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8546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99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24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2D12C-74F3-4AC0-AEB7-5E24DCF20A9E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393AE-0FCB-4DEF-A7A6-C20F15003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2270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82EEA7F3-64E0-47B1-9B06-0677EA6FD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0787433-E8FF-45C5-A1C3-70BC1491B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A649E977-62EB-4D2F-9AF9-947B5E73C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p14="http://schemas.microsoft.com/office/powerpoint/2010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534C88-3F8E-6D62-D7E6-1BAF86D4D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003300"/>
            <a:ext cx="7035800" cy="4038600"/>
          </a:xfrm>
        </p:spPr>
        <p:txBody>
          <a:bodyPr>
            <a:normAutofit/>
          </a:bodyPr>
          <a:lstStyle/>
          <a:p>
            <a:r>
              <a:rPr lang="en-US" sz="6600" dirty="0"/>
              <a:t>         Tree Collections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36411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0112-A91A-B67A-C043-F6E2C94C3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E8EF1-FACB-EB4C-5314-AB8D6564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1.  What are Tree Collections? (Overview)</a:t>
            </a:r>
          </a:p>
          <a:p>
            <a:r>
              <a:rPr lang="en-IN" dirty="0"/>
              <a:t> 2.  The Red-Black Tree — Internal Data Structure</a:t>
            </a:r>
          </a:p>
          <a:p>
            <a:r>
              <a:rPr lang="en-IN" dirty="0"/>
              <a:t> 3.  </a:t>
            </a:r>
            <a:r>
              <a:rPr lang="en-IN" dirty="0" err="1"/>
              <a:t>TreeSet</a:t>
            </a:r>
            <a:r>
              <a:rPr lang="en-IN" dirty="0"/>
              <a:t> — Overview &amp; Key Characteristics</a:t>
            </a:r>
          </a:p>
          <a:p>
            <a:r>
              <a:rPr lang="en-IN" dirty="0"/>
              <a:t> 4.  </a:t>
            </a:r>
            <a:r>
              <a:rPr lang="en-IN" dirty="0" err="1"/>
              <a:t>TreeSet</a:t>
            </a:r>
            <a:r>
              <a:rPr lang="en-IN" dirty="0"/>
              <a:t> — Working Code Example &amp; Output</a:t>
            </a:r>
          </a:p>
          <a:p>
            <a:r>
              <a:rPr lang="en-IN" dirty="0"/>
              <a:t> 5.  </a:t>
            </a:r>
            <a:r>
              <a:rPr lang="en-IN" dirty="0" err="1"/>
              <a:t>TreeMap</a:t>
            </a:r>
            <a:r>
              <a:rPr lang="en-IN" dirty="0"/>
              <a:t> — Overview &amp; Key Characteristics</a:t>
            </a:r>
          </a:p>
          <a:p>
            <a:r>
              <a:rPr lang="en-IN" dirty="0"/>
              <a:t> 6.  </a:t>
            </a:r>
            <a:r>
              <a:rPr lang="en-IN" dirty="0" err="1"/>
              <a:t>TreeMap</a:t>
            </a:r>
            <a:r>
              <a:rPr lang="en-IN" dirty="0"/>
              <a:t> — Working Code Example &amp; Output</a:t>
            </a:r>
          </a:p>
          <a:p>
            <a:r>
              <a:rPr lang="en-IN" dirty="0"/>
              <a:t> 7.  </a:t>
            </a:r>
            <a:r>
              <a:rPr lang="en-IN" dirty="0" err="1"/>
              <a:t>TreeSet</a:t>
            </a:r>
            <a:r>
              <a:rPr lang="en-IN" dirty="0"/>
              <a:t> vs </a:t>
            </a:r>
            <a:r>
              <a:rPr lang="en-IN" dirty="0" err="1"/>
              <a:t>TreeMap</a:t>
            </a:r>
            <a:r>
              <a:rPr lang="en-IN" dirty="0"/>
              <a:t> vs HashSet vs HashMap — Comparison Table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62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0FAB-13A4-E00C-9E08-2D57522B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684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are Tree Collections? 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A44B7D-09CE-D996-FBFE-622EAC232687}"/>
              </a:ext>
            </a:extLst>
          </p:cNvPr>
          <p:cNvSpPr txBox="1"/>
          <p:nvPr/>
        </p:nvSpPr>
        <p:spPr>
          <a:xfrm>
            <a:off x="1270000" y="1380067"/>
            <a:ext cx="9016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🌳 Tree Collections are sorted, navigable collections backed by a </a:t>
            </a:r>
          </a:p>
          <a:p>
            <a:r>
              <a:rPr lang="en-US" dirty="0"/>
              <a:t>   Self-Balancing Binary Search Tree (Red-Black Tree).</a:t>
            </a:r>
          </a:p>
          <a:p>
            <a:endParaRPr lang="en-IN" dirty="0"/>
          </a:p>
          <a:p>
            <a:r>
              <a:rPr lang="en-IN" dirty="0"/>
              <a:t>📦</a:t>
            </a:r>
            <a:r>
              <a:rPr lang="en-US" dirty="0"/>
              <a:t>Java provides TWO main Tree Collections: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2F14E2-029A-07B2-5E3D-CC26CA4B3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040" y="2089861"/>
            <a:ext cx="5921253" cy="31016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ED9EA4-A40F-E727-8ACC-1E1973EDB90F}"/>
              </a:ext>
            </a:extLst>
          </p:cNvPr>
          <p:cNvSpPr txBox="1"/>
          <p:nvPr/>
        </p:nvSpPr>
        <p:spPr>
          <a:xfrm>
            <a:off x="1270000" y="3100161"/>
            <a:ext cx="42502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🔑 Key Properties (Both):</a:t>
            </a:r>
          </a:p>
          <a:p>
            <a:r>
              <a:rPr lang="en-IN" dirty="0"/>
              <a:t>   ✅ Elements/Keys are ALWAYS sorted</a:t>
            </a:r>
          </a:p>
          <a:p>
            <a:r>
              <a:rPr lang="en-IN" dirty="0"/>
              <a:t>   ✅ O(log n) for add, remove, contains, get</a:t>
            </a:r>
          </a:p>
          <a:p>
            <a:r>
              <a:rPr lang="en-IN" dirty="0"/>
              <a:t>   ✅ No null keys (</a:t>
            </a:r>
            <a:r>
              <a:rPr lang="en-IN" dirty="0" err="1"/>
              <a:t>TreeMap</a:t>
            </a:r>
            <a:r>
              <a:rPr lang="en-IN" dirty="0"/>
              <a:t>) / No null elements (</a:t>
            </a:r>
            <a:r>
              <a:rPr lang="en-IN" dirty="0" err="1"/>
              <a:t>TreeSet</a:t>
            </a:r>
            <a:r>
              <a:rPr lang="en-IN" dirty="0"/>
              <a:t>) — since Java 7</a:t>
            </a:r>
          </a:p>
          <a:p>
            <a:r>
              <a:rPr lang="en-IN" dirty="0"/>
              <a:t>   ✅ NOT thread-safe (use </a:t>
            </a:r>
            <a:r>
              <a:rPr lang="en-IN" dirty="0" err="1"/>
              <a:t>Collections.synchronizedSortedSet</a:t>
            </a:r>
            <a:r>
              <a:rPr lang="en-IN" dirty="0"/>
              <a:t>/Map or </a:t>
            </a:r>
            <a:r>
              <a:rPr lang="en-IN" dirty="0" err="1"/>
              <a:t>ConcurrentSkipListMap</a:t>
            </a:r>
            <a:r>
              <a:rPr lang="en-IN" dirty="0"/>
              <a:t>)</a:t>
            </a:r>
          </a:p>
          <a:p>
            <a:r>
              <a:rPr lang="en-IN" dirty="0"/>
              <a:t>   ✅ Fail-fast iterators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79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0D7386-4AE6-CCEF-5EA6-D38ABDF7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b="1"/>
              <a:t>The Red-Black Tree — Internal Data Structure</a:t>
            </a:r>
            <a:br>
              <a:rPr lang="en-US" sz="3300" b="1"/>
            </a:br>
            <a:endParaRPr lang="en-US" sz="33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446C7F-0822-BA4E-274A-554A7D3E5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438" y="1994388"/>
            <a:ext cx="4689234" cy="1992924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20DDD5-F080-5E9E-DD4D-708D76E23232}"/>
              </a:ext>
            </a:extLst>
          </p:cNvPr>
          <p:cNvSpPr txBox="1"/>
          <p:nvPr/>
        </p:nvSpPr>
        <p:spPr>
          <a:xfrm>
            <a:off x="6293867" y="1903413"/>
            <a:ext cx="5526658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📌 Red-Black Tree — The Engine Behind Tree Collections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SzPct val="125000"/>
            </a:pPr>
            <a:r>
              <a:rPr lang="en-US" dirty="0"/>
              <a:t>🌳 What is a Red-Black Tree?</a:t>
            </a:r>
          </a:p>
          <a:p>
            <a:pPr indent="-228600" defTabSz="914400">
              <a:lnSpc>
                <a:spcPct val="11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dirty="0"/>
              <a:t>   A self-balancing Binary Search Tree (BST) where each node has a COLOR  (Red or Black) and the tree maintains balance through specific rules.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SzPct val="125000"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B5C33-EB2B-697C-0E59-DCAD3F150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386" y="4175101"/>
            <a:ext cx="4750817" cy="21185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CB68D3-B360-E7C1-8741-2928830F80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398" y="4175101"/>
            <a:ext cx="4778154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6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979BD-36D0-00EF-320B-C9161F62B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Set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FC160-EC7A-B969-4F86-782321647FF2}"/>
              </a:ext>
            </a:extLst>
          </p:cNvPr>
          <p:cNvSpPr txBox="1"/>
          <p:nvPr/>
        </p:nvSpPr>
        <p:spPr>
          <a:xfrm>
            <a:off x="1337733" y="1684867"/>
            <a:ext cx="10016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📦 Package: java.util</a:t>
            </a:r>
          </a:p>
          <a:p>
            <a:r>
              <a:rPr lang="en-IN"/>
              <a:t>📐 Hierarchy: Set → SortedSet → NavigableSet → TreeSet</a:t>
            </a:r>
          </a:p>
          <a:p>
            <a:br>
              <a:rPr lang="en-IN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EC90D-08B3-5DA0-D8B7-980335C5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540" y="2523510"/>
            <a:ext cx="5997460" cy="3025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7BFEB1-E175-7855-AF83-E55518A241D8}"/>
              </a:ext>
            </a:extLst>
          </p:cNvPr>
          <p:cNvSpPr txBox="1"/>
          <p:nvPr/>
        </p:nvSpPr>
        <p:spPr>
          <a:xfrm>
            <a:off x="1459328" y="2729588"/>
            <a:ext cx="4538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TreeSet</a:t>
            </a:r>
            <a:r>
              <a:rPr lang="en-IN" dirty="0"/>
              <a:t>()      → Natural ordering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TreeSet</a:t>
            </a:r>
            <a:r>
              <a:rPr lang="en-IN" dirty="0"/>
              <a:t>(Comparator&lt;? super E&gt; comparator) → Custom ordering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TreeSet</a:t>
            </a:r>
            <a:r>
              <a:rPr lang="en-IN" dirty="0"/>
              <a:t>(Collection&lt;? extends E&gt; c)   → From another collection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TreeSet</a:t>
            </a:r>
            <a:r>
              <a:rPr lang="en-IN" dirty="0"/>
              <a:t>(</a:t>
            </a:r>
            <a:r>
              <a:rPr lang="en-IN" dirty="0" err="1"/>
              <a:t>SortedSet</a:t>
            </a:r>
            <a:r>
              <a:rPr lang="en-IN" dirty="0"/>
              <a:t>&lt;E&gt; s)  → From another </a:t>
            </a:r>
            <a:r>
              <a:rPr lang="en-IN" dirty="0" err="1"/>
              <a:t>SortedSet</a:t>
            </a:r>
            <a:r>
              <a:rPr lang="en-IN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659894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8A27F-6D13-E182-EBA9-B44E4F195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0518"/>
            <a:ext cx="9905998" cy="1478570"/>
          </a:xfrm>
        </p:spPr>
        <p:txBody>
          <a:bodyPr/>
          <a:lstStyle/>
          <a:p>
            <a:r>
              <a:rPr lang="en-US"/>
              <a:t>Tree Map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10489-3310-16E6-E20D-3C8C08BCDA85}"/>
              </a:ext>
            </a:extLst>
          </p:cNvPr>
          <p:cNvSpPr txBox="1"/>
          <p:nvPr/>
        </p:nvSpPr>
        <p:spPr>
          <a:xfrm>
            <a:off x="1143001" y="1219200"/>
            <a:ext cx="10515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📦 Package: java.util</a:t>
            </a:r>
          </a:p>
          <a:p>
            <a:r>
              <a:rPr lang="en-IN"/>
              <a:t>📐 Hierarchy: Map → SortedMap → NavigableMap → TreeMap</a:t>
            </a:r>
          </a:p>
          <a:p>
            <a:br>
              <a:rPr lang="en-IN"/>
            </a:br>
            <a:r>
              <a:rPr lang="en-IN"/>
              <a:t>🏗️ Constructors:</a:t>
            </a:r>
          </a:p>
          <a:p>
            <a:r>
              <a:rPr lang="en-IN"/>
              <a:t>   ┌───────────────────────┐</a:t>
            </a:r>
          </a:p>
          <a:p>
            <a:r>
              <a:rPr lang="en-IN"/>
              <a:t>   │ TreeMap()                                → Natural ordering of keys     </a:t>
            </a:r>
          </a:p>
          <a:p>
            <a:r>
              <a:rPr lang="en-IN"/>
              <a:t>   │ TreeMap(Comparator&lt;? super K&gt; comparator)→ Custom ordering of keys     </a:t>
            </a:r>
          </a:p>
          <a:p>
            <a:r>
              <a:rPr lang="en-IN"/>
              <a:t>   │ TreeMap(Map&lt;? extends K, ? extends V&gt; m) → From another Map            </a:t>
            </a:r>
          </a:p>
          <a:p>
            <a:r>
              <a:rPr lang="en-IN"/>
              <a:t>   │ TreeMap(SortedMap&lt;K, ? extends V&gt; m)     → From another SortedMap   </a:t>
            </a:r>
          </a:p>
          <a:p>
            <a:r>
              <a:rPr lang="en-IN"/>
              <a:t>  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3B2FEE-4DF1-CB07-ADA7-A31E8D2D8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203" y="3869108"/>
            <a:ext cx="6096528" cy="2988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D079A5-718F-C3AB-77B0-761AD6EF7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05" y="4208092"/>
            <a:ext cx="4394464" cy="264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2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F3C0F6-80D8-F52D-2906-053741BE4114}"/>
              </a:ext>
            </a:extLst>
          </p:cNvPr>
          <p:cNvSpPr txBox="1"/>
          <p:nvPr/>
        </p:nvSpPr>
        <p:spPr>
          <a:xfrm>
            <a:off x="1549400" y="177800"/>
            <a:ext cx="9076267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🌳 </a:t>
            </a:r>
            <a:r>
              <a:rPr lang="en-IN" dirty="0" err="1"/>
              <a:t>TreeSet</a:t>
            </a:r>
            <a:r>
              <a:rPr lang="en-IN" dirty="0"/>
              <a:t> Use Cases:</a:t>
            </a:r>
          </a:p>
          <a:p>
            <a:r>
              <a:rPr lang="en-IN" dirty="0"/>
              <a:t>   ┌─────────────────────┐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1. 📊 Leaderboard / Rankings                                           </a:t>
            </a:r>
          </a:p>
          <a:p>
            <a:r>
              <a:rPr lang="en-IN" dirty="0"/>
              <a:t>   │    → Maintain sorted scores, quickly find rank, top-N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2. 📅 Event Scheduling                                                 </a:t>
            </a:r>
          </a:p>
          <a:p>
            <a:r>
              <a:rPr lang="en-IN" dirty="0"/>
              <a:t>   │    → Sorted events by time, find next/previous event 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3. 🎯 Auto-complete / Dictionary                                       </a:t>
            </a:r>
          </a:p>
          <a:p>
            <a:r>
              <a:rPr lang="en-IN" dirty="0"/>
              <a:t>   │    → Sorted words, use </a:t>
            </a:r>
            <a:r>
              <a:rPr lang="en-IN" dirty="0" err="1"/>
              <a:t>subSet</a:t>
            </a:r>
            <a:r>
              <a:rPr lang="en-IN" dirty="0"/>
              <a:t>() for prefix matching  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4. 📈 Stock Price Tracking                                             </a:t>
            </a:r>
          </a:p>
          <a:p>
            <a:r>
              <a:rPr lang="en-IN" dirty="0"/>
              <a:t>   │    → Maintain sorted prices, find floor/ceiling prices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5. 🔢 Unique Sorted IDs                                                </a:t>
            </a:r>
          </a:p>
          <a:p>
            <a:r>
              <a:rPr lang="en-IN" dirty="0"/>
              <a:t>   │    → Transaction IDs, order numbers in sorted order  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6. 🎮 Game — Maintaining sorted player scores                          </a:t>
            </a:r>
          </a:p>
          <a:p>
            <a:r>
              <a:rPr lang="en-IN" dirty="0"/>
              <a:t>   │    → Efficiently find player rank, nearby players    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8191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3953FC-0633-1CE9-90AD-43D363B8EE59}"/>
              </a:ext>
            </a:extLst>
          </p:cNvPr>
          <p:cNvSpPr txBox="1"/>
          <p:nvPr/>
        </p:nvSpPr>
        <p:spPr>
          <a:xfrm>
            <a:off x="1473200" y="287867"/>
            <a:ext cx="96012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🌳 </a:t>
            </a:r>
            <a:r>
              <a:rPr lang="en-IN" dirty="0" err="1"/>
              <a:t>TreeMap</a:t>
            </a:r>
            <a:r>
              <a:rPr lang="en-IN" dirty="0"/>
              <a:t> Use Cases:</a:t>
            </a:r>
          </a:p>
          <a:p>
            <a:r>
              <a:rPr lang="en-IN" dirty="0"/>
              <a:t>   ┌─────────────────────┐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1. 📅 Calendar / Appointment System                                    </a:t>
            </a:r>
          </a:p>
          <a:p>
            <a:r>
              <a:rPr lang="en-IN" dirty="0"/>
              <a:t>   │    → Keys = </a:t>
            </a:r>
            <a:r>
              <a:rPr lang="en-IN" dirty="0" err="1"/>
              <a:t>DateTime</a:t>
            </a:r>
            <a:r>
              <a:rPr lang="en-IN" dirty="0"/>
              <a:t>, Values = Event details                            </a:t>
            </a:r>
          </a:p>
          <a:p>
            <a:r>
              <a:rPr lang="en-IN" dirty="0"/>
              <a:t>   │    → Find next appointment: </a:t>
            </a:r>
            <a:r>
              <a:rPr lang="en-IN" dirty="0" err="1"/>
              <a:t>ceilingEntry</a:t>
            </a:r>
            <a:r>
              <a:rPr lang="en-IN" dirty="0"/>
              <a:t>(now)        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2. 💰 Price Range Queries (E-commerce)                                 </a:t>
            </a:r>
          </a:p>
          <a:p>
            <a:r>
              <a:rPr lang="en-IN" dirty="0"/>
              <a:t>   │    → Keys = Price, Values = Products                                    </a:t>
            </a:r>
          </a:p>
          <a:p>
            <a:r>
              <a:rPr lang="en-IN" dirty="0"/>
              <a:t>   │    → </a:t>
            </a:r>
            <a:r>
              <a:rPr lang="en-IN" dirty="0" err="1"/>
              <a:t>subMap</a:t>
            </a:r>
            <a:r>
              <a:rPr lang="en-IN" dirty="0"/>
              <a:t>(</a:t>
            </a:r>
            <a:r>
              <a:rPr lang="en-IN" dirty="0" err="1"/>
              <a:t>minPrice</a:t>
            </a:r>
            <a:r>
              <a:rPr lang="en-IN" dirty="0"/>
              <a:t>, </a:t>
            </a:r>
            <a:r>
              <a:rPr lang="en-IN" dirty="0" err="1"/>
              <a:t>maxPrice</a:t>
            </a:r>
            <a:r>
              <a:rPr lang="en-IN" dirty="0"/>
              <a:t>) for filtering        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3. 📖 Dictionary / Phone Book                                          </a:t>
            </a:r>
          </a:p>
          <a:p>
            <a:r>
              <a:rPr lang="en-IN" dirty="0"/>
              <a:t>   │    → Alphabetically sorted entries with range lookups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4. 🏦 Banking — Transaction History                                    </a:t>
            </a:r>
          </a:p>
          <a:p>
            <a:r>
              <a:rPr lang="en-IN" dirty="0"/>
              <a:t>   │    → Keys = Date, Values = Transactions                                 </a:t>
            </a:r>
          </a:p>
          <a:p>
            <a:r>
              <a:rPr lang="en-IN" dirty="0"/>
              <a:t>   │    → </a:t>
            </a:r>
            <a:r>
              <a:rPr lang="en-IN" dirty="0" err="1"/>
              <a:t>subMap</a:t>
            </a:r>
            <a:r>
              <a:rPr lang="en-IN" dirty="0"/>
              <a:t>(</a:t>
            </a:r>
            <a:r>
              <a:rPr lang="en-IN" dirty="0" err="1"/>
              <a:t>startDate</a:t>
            </a:r>
            <a:r>
              <a:rPr lang="en-IN" dirty="0"/>
              <a:t>, </a:t>
            </a:r>
            <a:r>
              <a:rPr lang="en-IN" dirty="0" err="1"/>
              <a:t>endDate</a:t>
            </a:r>
            <a:r>
              <a:rPr lang="en-IN" dirty="0"/>
              <a:t>) for statements         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5. 🎯 Rate Limiting / Sliding Window                                   </a:t>
            </a:r>
          </a:p>
          <a:p>
            <a:r>
              <a:rPr lang="en-IN" dirty="0"/>
              <a:t>   │    → Keys = Timestamps of requests                                      </a:t>
            </a:r>
          </a:p>
          <a:p>
            <a:r>
              <a:rPr lang="en-IN" dirty="0"/>
              <a:t>   │    → </a:t>
            </a:r>
            <a:r>
              <a:rPr lang="en-IN" dirty="0" err="1"/>
              <a:t>headMap</a:t>
            </a:r>
            <a:r>
              <a:rPr lang="en-IN" dirty="0"/>
              <a:t>(now - </a:t>
            </a:r>
            <a:r>
              <a:rPr lang="en-IN" dirty="0" err="1"/>
              <a:t>windowSize</a:t>
            </a:r>
            <a:r>
              <a:rPr lang="en-IN" dirty="0"/>
              <a:t>) to count recent requests                 </a:t>
            </a:r>
          </a:p>
          <a:p>
            <a:r>
              <a:rPr lang="en-IN" dirty="0"/>
              <a:t>   │                                                                         │</a:t>
            </a:r>
          </a:p>
          <a:p>
            <a:r>
              <a:rPr lang="en-IN" dirty="0"/>
              <a:t>   │ 6. 📊 Histogram / Frequency Distribution                               </a:t>
            </a:r>
          </a:p>
          <a:p>
            <a:r>
              <a:rPr lang="en-IN" dirty="0"/>
              <a:t>   │    → Keys = Buckets (sorted), Values = Counts                       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95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473EF-953D-8267-F992-E0D7C6E2F075}"/>
              </a:ext>
            </a:extLst>
          </p:cNvPr>
          <p:cNvSpPr txBox="1"/>
          <p:nvPr/>
        </p:nvSpPr>
        <p:spPr>
          <a:xfrm>
            <a:off x="1913467" y="660400"/>
            <a:ext cx="80602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💡 When to Choose Tree Collections over Hash Collections:</a:t>
            </a:r>
          </a:p>
          <a:p>
            <a:r>
              <a:rPr lang="en-IN" dirty="0"/>
              <a:t>   ┌─────────────────────┐</a:t>
            </a:r>
          </a:p>
          <a:p>
            <a:r>
              <a:rPr lang="en-IN" dirty="0"/>
              <a:t>   │ ✅ You need elements/keys in SORTED order                              </a:t>
            </a:r>
          </a:p>
          <a:p>
            <a:r>
              <a:rPr lang="en-IN" dirty="0"/>
              <a:t>   │ ✅ You need RANGE queries (</a:t>
            </a:r>
            <a:r>
              <a:rPr lang="en-IN" dirty="0" err="1"/>
              <a:t>subSet</a:t>
            </a:r>
            <a:r>
              <a:rPr lang="en-IN" dirty="0"/>
              <a:t>, </a:t>
            </a:r>
            <a:r>
              <a:rPr lang="en-IN" dirty="0" err="1"/>
              <a:t>subMap</a:t>
            </a:r>
            <a:r>
              <a:rPr lang="en-IN" dirty="0"/>
              <a:t>, </a:t>
            </a:r>
            <a:r>
              <a:rPr lang="en-IN" dirty="0" err="1"/>
              <a:t>headSet</a:t>
            </a:r>
            <a:r>
              <a:rPr lang="en-IN" dirty="0"/>
              <a:t>, </a:t>
            </a:r>
            <a:r>
              <a:rPr lang="en-IN" dirty="0" err="1"/>
              <a:t>tailSet</a:t>
            </a:r>
            <a:r>
              <a:rPr lang="en-IN" dirty="0"/>
              <a:t>)            </a:t>
            </a:r>
          </a:p>
          <a:p>
            <a:r>
              <a:rPr lang="en-IN" dirty="0"/>
              <a:t>   │ ✅ You need NAVIGATION (floor, ceiling, lower, higher)                 </a:t>
            </a:r>
          </a:p>
          <a:p>
            <a:r>
              <a:rPr lang="en-IN" dirty="0"/>
              <a:t>   │ ✅ You need first/last element efficiently                             </a:t>
            </a:r>
          </a:p>
          <a:p>
            <a:r>
              <a:rPr lang="en-IN" dirty="0"/>
              <a:t>   │ ✅ You need a sorted iterator                                          </a:t>
            </a:r>
          </a:p>
          <a:p>
            <a:r>
              <a:rPr lang="en-IN" dirty="0"/>
              <a:t>   │ ❌ DON'T use if you only need fast lookup without ordering             </a:t>
            </a:r>
          </a:p>
          <a:p>
            <a:r>
              <a:rPr lang="en-IN" dirty="0"/>
              <a:t>   └───────────────────────┘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26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5D21-D8A4-342A-782B-A2085EB97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279" y="2574318"/>
            <a:ext cx="9905998" cy="1478570"/>
          </a:xfrm>
        </p:spPr>
        <p:txBody>
          <a:bodyPr/>
          <a:lstStyle/>
          <a:p>
            <a:r>
              <a:rPr lang="en-US" dirty="0"/>
              <a:t>			QUESTIONS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0550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238</TotalTime>
  <Words>808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         Tree Collections</vt:lpstr>
      <vt:lpstr>Agenda</vt:lpstr>
      <vt:lpstr>What are Tree Collections?  </vt:lpstr>
      <vt:lpstr>The Red-Black Tree — Internal Data Structure </vt:lpstr>
      <vt:lpstr>Tree Set</vt:lpstr>
      <vt:lpstr>Tree Map</vt:lpstr>
      <vt:lpstr>PowerPoint Presentation</vt:lpstr>
      <vt:lpstr>PowerPoint Presentation</vt:lpstr>
      <vt:lpstr>PowerPoint Presentation</vt:lpstr>
      <vt:lpstr>  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V Praveen Kumar</dc:creator>
  <cp:lastModifiedBy>A V Praveen Kumar</cp:lastModifiedBy>
  <cp:revision>8</cp:revision>
  <dcterms:created xsi:type="dcterms:W3CDTF">2026-05-12T09:01:04Z</dcterms:created>
  <dcterms:modified xsi:type="dcterms:W3CDTF">2026-05-13T10:11:07Z</dcterms:modified>
</cp:coreProperties>
</file>