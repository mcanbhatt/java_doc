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60F67-B6F0-4F6F-9FBF-294DACC464E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3FEA2-1F69-4373-9862-ADB9C89751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165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F3FEA2-1F69-4373-9862-ADB9C897513B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44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920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113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29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24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02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89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97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99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796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819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2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55DBA2D-9289-490E-9D8A-E8D025CA7E1F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AE85BCC-7D8C-4281-BAA3-53F9DE8566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7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953B-5C7E-9771-01C6-569050F916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Fail-Fast &amp; Fail-Safe Collections </a:t>
            </a:r>
          </a:p>
        </p:txBody>
      </p:sp>
    </p:spTree>
    <p:extLst>
      <p:ext uri="{BB962C8B-B14F-4D97-AF65-F5344CB8AC3E}">
        <p14:creationId xmlns:p14="http://schemas.microsoft.com/office/powerpoint/2010/main" val="1062729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97726-2CDA-E144-9733-7272DEAB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rgbClr val="FFFFFF"/>
                </a:solidFill>
              </a:rPr>
              <a:t>AGENDA</a:t>
            </a:r>
            <a:br>
              <a:rPr lang="en-IN" sz="3000" b="1" dirty="0">
                <a:solidFill>
                  <a:srgbClr val="FFFFFF"/>
                </a:solidFill>
              </a:rPr>
            </a:br>
            <a:endParaRPr lang="en-IN" sz="3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84AD2-78AC-FA6B-55CC-3CA81DBD8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dirty="0"/>
              <a:t>1.  What is Fail-Fast?</a:t>
            </a:r>
          </a:p>
          <a:p>
            <a:r>
              <a:rPr lang="en-US" dirty="0"/>
              <a:t>2.  What is Fail-Safe?</a:t>
            </a:r>
          </a:p>
          <a:p>
            <a:r>
              <a:rPr lang="en-US" dirty="0"/>
              <a:t>3.  Fail-Fast Collections in Java (with Code)</a:t>
            </a:r>
          </a:p>
          <a:p>
            <a:r>
              <a:rPr lang="en-US" dirty="0"/>
              <a:t>4.  Fail-Safe Collections in Java (with Code)</a:t>
            </a:r>
          </a:p>
          <a:p>
            <a:r>
              <a:rPr lang="en-US" dirty="0"/>
              <a:t>5.  Deep Dive: </a:t>
            </a:r>
            <a:r>
              <a:rPr lang="en-US" dirty="0" err="1"/>
              <a:t>ConcurrentModificationException</a:t>
            </a:r>
            <a:r>
              <a:rPr lang="en-US" dirty="0"/>
              <a:t> (CME)</a:t>
            </a:r>
          </a:p>
          <a:p>
            <a:r>
              <a:rPr lang="en-US" dirty="0"/>
              <a:t> How to Avoid CME (5 Techniques)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189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0C93A-F948-0E8B-0257-56659094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2400" b="1">
                <a:solidFill>
                  <a:schemeClr val="tx1"/>
                </a:solidFill>
              </a:rPr>
              <a:t>WHAT IS FAIL-FAST?</a:t>
            </a:r>
            <a:br>
              <a:rPr lang="en-IN" sz="2400" b="1">
                <a:solidFill>
                  <a:schemeClr val="tx1"/>
                </a:solidFill>
              </a:rPr>
            </a:br>
            <a:endParaRPr lang="en-IN" sz="24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222F-8797-C21A-2E58-091803B06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Definition</a:t>
            </a:r>
          </a:p>
          <a:p>
            <a:r>
              <a:rPr lang="en-US" dirty="0">
                <a:solidFill>
                  <a:schemeClr val="bg1"/>
                </a:solidFill>
              </a:rPr>
              <a:t>A </a:t>
            </a:r>
            <a:r>
              <a:rPr lang="en-US" b="1" dirty="0">
                <a:solidFill>
                  <a:schemeClr val="bg1"/>
                </a:solidFill>
              </a:rPr>
              <a:t>Fail-Fast</a:t>
            </a:r>
            <a:r>
              <a:rPr lang="en-US" dirty="0">
                <a:solidFill>
                  <a:schemeClr val="bg1"/>
                </a:solidFill>
              </a:rPr>
              <a:t> system is one that </a:t>
            </a:r>
            <a:r>
              <a:rPr lang="en-US" b="1" dirty="0">
                <a:solidFill>
                  <a:schemeClr val="bg1"/>
                </a:solidFill>
              </a:rPr>
              <a:t>immediately reports any failure</a:t>
            </a:r>
            <a:r>
              <a:rPr lang="en-US" dirty="0">
                <a:solidFill>
                  <a:schemeClr val="bg1"/>
                </a:solidFill>
              </a:rPr>
              <a:t> or condition that is likely to lead to failure. It does NOT try to continue operating in a potentially broken state.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In Java Collections Context</a:t>
            </a:r>
          </a:p>
          <a:p>
            <a:r>
              <a:rPr lang="en-US" dirty="0">
                <a:solidFill>
                  <a:schemeClr val="bg1"/>
                </a:solidFill>
              </a:rPr>
              <a:t>When you </a:t>
            </a:r>
            <a:r>
              <a:rPr lang="en-US" b="1" dirty="0">
                <a:solidFill>
                  <a:schemeClr val="bg1"/>
                </a:solidFill>
              </a:rPr>
              <a:t>iterate</a:t>
            </a:r>
            <a:r>
              <a:rPr lang="en-US" dirty="0">
                <a:solidFill>
                  <a:schemeClr val="bg1"/>
                </a:solidFill>
              </a:rPr>
              <a:t> over a Fail-Fast collection and </a:t>
            </a:r>
            <a:r>
              <a:rPr lang="en-US" b="1" dirty="0">
                <a:solidFill>
                  <a:schemeClr val="bg1"/>
                </a:solidFill>
              </a:rPr>
              <a:t>someone modifies</a:t>
            </a:r>
            <a:r>
              <a:rPr lang="en-US" dirty="0">
                <a:solidFill>
                  <a:schemeClr val="bg1"/>
                </a:solidFill>
              </a:rPr>
              <a:t> the collection structurally (add/remove) during iteration...</a:t>
            </a:r>
          </a:p>
          <a:p>
            <a:r>
              <a:rPr lang="en-US" dirty="0">
                <a:solidFill>
                  <a:schemeClr val="bg1"/>
                </a:solidFill>
              </a:rPr>
              <a:t>The iterator </a:t>
            </a:r>
            <a:r>
              <a:rPr lang="en-US" b="1" dirty="0">
                <a:solidFill>
                  <a:schemeClr val="bg1"/>
                </a:solidFill>
              </a:rPr>
              <a:t>immediately throws </a:t>
            </a:r>
            <a:r>
              <a:rPr lang="en-US" b="1">
                <a:solidFill>
                  <a:schemeClr val="bg1"/>
                </a:solidFill>
              </a:rPr>
              <a:t>ConcurrentModificationException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It does NOT wait. It does NOT silently corrupt data. It </a:t>
            </a:r>
            <a:r>
              <a:rPr lang="en-US" b="1" dirty="0">
                <a:solidFill>
                  <a:schemeClr val="bg1"/>
                </a:solidFill>
              </a:rPr>
              <a:t>FAILS FAST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230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352258-B4E4-A78E-C581-E84A2742D24B}"/>
              </a:ext>
            </a:extLst>
          </p:cNvPr>
          <p:cNvSpPr txBox="1"/>
          <p:nvPr/>
        </p:nvSpPr>
        <p:spPr>
          <a:xfrm>
            <a:off x="6049182" y="802638"/>
            <a:ext cx="5408696" cy="5252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bg1"/>
                </a:solidFill>
              </a:rPr>
              <a:t>Real-World Analogy 🏭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Imagine a FACTORY ASSEMBLY LINE: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🔧 A robot is inspecting items on a conveyor belt (Iterator)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🚫 Someone suddenly ADDS a new item in the middle of the belt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⚠️  The robot IMMEDIATELY STOPS and raises an ALARM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It does NOT continue inspecting — because the belt changed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and results would be unreliable.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THIS IS FAIL-FAST BEHAVIOR.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br>
              <a:rPr lang="en-US" sz="1500" dirty="0">
                <a:solidFill>
                  <a:schemeClr val="bg1"/>
                </a:solidFill>
              </a:rPr>
            </a:br>
            <a:r>
              <a:rPr lang="en-US" sz="1500" b="1" dirty="0">
                <a:solidFill>
                  <a:schemeClr val="bg1"/>
                </a:solidFill>
              </a:rPr>
              <a:t>Key Characteristics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✅ Detects modification IMMEDIATELY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✅ Throws </a:t>
            </a:r>
            <a:r>
              <a:rPr lang="en-US" sz="1500">
                <a:solidFill>
                  <a:schemeClr val="bg1"/>
                </a:solidFill>
              </a:rPr>
              <a:t>ConcurrentModificationException</a:t>
            </a:r>
            <a:endParaRPr lang="en-US" sz="1500" dirty="0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✅ Works on the ORIGINAL collection (no copy)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✅ Uses internal counter called "</a:t>
            </a:r>
            <a:r>
              <a:rPr lang="en-US" sz="1500">
                <a:solidFill>
                  <a:schemeClr val="bg1"/>
                </a:solidFill>
              </a:rPr>
              <a:t>modCount</a:t>
            </a:r>
            <a:r>
              <a:rPr lang="en-US" sz="1500" dirty="0">
                <a:solidFill>
                  <a:schemeClr val="bg1"/>
                </a:solidFill>
              </a:rPr>
              <a:t>"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✅ NOT guaranteed in all cases (best-effort)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491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96959-761F-C175-66EE-005E63A8E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4443-C50C-51A8-3861-8E028F4A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WHAT IS FAIL-SAFE?</a:t>
            </a:r>
            <a:br>
              <a:rPr lang="en-IN" sz="2400" b="1" dirty="0">
                <a:solidFill>
                  <a:schemeClr val="tx1"/>
                </a:solidFill>
              </a:rPr>
            </a:b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96D11-EC62-35F0-3F94-7878722CF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Definition</a:t>
            </a:r>
          </a:p>
          <a:p>
            <a:r>
              <a:rPr lang="en-US" dirty="0">
                <a:solidFill>
                  <a:schemeClr val="bg1"/>
                </a:solidFill>
              </a:rPr>
              <a:t>A </a:t>
            </a:r>
            <a:r>
              <a:rPr lang="en-US" b="1" dirty="0">
                <a:solidFill>
                  <a:schemeClr val="bg1"/>
                </a:solidFill>
              </a:rPr>
              <a:t>Fail-Safe</a:t>
            </a:r>
            <a:r>
              <a:rPr lang="en-US" dirty="0">
                <a:solidFill>
                  <a:schemeClr val="bg1"/>
                </a:solidFill>
              </a:rPr>
              <a:t> system is one that </a:t>
            </a:r>
            <a:r>
              <a:rPr lang="en-US" b="1" dirty="0">
                <a:solidFill>
                  <a:schemeClr val="bg1"/>
                </a:solidFill>
              </a:rPr>
              <a:t>does NOT throw an exception</a:t>
            </a:r>
            <a:r>
              <a:rPr lang="en-US" dirty="0">
                <a:solidFill>
                  <a:schemeClr val="bg1"/>
                </a:solidFill>
              </a:rPr>
              <a:t> when the collection is modified during iteration. It operates on a </a:t>
            </a:r>
            <a:r>
              <a:rPr lang="en-US" b="1" dirty="0">
                <a:solidFill>
                  <a:schemeClr val="bg1"/>
                </a:solidFill>
              </a:rPr>
              <a:t>clone/snapshot</a:t>
            </a:r>
            <a:r>
              <a:rPr lang="en-US" dirty="0">
                <a:solidFill>
                  <a:schemeClr val="bg1"/>
                </a:solidFill>
              </a:rPr>
              <a:t> of the collection..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In Java Collections Context</a:t>
            </a:r>
          </a:p>
          <a:p>
            <a:r>
              <a:rPr lang="en-US" dirty="0">
                <a:solidFill>
                  <a:schemeClr val="bg1"/>
                </a:solidFill>
              </a:rPr>
              <a:t>When you iterate over a Fail-Safe collection and someone modifies it...</a:t>
            </a:r>
          </a:p>
          <a:p>
            <a:r>
              <a:rPr lang="en-US" dirty="0">
                <a:solidFill>
                  <a:schemeClr val="bg1"/>
                </a:solidFill>
              </a:rPr>
              <a:t>The iterator </a:t>
            </a:r>
            <a:r>
              <a:rPr lang="en-US" b="1" dirty="0">
                <a:solidFill>
                  <a:schemeClr val="bg1"/>
                </a:solidFill>
              </a:rPr>
              <a:t>continues without any exception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It works on a </a:t>
            </a:r>
            <a:r>
              <a:rPr lang="en-US" b="1" dirty="0">
                <a:solidFill>
                  <a:schemeClr val="bg1"/>
                </a:solidFill>
              </a:rPr>
              <a:t>copy/snapshot</a:t>
            </a:r>
            <a:r>
              <a:rPr lang="en-US" dirty="0">
                <a:solidFill>
                  <a:schemeClr val="bg1"/>
                </a:solidFill>
              </a:rPr>
              <a:t> of the data</a:t>
            </a:r>
          </a:p>
          <a:p>
            <a:r>
              <a:rPr lang="en-US" dirty="0">
                <a:solidFill>
                  <a:schemeClr val="bg1"/>
                </a:solidFill>
              </a:rPr>
              <a:t>You may NOT see the latest modifications during iteration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528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1B2E2-9501-9EA4-0E70-637E355EF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607DC6-5C4A-945E-6A10-A682A7A435E6}"/>
              </a:ext>
            </a:extLst>
          </p:cNvPr>
          <p:cNvSpPr txBox="1"/>
          <p:nvPr/>
        </p:nvSpPr>
        <p:spPr>
          <a:xfrm>
            <a:off x="6049182" y="802638"/>
            <a:ext cx="5408696" cy="5252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 b="1">
                <a:solidFill>
                  <a:schemeClr val="bg1"/>
                </a:solidFill>
              </a:rPr>
              <a:t>Real-World Analogy 🏭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Imagine you take a PHOTOCOPY of a DOCUMENT:</a:t>
            </a:r>
            <a:br>
              <a:rPr lang="en-US" sz="1300">
                <a:solidFill>
                  <a:schemeClr val="bg1"/>
                </a:solidFill>
              </a:rPr>
            </a:br>
            <a:endParaRPr lang="en-US" sz="1300">
              <a:solidFill>
                <a:schemeClr val="bg1"/>
              </a:solidFill>
            </a:endParaRPr>
          </a:p>
          <a:p>
            <a:pPr marL="2857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📄 Original document is on the table</a:t>
            </a:r>
          </a:p>
          <a:p>
            <a:pPr marL="2857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📋 You take a PHOTOCOPY and start reading it</a:t>
            </a:r>
          </a:p>
          <a:p>
            <a:pPr marL="2857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✏️  Someone EDITS the original document while you read</a:t>
            </a:r>
          </a:p>
          <a:p>
            <a:pPr marL="2857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You DON'T notice the changes — you're reading the COPY.</a:t>
            </a:r>
          </a:p>
          <a:p>
            <a:pPr marL="2857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You DON'T get interrupted. You finish reading peacefully.</a:t>
            </a:r>
          </a:p>
          <a:p>
            <a:pPr marL="2857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But you might have STALE/OLD data.</a:t>
            </a:r>
          </a:p>
          <a:p>
            <a:pPr marL="285750"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THIS IS FAIL-SAFE BEHAVIOR.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br>
              <a:rPr lang="en-US" sz="1300">
                <a:solidFill>
                  <a:schemeClr val="bg1"/>
                </a:solidFill>
              </a:rPr>
            </a:br>
            <a:r>
              <a:rPr lang="en-US" sz="1300" b="1">
                <a:solidFill>
                  <a:schemeClr val="bg1"/>
                </a:solidFill>
              </a:rPr>
              <a:t>Key Characteristics</a:t>
            </a:r>
            <a:br>
              <a:rPr lang="en-US" sz="1300" b="1">
                <a:solidFill>
                  <a:schemeClr val="bg1"/>
                </a:solidFill>
              </a:rPr>
            </a:br>
            <a:endParaRPr lang="en-US" sz="1300" b="1">
              <a:solidFill>
                <a:schemeClr val="bg1"/>
              </a:solidFill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✅ Does NOT throw ConcurrentModificationException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✅ Works on a CLONE/COPY of the collection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✅ Safe for concurrent modification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✅ Higher MEMORY usage (because of cloning)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300">
                <a:solidFill>
                  <a:schemeClr val="bg1"/>
                </a:solidFill>
              </a:rPr>
              <a:t>✅ May show STALE data (not real-time)</a:t>
            </a: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sz="13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502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E97E7-EB83-4973-AAF6-71AD9F06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200" b="1"/>
              <a:t>FAIL-FAST COLLECTIONS IN JAVA</a:t>
            </a:r>
            <a:br>
              <a:rPr lang="en-US" sz="2200" b="1"/>
            </a:br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43932-83C6-8E37-F6AF-32824FE90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614" y="640080"/>
            <a:ext cx="5897068" cy="526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3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3642D-49DD-45B2-1D67-5C164A67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831E-C078-CBD5-3B48-3425D4E22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200" b="1" dirty="0"/>
              <a:t>FAIL-SAFE COLLECTIONS IN JAVA</a:t>
            </a:r>
            <a:br>
              <a:rPr lang="en-US" sz="2200" b="1" dirty="0"/>
            </a:b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1F470-E798-F97D-3C10-77690EA7D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666" y="1043069"/>
            <a:ext cx="5311600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8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130C-6B30-58F4-83A9-2C275BF55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rgbClr val="FFFFFF"/>
                </a:solidFill>
              </a:rPr>
              <a:t>Concurrent Modification Exception (CME)</a:t>
            </a:r>
            <a:br>
              <a:rPr lang="en-IN" sz="2000" b="1" dirty="0">
                <a:solidFill>
                  <a:srgbClr val="FFFFFF"/>
                </a:solidFill>
              </a:rPr>
            </a:br>
            <a:endParaRPr lang="en-IN" sz="2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33D72-5919-B42A-B3AE-35AAAB32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1695" y="1402080"/>
            <a:ext cx="5320696" cy="40538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dirty="0"/>
              <a:t>Package  : </a:t>
            </a:r>
            <a:r>
              <a:rPr lang="en-IN" dirty="0" err="1"/>
              <a:t>java.util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Extends  : </a:t>
            </a:r>
            <a:r>
              <a:rPr lang="en-IN" dirty="0" err="1"/>
              <a:t>RuntimeException</a:t>
            </a:r>
            <a:r>
              <a:rPr lang="en-IN" dirty="0"/>
              <a:t> (Unchecked Exception)</a:t>
            </a:r>
          </a:p>
          <a:p>
            <a:pPr marL="0" indent="0">
              <a:buNone/>
            </a:pPr>
            <a:r>
              <a:rPr lang="en-IN" dirty="0"/>
              <a:t>Since    : JDK 1.2   </a:t>
            </a:r>
          </a:p>
          <a:p>
            <a:r>
              <a:rPr lang="en-US" dirty="0"/>
              <a:t>Thrown when a collection is STRUCTURALLY MODIFIED  while an iterator is actively iterating over it. </a:t>
            </a:r>
          </a:p>
          <a:p>
            <a:r>
              <a:rPr lang="en-US" dirty="0"/>
              <a:t>⚠️ "Concurrent" does NOT necessarily mean multi-threading! It can happen in a SINGLE thread!</a:t>
            </a:r>
          </a:p>
        </p:txBody>
      </p:sp>
    </p:spTree>
    <p:extLst>
      <p:ext uri="{BB962C8B-B14F-4D97-AF65-F5344CB8AC3E}">
        <p14:creationId xmlns:p14="http://schemas.microsoft.com/office/powerpoint/2010/main" val="2870798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C410DD-5549-AAFD-AB62-94BB77AA1D55}"/>
              </a:ext>
            </a:extLst>
          </p:cNvPr>
          <p:cNvSpPr txBox="1"/>
          <p:nvPr/>
        </p:nvSpPr>
        <p:spPr>
          <a:xfrm>
            <a:off x="6049182" y="802638"/>
            <a:ext cx="5408696" cy="5252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What is a "Structural Modification"?</a:t>
            </a:r>
            <a:endParaRPr lang="en-US" b="1">
              <a:solidFill>
                <a:schemeClr val="bg1"/>
              </a:solidFill>
            </a:endParaRP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STRUCTURAL MODIFICATION (triggers CME):</a:t>
            </a:r>
            <a:endParaRPr lang="en-US">
              <a:solidFill>
                <a:schemeClr val="bg1"/>
              </a:solidFill>
            </a:endParaRP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✅ add()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✅ remove()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✅ clear()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✅ </a:t>
            </a:r>
            <a:r>
              <a:rPr lang="en-US">
                <a:solidFill>
                  <a:schemeClr val="bg1"/>
                </a:solidFill>
              </a:rPr>
              <a:t>addAll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✅ </a:t>
            </a:r>
            <a:r>
              <a:rPr lang="en-US">
                <a:solidFill>
                  <a:schemeClr val="bg1"/>
                </a:solidFill>
              </a:rPr>
              <a:t>retainAll</a:t>
            </a:r>
            <a:r>
              <a:rPr lang="en-US" dirty="0">
                <a:solidFill>
                  <a:schemeClr val="bg1"/>
                </a:solidFill>
              </a:rPr>
              <a:t>()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NOT STRUCTURAL MODIFICATION (does NOT trigger CME):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❌ set(index, element)  — replaces, doesn't change size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❌ Changing an object's internal state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      e.g., </a:t>
            </a:r>
            <a:r>
              <a:rPr lang="en-US">
                <a:solidFill>
                  <a:schemeClr val="bg1"/>
                </a:solidFill>
              </a:rPr>
              <a:t>employee.setName</a:t>
            </a:r>
            <a:r>
              <a:rPr lang="en-US" dirty="0">
                <a:solidFill>
                  <a:schemeClr val="bg1"/>
                </a:solidFill>
              </a:rPr>
              <a:t>("New Name")</a:t>
            </a: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indent="-228600" defTabSz="914400"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56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8473E-BD73-559C-8B30-1B1FCB439CAB}"/>
              </a:ext>
            </a:extLst>
          </p:cNvPr>
          <p:cNvSpPr txBox="1"/>
          <p:nvPr/>
        </p:nvSpPr>
        <p:spPr>
          <a:xfrm>
            <a:off x="804672" y="2404872"/>
            <a:ext cx="3044950" cy="1627792"/>
          </a:xfrm>
          <a:prstGeom prst="rect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 b="1" cap="all" spc="20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HOW TO AVOID CME (5 TECHNIQUES)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sz="1500" cap="all" spc="200">
                <a:solidFill>
                  <a:srgbClr val="262626"/>
                </a:solidFill>
                <a:latin typeface="+mj-lt"/>
                <a:ea typeface="+mj-ea"/>
                <a:cs typeface="+mj-cs"/>
              </a:rPr>
            </a:br>
            <a:endParaRPr lang="en-US" sz="1500" cap="all" spc="20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758CF1-B037-F2B7-C308-1615ACF6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109" y="418612"/>
            <a:ext cx="6257544" cy="40856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ABFCE1-D7E2-C89B-742E-AB66AC23AC9C}"/>
              </a:ext>
            </a:extLst>
          </p:cNvPr>
          <p:cNvSpPr txBox="1"/>
          <p:nvPr/>
        </p:nvSpPr>
        <p:spPr>
          <a:xfrm>
            <a:off x="5080000" y="4953000"/>
            <a:ext cx="618066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Why does </a:t>
            </a:r>
            <a:r>
              <a:rPr lang="en-US" sz="1400" b="1" dirty="0" err="1"/>
              <a:t>it.remove</a:t>
            </a:r>
            <a:r>
              <a:rPr lang="en-US" sz="1400" b="1" dirty="0"/>
              <a:t>() work?</a:t>
            </a:r>
            <a:endParaRPr lang="en-US" sz="1400" dirty="0"/>
          </a:p>
          <a:p>
            <a:r>
              <a:rPr lang="en-US" sz="1400" dirty="0"/>
              <a:t>Because </a:t>
            </a:r>
            <a:r>
              <a:rPr lang="en-US" sz="1400" dirty="0" err="1"/>
              <a:t>iterator.remove</a:t>
            </a:r>
            <a:r>
              <a:rPr lang="en-US" sz="1400" dirty="0"/>
              <a:t>() internally does:</a:t>
            </a:r>
          </a:p>
          <a:p>
            <a:r>
              <a:rPr lang="en-US" sz="1400" dirty="0"/>
              <a:t>  1. Removes the element from the collection</a:t>
            </a:r>
          </a:p>
          <a:p>
            <a:r>
              <a:rPr lang="en-US" sz="1400" dirty="0"/>
              <a:t>  2. Sets </a:t>
            </a:r>
            <a:r>
              <a:rPr lang="en-US" sz="1400" dirty="0" err="1"/>
              <a:t>expectedModCount</a:t>
            </a:r>
            <a:r>
              <a:rPr lang="en-US" sz="1400" dirty="0"/>
              <a:t> = </a:t>
            </a:r>
            <a:r>
              <a:rPr lang="en-US" sz="1400" dirty="0" err="1"/>
              <a:t>modCount</a:t>
            </a:r>
            <a:r>
              <a:rPr lang="en-US" sz="1400" dirty="0"/>
              <a:t>  ← RE-SYNCS!</a:t>
            </a:r>
          </a:p>
          <a:p>
            <a:r>
              <a:rPr lang="en-US" sz="1400" dirty="0"/>
              <a:t>  </a:t>
            </a:r>
          </a:p>
          <a:p>
            <a:r>
              <a:rPr lang="en-US" sz="1400" dirty="0"/>
              <a:t>So the next check will pass.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7933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565931-45EB-6E13-6ADD-3F7E403BF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162" y="887523"/>
            <a:ext cx="8093141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9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58B706-D4D7-E315-FAD3-BB8648D23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72" y="1913466"/>
            <a:ext cx="4789827" cy="25145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5C24D0-C28F-983D-6777-271BC47D0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68" y="1921933"/>
            <a:ext cx="4799456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1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095E9F-C76B-CA90-7681-47901A82E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91" y="809237"/>
            <a:ext cx="8047417" cy="405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0886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143</TotalTime>
  <Words>632</Words>
  <Application>Microsoft Office PowerPoint</Application>
  <PresentationFormat>Widescreen</PresentationFormat>
  <Paragraphs>79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Gill Sans MT</vt:lpstr>
      <vt:lpstr>Parcel</vt:lpstr>
      <vt:lpstr>Fail-Fast &amp; Fail-Safe Collections </vt:lpstr>
      <vt:lpstr>AGENDA </vt:lpstr>
      <vt:lpstr>WHAT IS FAIL-FAST? </vt:lpstr>
      <vt:lpstr>PowerPoint Presentation</vt:lpstr>
      <vt:lpstr>WHAT IS FAIL-SAFE? </vt:lpstr>
      <vt:lpstr>PowerPoint Presentation</vt:lpstr>
      <vt:lpstr>FAIL-FAST COLLECTIONS IN JAVA </vt:lpstr>
      <vt:lpstr>FAIL-SAFE COLLECTIONS IN JAVA </vt:lpstr>
      <vt:lpstr>Concurrent Modification Exception (CME)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V Praveen Kumar</dc:creator>
  <cp:lastModifiedBy>A V Praveen Kumar</cp:lastModifiedBy>
  <cp:revision>15</cp:revision>
  <dcterms:created xsi:type="dcterms:W3CDTF">2026-05-12T12:56:40Z</dcterms:created>
  <dcterms:modified xsi:type="dcterms:W3CDTF">2026-05-13T10:20:19Z</dcterms:modified>
</cp:coreProperties>
</file>