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385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422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467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67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397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886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996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07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925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315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995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4943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046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325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886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640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113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DFCD4D8-53AF-4E75-A3C5-4B0BB6C6ECF5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8522F5E-D578-415D-93C9-CD643243C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84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68C5F-7995-B7E5-C517-FB29617D64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concurrent collections</a:t>
            </a:r>
            <a:br>
              <a:rPr lang="en-IN" b="1" dirty="0"/>
            </a:br>
            <a:r>
              <a:rPr lang="en-IN" b="1" dirty="0"/>
              <a:t>and </a:t>
            </a:r>
            <a:br>
              <a:rPr lang="en-IN" b="1" dirty="0"/>
            </a:br>
            <a:r>
              <a:rPr lang="en-IN" b="1" dirty="0"/>
              <a:t>Their Internal Implementations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CB315-3CB9-E79C-306D-1A04D029F2D4}"/>
              </a:ext>
            </a:extLst>
          </p:cNvPr>
          <p:cNvSpPr txBox="1"/>
          <p:nvPr/>
        </p:nvSpPr>
        <p:spPr>
          <a:xfrm>
            <a:off x="4495800" y="4174067"/>
            <a:ext cx="5808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ConcurrentHashMap</a:t>
            </a:r>
            <a:r>
              <a:rPr lang="en-IN" b="1" dirty="0"/>
              <a:t>, </a:t>
            </a:r>
            <a:r>
              <a:rPr lang="en-IN" b="1" dirty="0" err="1"/>
              <a:t>CopyOnWriteArrayList</a:t>
            </a:r>
            <a:r>
              <a:rPr lang="en-IN" b="1" dirty="0"/>
              <a:t>, </a:t>
            </a:r>
            <a:r>
              <a:rPr lang="en-IN" b="1" dirty="0" err="1"/>
              <a:t>CopyOnWriteArraySet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26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B0A58-B700-1ACF-6070-E96055205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concurrent collections?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36134-2FB2-C71B-0BCA-C63901CD36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744134"/>
            <a:ext cx="10363826" cy="4047066"/>
          </a:xfrm>
        </p:spPr>
        <p:txBody>
          <a:bodyPr/>
          <a:lstStyle/>
          <a:p>
            <a:r>
              <a:rPr lang="en-US" dirty="0"/>
              <a:t>Today we’ll understand why these collections exist, how they work internally, and when to use each</a:t>
            </a:r>
            <a:br>
              <a:rPr lang="en-US" dirty="0"/>
            </a:br>
            <a:r>
              <a:rPr lang="en-US" dirty="0"/>
              <a:t> one.</a:t>
            </a:r>
            <a:br>
              <a:rPr lang="en-US" dirty="0"/>
            </a:br>
            <a:r>
              <a:rPr lang="en-IN" b="1" dirty="0"/>
              <a:t>Problem with normal collections</a:t>
            </a:r>
          </a:p>
          <a:p>
            <a:r>
              <a:rPr lang="en-US" dirty="0"/>
              <a:t>Multiple threads accessing shared collections can cause:</a:t>
            </a:r>
          </a:p>
          <a:p>
            <a:pPr lvl="1"/>
            <a:r>
              <a:rPr lang="en-US" dirty="0"/>
              <a:t>data inconsistency</a:t>
            </a:r>
          </a:p>
          <a:p>
            <a:pPr lvl="1"/>
            <a:r>
              <a:rPr lang="en-US" dirty="0"/>
              <a:t>race conditions</a:t>
            </a:r>
          </a:p>
          <a:p>
            <a:pPr lvl="1"/>
            <a:r>
              <a:rPr lang="en-US" dirty="0" err="1"/>
              <a:t>ConcurrentModificationException</a:t>
            </a:r>
            <a:endParaRPr lang="en-US" dirty="0"/>
          </a:p>
          <a:p>
            <a:pPr lvl="1"/>
            <a:r>
              <a:rPr lang="en-US" dirty="0"/>
              <a:t>poor performance with coarse locking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33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0081-75CE-127F-C218-6B7FA53A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Traditional solution vs modern solution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13BCD-C34E-14A0-DA72-70EC9B26EF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778000"/>
            <a:ext cx="10363826" cy="4013199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Synchronized Collections vs Concurrent Collections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Content:</a:t>
            </a:r>
          </a:p>
          <a:p>
            <a:r>
              <a:rPr lang="en-IN" dirty="0" err="1"/>
              <a:t>Collections.synchronizedMap</a:t>
            </a:r>
            <a:r>
              <a:rPr lang="en-IN" dirty="0"/>
              <a:t>(...)</a:t>
            </a:r>
          </a:p>
          <a:p>
            <a:r>
              <a:rPr lang="en-IN" dirty="0" err="1"/>
              <a:t>Collections.synchronizedList</a:t>
            </a:r>
            <a:r>
              <a:rPr lang="en-IN" dirty="0"/>
              <a:t>(...)</a:t>
            </a:r>
          </a:p>
          <a:p>
            <a:r>
              <a:rPr lang="en-IN" dirty="0"/>
              <a:t>Entire collection often locked for operations</a:t>
            </a:r>
          </a:p>
          <a:p>
            <a:r>
              <a:rPr lang="en-IN" dirty="0"/>
              <a:t>Less scalable under high concurrency</a:t>
            </a:r>
          </a:p>
          <a:p>
            <a:pPr marL="0" indent="0">
              <a:buNone/>
            </a:pPr>
            <a:r>
              <a:rPr lang="en-IN" dirty="0"/>
              <a:t>Vs:</a:t>
            </a:r>
          </a:p>
          <a:p>
            <a:r>
              <a:rPr lang="en-IN" dirty="0" err="1"/>
              <a:t>ConcurrentHashMap</a:t>
            </a:r>
            <a:endParaRPr lang="en-IN" dirty="0"/>
          </a:p>
          <a:p>
            <a:r>
              <a:rPr lang="en-IN" dirty="0" err="1"/>
              <a:t>CopyOnWriteArrayList</a:t>
            </a:r>
            <a:endParaRPr lang="en-IN" dirty="0"/>
          </a:p>
          <a:p>
            <a:r>
              <a:rPr lang="en-IN" dirty="0" err="1"/>
              <a:t>CopyOnWriteArraySet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008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2AE2-18FD-67E0-1977-E8894A402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ConcurrentHashMap</a:t>
            </a:r>
            <a:r>
              <a:rPr lang="en-IN" b="1" dirty="0"/>
              <a:t> 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A8024-15AC-DF0F-B74E-F45B95EA85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786468"/>
            <a:ext cx="10363826" cy="400473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What is </a:t>
            </a:r>
            <a:r>
              <a:rPr lang="en-IN" b="1" dirty="0" err="1"/>
              <a:t>ConcurrentHashMap</a:t>
            </a:r>
            <a:r>
              <a:rPr lang="en-IN" b="1" dirty="0"/>
              <a:t>?</a:t>
            </a:r>
          </a:p>
          <a:p>
            <a:r>
              <a:rPr lang="en-US" dirty="0"/>
              <a:t>Thread-safe map for concurrent access</a:t>
            </a:r>
          </a:p>
          <a:p>
            <a:r>
              <a:rPr lang="en-US" dirty="0"/>
              <a:t>Allows multiple threads to read and update efficiently</a:t>
            </a:r>
          </a:p>
          <a:p>
            <a:r>
              <a:rPr lang="en-US" dirty="0"/>
              <a:t>Better scalability than synchronized HashMap</a:t>
            </a:r>
          </a:p>
          <a:p>
            <a:pPr marL="0" indent="0">
              <a:buNone/>
            </a:pPr>
            <a:r>
              <a:rPr lang="en-US" dirty="0"/>
              <a:t>summary:</a:t>
            </a:r>
          </a:p>
          <a:p>
            <a:r>
              <a:rPr lang="en-US" dirty="0"/>
              <a:t>CHM is designed for high concurrency without locking the entire map.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74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2CA358-2EA6-49C2-AAEF-0C79C1F76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AD74829-8970-4A28-B5F6-387E0E313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4C0035-1DA7-802F-E515-B7F827820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791" y="618518"/>
            <a:ext cx="3144944" cy="2649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914B00-4E8A-5376-6309-14ECD80FD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997" y="3724226"/>
            <a:ext cx="4044539" cy="23559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76ACB9-C2D4-45C2-924A-2CF7CFF5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33998-C41E-C84E-9AEF-5A43A1A2CF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4065" y="2367092"/>
            <a:ext cx="5855415" cy="384744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300"/>
              <a:t>Data stored in an array of buckets</a:t>
            </a:r>
          </a:p>
          <a:p>
            <a:pPr>
              <a:lnSpc>
                <a:spcPct val="110000"/>
              </a:lnSpc>
            </a:pPr>
            <a:r>
              <a:rPr lang="en-IN" sz="1300"/>
              <a:t>Each bucket may contain:</a:t>
            </a:r>
          </a:p>
          <a:p>
            <a:pPr lvl="1">
              <a:lnSpc>
                <a:spcPct val="110000"/>
              </a:lnSpc>
            </a:pPr>
            <a:r>
              <a:rPr lang="en-IN" sz="1300"/>
              <a:t>linked list</a:t>
            </a:r>
          </a:p>
          <a:p>
            <a:pPr lvl="1">
              <a:lnSpc>
                <a:spcPct val="110000"/>
              </a:lnSpc>
            </a:pPr>
            <a:r>
              <a:rPr lang="en-IN" sz="1300"/>
              <a:t>tree (when collisions are high)</a:t>
            </a:r>
          </a:p>
          <a:p>
            <a:pPr>
              <a:lnSpc>
                <a:spcPct val="110000"/>
              </a:lnSpc>
            </a:pPr>
            <a:r>
              <a:rPr lang="en-IN" sz="1300"/>
              <a:t>Reads are mostly lock-free</a:t>
            </a:r>
          </a:p>
          <a:p>
            <a:pPr>
              <a:lnSpc>
                <a:spcPct val="110000"/>
              </a:lnSpc>
            </a:pPr>
            <a:r>
              <a:rPr lang="en-IN" sz="1300"/>
              <a:t>Updates use fine-grained synchronization/CAS</a:t>
            </a:r>
          </a:p>
          <a:p>
            <a:pPr>
              <a:lnSpc>
                <a:spcPct val="110000"/>
              </a:lnSpc>
            </a:pPr>
            <a:r>
              <a:rPr lang="en-IN" sz="1300"/>
              <a:t>Java 8 removed segment-based design from older versions</a:t>
            </a:r>
          </a:p>
          <a:p>
            <a:pPr>
              <a:lnSpc>
                <a:spcPct val="110000"/>
              </a:lnSpc>
            </a:pPr>
            <a:r>
              <a:rPr lang="en-IN" sz="1300"/>
              <a:t>Important note:</a:t>
            </a:r>
          </a:p>
          <a:p>
            <a:pPr>
              <a:lnSpc>
                <a:spcPct val="110000"/>
              </a:lnSpc>
            </a:pPr>
            <a:r>
              <a:rPr lang="en-IN" sz="1300"/>
              <a:t>In </a:t>
            </a:r>
            <a:r>
              <a:rPr lang="en-IN" sz="1300" b="1"/>
              <a:t>Java 7</a:t>
            </a:r>
            <a:r>
              <a:rPr lang="en-IN" sz="1300"/>
              <a:t> → segment-based locking</a:t>
            </a:r>
          </a:p>
          <a:p>
            <a:pPr>
              <a:lnSpc>
                <a:spcPct val="110000"/>
              </a:lnSpc>
            </a:pPr>
            <a:r>
              <a:rPr lang="en-IN" sz="1300"/>
              <a:t>In </a:t>
            </a:r>
            <a:r>
              <a:rPr lang="en-IN" sz="1300" b="1"/>
              <a:t>Java 8+</a:t>
            </a:r>
            <a:r>
              <a:rPr lang="en-IN" sz="1300"/>
              <a:t> → bucket-level / node-level synchronization + CAS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4E8DE-1412-F00A-0A38-39D2674A0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064" y="618517"/>
            <a:ext cx="5855416" cy="1596177"/>
          </a:xfrm>
        </p:spPr>
        <p:txBody>
          <a:bodyPr>
            <a:normAutofit/>
          </a:bodyPr>
          <a:lstStyle/>
          <a:p>
            <a:r>
              <a:rPr lang="en-IN" b="1" dirty="0"/>
              <a:t>CHM Internal Working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368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0BCE-9D1A-6D0F-31BD-77C410257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IN" b="1" dirty="0"/>
              <a:t>HashMap vs </a:t>
            </a:r>
            <a:r>
              <a:rPr lang="en-IN" b="1" dirty="0" err="1"/>
              <a:t>Hashtable</a:t>
            </a:r>
            <a:r>
              <a:rPr lang="en-IN" b="1" dirty="0"/>
              <a:t> vs </a:t>
            </a:r>
            <a:r>
              <a:rPr lang="en-IN" b="1" dirty="0" err="1"/>
              <a:t>ConcurrentHashMap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F29D29-8958-84B3-81DB-C7425ACDDE3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17034168"/>
              </p:ext>
            </p:extLst>
          </p:nvPr>
        </p:nvGraphicFramePr>
        <p:xfrm>
          <a:off x="915023" y="2265547"/>
          <a:ext cx="10363203" cy="2251760"/>
        </p:xfrm>
        <a:graphic>
          <a:graphicData uri="http://schemas.openxmlformats.org/drawingml/2006/table">
            <a:tbl>
              <a:tblPr/>
              <a:tblGrid>
                <a:gridCol w="3177196">
                  <a:extLst>
                    <a:ext uri="{9D8B030D-6E8A-4147-A177-3AD203B41FA5}">
                      <a16:colId xmlns:a16="http://schemas.microsoft.com/office/drawing/2014/main" val="2430760526"/>
                    </a:ext>
                  </a:extLst>
                </a:gridCol>
                <a:gridCol w="1951097">
                  <a:extLst>
                    <a:ext uri="{9D8B030D-6E8A-4147-A177-3AD203B41FA5}">
                      <a16:colId xmlns:a16="http://schemas.microsoft.com/office/drawing/2014/main" val="4266075229"/>
                    </a:ext>
                  </a:extLst>
                </a:gridCol>
                <a:gridCol w="2768496">
                  <a:extLst>
                    <a:ext uri="{9D8B030D-6E8A-4147-A177-3AD203B41FA5}">
                      <a16:colId xmlns:a16="http://schemas.microsoft.com/office/drawing/2014/main" val="1217558553"/>
                    </a:ext>
                  </a:extLst>
                </a:gridCol>
                <a:gridCol w="2466414">
                  <a:extLst>
                    <a:ext uri="{9D8B030D-6E8A-4147-A177-3AD203B41FA5}">
                      <a16:colId xmlns:a16="http://schemas.microsoft.com/office/drawing/2014/main" val="3336404374"/>
                    </a:ext>
                  </a:extLst>
                </a:gridCol>
              </a:tblGrid>
              <a:tr h="562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Collection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Thread-safe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Locking style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Scalability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010603"/>
                  </a:ext>
                </a:extLst>
              </a:tr>
              <a:tr h="562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HashMap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>
                          <a:effectLst/>
                        </a:rPr>
                        <a:t>No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None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High but unsafe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886927"/>
                  </a:ext>
                </a:extLst>
              </a:tr>
              <a:tr h="562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Hashtable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Yes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Whole table lock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Low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187538"/>
                  </a:ext>
                </a:extLst>
              </a:tr>
              <a:tr h="562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ConcurrentHashMap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Yes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>
                          <a:effectLst/>
                        </a:rPr>
                        <a:t>Fine-grained/CAS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>
                          <a:effectLst/>
                        </a:rPr>
                        <a:t>High</a:t>
                      </a:r>
                    </a:p>
                  </a:txBody>
                  <a:tcPr marL="21323" marR="21323" marT="63970" marB="6397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30593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1FCB007-842D-E05D-F0AE-917197F04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B2702E-54DD-CB83-8E10-E9D8212171B9}"/>
              </a:ext>
            </a:extLst>
          </p:cNvPr>
          <p:cNvSpPr txBox="1"/>
          <p:nvPr/>
        </p:nvSpPr>
        <p:spPr>
          <a:xfrm>
            <a:off x="913775" y="4792133"/>
            <a:ext cx="58341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HashMap: no lock</a:t>
            </a:r>
          </a:p>
          <a:p>
            <a:r>
              <a:rPr lang="en-US" dirty="0" err="1"/>
              <a:t>Hashtable</a:t>
            </a:r>
            <a:r>
              <a:rPr lang="en-US" dirty="0"/>
              <a:t>: one giant lock</a:t>
            </a:r>
          </a:p>
          <a:p>
            <a:r>
              <a:rPr lang="en-US" dirty="0"/>
              <a:t>CHM: multiple small lock zones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4934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C1AB-C6FA-C5A4-7CCF-EA28D452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When to use </a:t>
            </a:r>
            <a:r>
              <a:rPr lang="en-IN" b="1" dirty="0" err="1"/>
              <a:t>ConcurrentHashMap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441BF-57E7-B787-6751-DD4292C1579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Shared caching</a:t>
            </a:r>
          </a:p>
          <a:p>
            <a:r>
              <a:rPr lang="en-US" dirty="0"/>
              <a:t>Frequency counters</a:t>
            </a:r>
          </a:p>
          <a:p>
            <a:r>
              <a:rPr lang="en-US" dirty="0"/>
              <a:t>Session storage</a:t>
            </a:r>
          </a:p>
          <a:p>
            <a:r>
              <a:rPr lang="en-US" dirty="0"/>
              <a:t>Real-time metrics aggregation</a:t>
            </a:r>
          </a:p>
          <a:p>
            <a:r>
              <a:rPr lang="en-US" dirty="0"/>
              <a:t>Best when there are frequent reads and updates by many threads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558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E594-F1FD-7F9D-E1D8-7EE9E6D7B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CopyOnWriteArrayList</a:t>
            </a:r>
            <a:r>
              <a:rPr lang="en-IN" b="1" dirty="0"/>
              <a:t> 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A4180-0990-68CD-44AC-221CB277B89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Thread-safe variant of </a:t>
            </a:r>
            <a:r>
              <a:rPr lang="en-US" dirty="0" err="1"/>
              <a:t>ArrayList</a:t>
            </a:r>
            <a:endParaRPr lang="en-US" dirty="0"/>
          </a:p>
          <a:p>
            <a:r>
              <a:rPr lang="en-US" dirty="0"/>
              <a:t>On every write operation:</a:t>
            </a:r>
          </a:p>
          <a:p>
            <a:pPr lvl="1"/>
            <a:r>
              <a:rPr lang="en-US" dirty="0"/>
              <a:t>creates a new copy of the internal array</a:t>
            </a:r>
          </a:p>
          <a:p>
            <a:pPr lvl="1"/>
            <a:r>
              <a:rPr lang="en-US" dirty="0"/>
              <a:t>modifies the new array</a:t>
            </a:r>
          </a:p>
          <a:p>
            <a:pPr lvl="1"/>
            <a:r>
              <a:rPr lang="en-US" dirty="0"/>
              <a:t>replaces the old array reference</a:t>
            </a:r>
          </a:p>
          <a:p>
            <a:r>
              <a:rPr lang="en-US" dirty="0"/>
              <a:t>Excellent for read-heavy workloads, expensive for write-heavy workloads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3576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C27E-5592-C4AC-DA81-38830B583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015550"/>
          </a:xfrm>
        </p:spPr>
        <p:txBody>
          <a:bodyPr/>
          <a:lstStyle/>
          <a:p>
            <a:r>
              <a:rPr lang="en-IN" b="1" dirty="0"/>
              <a:t>How </a:t>
            </a:r>
            <a:r>
              <a:rPr lang="en-IN" b="1" dirty="0" err="1"/>
              <a:t>CopyOnWriteArrayList</a:t>
            </a:r>
            <a:r>
              <a:rPr lang="en-IN" b="1" dirty="0"/>
              <a:t>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ADCB3-C67B-1DF6-6005-A3BF5149BD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507068"/>
            <a:ext cx="10363826" cy="428413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Internally uses an array</a:t>
            </a:r>
          </a:p>
          <a:p>
            <a:r>
              <a:rPr lang="en-US" dirty="0"/>
              <a:t>Read operations:</a:t>
            </a:r>
          </a:p>
          <a:p>
            <a:pPr lvl="1"/>
            <a:r>
              <a:rPr lang="en-US" dirty="0"/>
              <a:t>no locking needed</a:t>
            </a:r>
          </a:p>
          <a:p>
            <a:pPr lvl="1"/>
            <a:r>
              <a:rPr lang="en-US" dirty="0"/>
              <a:t>very fast and safe</a:t>
            </a:r>
          </a:p>
          <a:p>
            <a:r>
              <a:rPr lang="en-US" dirty="0"/>
              <a:t>Write operations:</a:t>
            </a:r>
          </a:p>
          <a:p>
            <a:pPr lvl="1"/>
            <a:r>
              <a:rPr lang="en-US" dirty="0"/>
              <a:t>lock</a:t>
            </a:r>
          </a:p>
          <a:p>
            <a:pPr lvl="1"/>
            <a:r>
              <a:rPr lang="en-US" dirty="0"/>
              <a:t>copy entire array</a:t>
            </a:r>
          </a:p>
          <a:p>
            <a:pPr lvl="1"/>
            <a:r>
              <a:rPr lang="en-US" dirty="0"/>
              <a:t>perform update</a:t>
            </a:r>
          </a:p>
          <a:p>
            <a:pPr lvl="1"/>
            <a:r>
              <a:rPr lang="en-US" dirty="0"/>
              <a:t>publish new array</a:t>
            </a:r>
          </a:p>
          <a:p>
            <a:r>
              <a:rPr lang="en-IN" dirty="0"/>
              <a:t>Ex - </a:t>
            </a:r>
            <a:r>
              <a:rPr lang="en-US" dirty="0"/>
              <a:t>Array v1: [A B C] Write add(D) New array v2: [A B C D] Readers continue on old snapshot until switch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430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FA6DB-80DB-074F-A43D-E6A607CF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54683"/>
          </a:xfrm>
        </p:spPr>
        <p:txBody>
          <a:bodyPr/>
          <a:lstStyle/>
          <a:p>
            <a:r>
              <a:rPr lang="en-US" b="1" dirty="0"/>
              <a:t>Why iteration is safe in COWAL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04F69-32D5-E609-D81C-F713D82CEB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88534"/>
            <a:ext cx="10363826" cy="4402666"/>
          </a:xfrm>
        </p:spPr>
        <p:txBody>
          <a:bodyPr/>
          <a:lstStyle/>
          <a:p>
            <a:r>
              <a:rPr lang="en-US" dirty="0"/>
              <a:t>Iterator uses a snapshot of the array at the time iterator was created</a:t>
            </a:r>
          </a:p>
          <a:p>
            <a:r>
              <a:rPr lang="en-US" dirty="0"/>
              <a:t>So concurrent modification does not throw </a:t>
            </a:r>
            <a:r>
              <a:rPr lang="en-US" dirty="0" err="1"/>
              <a:t>ConcurrentModificationException</a:t>
            </a:r>
            <a:endParaRPr lang="en-US" dirty="0"/>
          </a:p>
          <a:p>
            <a:r>
              <a:rPr lang="en-US" dirty="0"/>
              <a:t>Iterator does not see later updates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 </a:t>
            </a:r>
          </a:p>
          <a:p>
            <a:r>
              <a:rPr lang="en-US" dirty="0"/>
              <a:t>Thread 1 iterator sees [A B C]</a:t>
            </a:r>
          </a:p>
          <a:p>
            <a:r>
              <a:rPr lang="en-US" dirty="0"/>
              <a:t>Thread 2 adds D</a:t>
            </a:r>
          </a:p>
          <a:p>
            <a:r>
              <a:rPr lang="en-US" dirty="0"/>
              <a:t>Thread 1 still sees [A B C]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4843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2BC3-0721-D15B-57A9-40AAC5B72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1921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COWAL trade-offs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A70FA-959D-547E-9AC7-C6FD3E2FDF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37734"/>
            <a:ext cx="10363826" cy="445346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Pros and Cons of COWAL</a:t>
            </a:r>
          </a:p>
          <a:p>
            <a:pPr marL="0" indent="0">
              <a:buNone/>
            </a:pPr>
            <a:r>
              <a:rPr lang="en-US" dirty="0"/>
              <a:t>Pros:</a:t>
            </a:r>
          </a:p>
          <a:p>
            <a:r>
              <a:rPr lang="en-US" dirty="0"/>
              <a:t>very safe iteration</a:t>
            </a:r>
          </a:p>
          <a:p>
            <a:r>
              <a:rPr lang="en-US" dirty="0"/>
              <a:t>no </a:t>
            </a:r>
            <a:r>
              <a:rPr lang="en-US" dirty="0" err="1"/>
              <a:t>ConcurrentModificationException</a:t>
            </a:r>
            <a:endParaRPr lang="en-US" dirty="0"/>
          </a:p>
          <a:p>
            <a:r>
              <a:rPr lang="en-US" dirty="0"/>
              <a:t>excellent for frequent reads</a:t>
            </a:r>
          </a:p>
          <a:p>
            <a:pPr marL="0" indent="0">
              <a:buNone/>
            </a:pPr>
            <a:r>
              <a:rPr lang="en-US" dirty="0"/>
              <a:t>Cons:</a:t>
            </a:r>
          </a:p>
          <a:p>
            <a:r>
              <a:rPr lang="en-US" dirty="0"/>
              <a:t>expensive writes</a:t>
            </a:r>
          </a:p>
          <a:p>
            <a:r>
              <a:rPr lang="en-US" dirty="0"/>
              <a:t>high memory copying overhead</a:t>
            </a:r>
          </a:p>
          <a:p>
            <a:r>
              <a:rPr lang="en-US" dirty="0"/>
              <a:t>not suitable for large lists with frequent mutation</a:t>
            </a:r>
          </a:p>
          <a:p>
            <a:pPr marL="0" indent="0">
              <a:buNone/>
            </a:pPr>
            <a:r>
              <a:rPr lang="en-US" dirty="0"/>
              <a:t>Use cases:</a:t>
            </a:r>
          </a:p>
          <a:p>
            <a:r>
              <a:rPr lang="en-US" dirty="0"/>
              <a:t>subscriber lists</a:t>
            </a:r>
          </a:p>
          <a:p>
            <a:r>
              <a:rPr lang="en-US" dirty="0"/>
              <a:t>configuration snapshots</a:t>
            </a:r>
          </a:p>
          <a:p>
            <a:r>
              <a:rPr lang="en-US" dirty="0"/>
              <a:t>event listener registry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005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1CEDB-C81A-DEDD-1885-A27592E4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12350"/>
          </a:xfrm>
        </p:spPr>
        <p:txBody>
          <a:bodyPr>
            <a:normAutofit fontScale="90000"/>
          </a:bodyPr>
          <a:lstStyle/>
          <a:p>
            <a:r>
              <a:rPr lang="en-IN" b="1" dirty="0" err="1"/>
              <a:t>CopyOnWriteArraySet</a:t>
            </a:r>
            <a:r>
              <a:rPr lang="en-IN" b="1" dirty="0"/>
              <a:t> 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1A90D-6492-E004-A543-7FEDD84AC9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86934"/>
            <a:ext cx="10363826" cy="4504266"/>
          </a:xfrm>
        </p:spPr>
        <p:txBody>
          <a:bodyPr/>
          <a:lstStyle/>
          <a:p>
            <a:r>
              <a:rPr lang="en-US" dirty="0"/>
              <a:t>Thread-safe set built on top of </a:t>
            </a:r>
            <a:r>
              <a:rPr lang="en-US" dirty="0" err="1"/>
              <a:t>CopyOnWriteArrayList</a:t>
            </a:r>
            <a:endParaRPr lang="en-US" dirty="0"/>
          </a:p>
          <a:p>
            <a:r>
              <a:rPr lang="en-US" dirty="0"/>
              <a:t>Maintains uniqueness</a:t>
            </a:r>
          </a:p>
          <a:p>
            <a:r>
              <a:rPr lang="en-US" dirty="0"/>
              <a:t>Copy-on-write behavior for writes</a:t>
            </a:r>
          </a:p>
          <a:p>
            <a:r>
              <a:rPr lang="en-US" dirty="0"/>
              <a:t>Great for read-mostly set use cases</a:t>
            </a:r>
          </a:p>
          <a:p>
            <a:r>
              <a:rPr lang="en-US" dirty="0"/>
              <a:t>COWAS = copy-on-write list + set uniqueness.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3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75847-6AA5-8DEE-215C-5307C91C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44828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COWAS internal implementation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3566B-4E0F-18C5-449B-7B331FA5E0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86934"/>
            <a:ext cx="10363826" cy="4504266"/>
          </a:xfrm>
        </p:spPr>
        <p:txBody>
          <a:bodyPr/>
          <a:lstStyle/>
          <a:p>
            <a:r>
              <a:rPr lang="en-IN" dirty="0"/>
              <a:t>Backed internally by </a:t>
            </a:r>
            <a:r>
              <a:rPr lang="en-IN" dirty="0" err="1"/>
              <a:t>CopyOnWriteArrayList</a:t>
            </a:r>
            <a:endParaRPr lang="en-IN" dirty="0"/>
          </a:p>
          <a:p>
            <a:r>
              <a:rPr lang="en-IN" dirty="0"/>
              <a:t>Before adding, checks if element already exists</a:t>
            </a:r>
          </a:p>
          <a:p>
            <a:r>
              <a:rPr lang="en-IN" dirty="0"/>
              <a:t>If absent:</a:t>
            </a:r>
          </a:p>
          <a:p>
            <a:pPr lvl="1"/>
            <a:r>
              <a:rPr lang="en-IN" dirty="0"/>
              <a:t>copy array</a:t>
            </a:r>
          </a:p>
          <a:p>
            <a:pPr lvl="1"/>
            <a:r>
              <a:rPr lang="en-IN" dirty="0"/>
              <a:t>add element</a:t>
            </a:r>
          </a:p>
          <a:p>
            <a:pPr lvl="1"/>
            <a:r>
              <a:rPr lang="en-IN" dirty="0"/>
              <a:t>publish new snapshot</a:t>
            </a:r>
          </a:p>
          <a:p>
            <a:r>
              <a:rPr lang="en-IN" dirty="0"/>
              <a:t>Current snapshot: [A B C] Add B → already exists → no change Add D → new copied snapshot [A B C D]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552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1F685-F311-C439-697F-B8C4CF14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59221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 COWAS use cases and limitations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3013B-10DB-D594-5EA4-3EEF0A349D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10734"/>
            <a:ext cx="10363826" cy="45804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 cases:</a:t>
            </a:r>
          </a:p>
          <a:p>
            <a:r>
              <a:rPr lang="en-US" dirty="0"/>
              <a:t>listener registries</a:t>
            </a:r>
          </a:p>
          <a:p>
            <a:r>
              <a:rPr lang="en-US" dirty="0"/>
              <a:t>observer/subscriber sets</a:t>
            </a:r>
          </a:p>
          <a:p>
            <a:r>
              <a:rPr lang="en-US" dirty="0"/>
              <a:t>plugin/module tracking</a:t>
            </a:r>
          </a:p>
          <a:p>
            <a:r>
              <a:rPr lang="en-US" dirty="0"/>
              <a:t>read-heavy unique collections</a:t>
            </a:r>
          </a:p>
          <a:p>
            <a:pPr marL="0" indent="0">
              <a:buNone/>
            </a:pPr>
            <a:r>
              <a:rPr lang="en-US" dirty="0"/>
              <a:t>Limitations:</a:t>
            </a:r>
          </a:p>
          <a:p>
            <a:r>
              <a:rPr lang="en-US" dirty="0"/>
              <a:t>costly writes</a:t>
            </a:r>
          </a:p>
          <a:p>
            <a:r>
              <a:rPr lang="en-US" dirty="0"/>
              <a:t>linear search for existence checks</a:t>
            </a:r>
          </a:p>
          <a:p>
            <a:r>
              <a:rPr lang="en-US" dirty="0"/>
              <a:t>not ideal for write-intensive workloads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8410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EE28-638E-DC50-F7B4-FBF1D76C8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63150"/>
          </a:xfrm>
        </p:spPr>
        <p:txBody>
          <a:bodyPr/>
          <a:lstStyle/>
          <a:p>
            <a:r>
              <a:rPr lang="en-IN" b="1" dirty="0"/>
              <a:t>CHM vs COWAL vs COWAS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61B7F6-5AA7-AA17-0F45-F75C415B81F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49008301"/>
              </p:ext>
            </p:extLst>
          </p:nvPr>
        </p:nvGraphicFramePr>
        <p:xfrm>
          <a:off x="915026" y="1856476"/>
          <a:ext cx="10363200" cy="256032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9126308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686763216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38195840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876315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Feature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ConcurrentHashMap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CopyOnWriteArrayList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CopyOnWriteArraySet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055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Type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Map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List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Set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489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Thread-safe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Yes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Yes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Yes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32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Best for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concurrent reads/writes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read-heavy list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read-heavy unique set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568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Read performance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High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Very high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Very high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601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Write performance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Good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Expensive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Expensive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849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Iterator behavior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Weakly consistent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Snapshot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Snapshot</a:t>
                      </a:r>
                    </a:p>
                  </a:txBody>
                  <a:tcPr marL="15240" marR="15240" anchor="ctr">
                    <a:lnL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1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18837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45A0F1D-F847-3AB7-8B2C-2B952B677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" y="-6265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F7945-CFD9-C234-6EE9-2CFA0BD7B47F}"/>
              </a:ext>
            </a:extLst>
          </p:cNvPr>
          <p:cNvSpPr txBox="1"/>
          <p:nvPr/>
        </p:nvSpPr>
        <p:spPr>
          <a:xfrm>
            <a:off x="1168400" y="4961467"/>
            <a:ext cx="3877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weakly consistent iterator</a:t>
            </a:r>
            <a:r>
              <a:rPr lang="en-US"/>
              <a:t> in CHM</a:t>
            </a:r>
          </a:p>
          <a:p>
            <a:r>
              <a:rPr lang="en-US" b="1"/>
              <a:t>snapshot iterator</a:t>
            </a:r>
            <a:r>
              <a:rPr lang="en-US"/>
              <a:t> in COWAL/COWAS</a:t>
            </a:r>
          </a:p>
          <a:p>
            <a:br>
              <a:rPr lang="en-US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5D70F-8992-31EA-FADD-160C6C7C25DF}"/>
              </a:ext>
            </a:extLst>
          </p:cNvPr>
          <p:cNvSpPr txBox="1"/>
          <p:nvPr/>
        </p:nvSpPr>
        <p:spPr>
          <a:xfrm>
            <a:off x="6095999" y="4707466"/>
            <a:ext cx="55964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CHM → weakly consistent</a:t>
            </a:r>
          </a:p>
          <a:p>
            <a:pPr lvl="1"/>
            <a:r>
              <a:rPr lang="en-IN" dirty="0"/>
              <a:t>may reflect some updates during iteration</a:t>
            </a:r>
          </a:p>
          <a:p>
            <a:pPr lvl="1"/>
            <a:r>
              <a:rPr lang="en-IN" dirty="0"/>
              <a:t>no </a:t>
            </a:r>
            <a:r>
              <a:rPr lang="en-IN" dirty="0" err="1"/>
              <a:t>ConcurrentModificationException</a:t>
            </a:r>
            <a:endParaRPr lang="en-IN" dirty="0"/>
          </a:p>
          <a:p>
            <a:r>
              <a:rPr lang="en-IN" dirty="0"/>
              <a:t>COWAL / COWAS → snapshot</a:t>
            </a:r>
          </a:p>
          <a:p>
            <a:pPr lvl="1"/>
            <a:r>
              <a:rPr lang="en-IN" dirty="0"/>
              <a:t>sees old array snapshot only</a:t>
            </a:r>
          </a:p>
          <a:p>
            <a:pPr lvl="1"/>
            <a:r>
              <a:rPr lang="en-IN" dirty="0"/>
              <a:t>never sees later modifications in same iteration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4150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F925-A549-1ECA-2282-2B900FB2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Which one should I choose?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B0677-CE39-C9BB-7D29-7E30502368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 err="1"/>
              <a:t>ConcurrentHashMap</a:t>
            </a:r>
            <a:endParaRPr lang="en-US" dirty="0"/>
          </a:p>
          <a:p>
            <a:pPr lvl="1"/>
            <a:r>
              <a:rPr lang="en-US" dirty="0"/>
              <a:t>shared mutable key-value store</a:t>
            </a:r>
          </a:p>
          <a:p>
            <a:pPr lvl="1"/>
            <a:r>
              <a:rPr lang="en-US" dirty="0"/>
              <a:t>many reads and writes</a:t>
            </a:r>
          </a:p>
          <a:p>
            <a:r>
              <a:rPr lang="en-US" b="1" dirty="0" err="1"/>
              <a:t>CopyOnWriteArrayList</a:t>
            </a:r>
            <a:endParaRPr lang="en-US" dirty="0"/>
          </a:p>
          <a:p>
            <a:pPr lvl="1"/>
            <a:r>
              <a:rPr lang="en-US" dirty="0"/>
              <a:t>list is read far more often than modified</a:t>
            </a:r>
          </a:p>
          <a:p>
            <a:r>
              <a:rPr lang="en-US" b="1" dirty="0" err="1"/>
              <a:t>CopyOnWriteArraySet</a:t>
            </a:r>
            <a:endParaRPr lang="en-US" dirty="0"/>
          </a:p>
          <a:p>
            <a:pPr lvl="1"/>
            <a:r>
              <a:rPr lang="en-US" dirty="0"/>
              <a:t>unique elements, mostly reads, rare writes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2909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81BD1-A762-4461-6C3A-994F8371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42" y="2794450"/>
            <a:ext cx="10364451" cy="1596177"/>
          </a:xfrm>
        </p:spPr>
        <p:txBody>
          <a:bodyPr/>
          <a:lstStyle/>
          <a:p>
            <a:r>
              <a:rPr lang="en-US" dirty="0"/>
              <a:t>Q &amp; A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54212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125</TotalTime>
  <Words>712</Words>
  <Application>Microsoft Office PowerPoint</Application>
  <PresentationFormat>Widescreen</PresentationFormat>
  <Paragraphs>177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Tw Cen MT</vt:lpstr>
      <vt:lpstr>Droplet</vt:lpstr>
      <vt:lpstr>concurrent collections and  Their Internal Implementations</vt:lpstr>
      <vt:lpstr>Why concurrent collections? </vt:lpstr>
      <vt:lpstr>Traditional solution vs modern solution </vt:lpstr>
      <vt:lpstr>ConcurrentHashMap  </vt:lpstr>
      <vt:lpstr>CHM Internal Working</vt:lpstr>
      <vt:lpstr>HashMap vs Hashtable vs ConcurrentHashMap</vt:lpstr>
      <vt:lpstr>When to use ConcurrentHashMap</vt:lpstr>
      <vt:lpstr>CopyOnWriteArrayList  </vt:lpstr>
      <vt:lpstr>How CopyOnWriteArrayList Works</vt:lpstr>
      <vt:lpstr>Why iteration is safe in COWAL ?</vt:lpstr>
      <vt:lpstr>COWAL trade-offs </vt:lpstr>
      <vt:lpstr>CopyOnWriteArraySet  </vt:lpstr>
      <vt:lpstr>COWAS internal implementation </vt:lpstr>
      <vt:lpstr> COWAS use cases and limitations </vt:lpstr>
      <vt:lpstr>CHM vs COWAL vs COWAS</vt:lpstr>
      <vt:lpstr>Which one should I choose?</vt:lpstr>
      <vt:lpstr>Q &amp; A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V Praveen Kumar</dc:creator>
  <cp:lastModifiedBy>A V Praveen Kumar</cp:lastModifiedBy>
  <cp:revision>7</cp:revision>
  <dcterms:created xsi:type="dcterms:W3CDTF">2026-05-13T04:15:44Z</dcterms:created>
  <dcterms:modified xsi:type="dcterms:W3CDTF">2026-05-15T04:05:08Z</dcterms:modified>
</cp:coreProperties>
</file>