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58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FE790C-25D5-47CC-944E-FEF33ECD4A38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F534F5-C376-4407-B2D1-DB531A8097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8998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F534F5-C376-4407-B2D1-DB531A80978A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12111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A1F07-514D-5F6C-F35B-9097B0444F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89EF40-D21C-F936-20DD-D411CCDCF4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A8DD97-434C-770B-B56A-BEB5ABEC8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A5AB9-8017-4C72-885D-324938DB9BB3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C61458-D628-B059-A294-68172EEB8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E19BB5-51DA-645A-F598-A2651BC5C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D95F6-9F99-4FC7-B192-45526571E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9019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A591A-BAF1-F5B9-77F2-556CCA9C2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6127C-C649-15B0-D4DE-3CCC882C96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0C4F57-58B3-0D64-47E2-700A0A501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A5AB9-8017-4C72-885D-324938DB9BB3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575D0-3AE0-8877-5FDB-34BABAFE6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8F6433-1DFA-B35F-8EF7-1153A76B9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D95F6-9F99-4FC7-B192-45526571E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5638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E3E40-A891-812B-36A1-D22DEE35D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C8FDBA-8A4A-0517-1703-189D1E99F3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462E69-6AE2-B190-6017-4E2A4B323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A5AB9-8017-4C72-885D-324938DB9BB3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BBD9CC-1851-6F7A-0C5A-21FF075E5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E08171-8702-FDFE-B962-179A1456E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D95F6-9F99-4FC7-B192-45526571E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2728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CAAF8-6ABB-3156-3891-5A1B3DF84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B4E994-E46A-53B4-FA71-BD9F9F9800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6EBE18-AF58-3386-32B8-19C6C17EA0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BEB4F5-16A2-3250-D103-494B5FF3E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A5AB9-8017-4C72-885D-324938DB9BB3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7C9D15-1E61-5F65-D119-670A6109A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1ED17F-3990-624D-CABE-2DE452D9E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D95F6-9F99-4FC7-B192-45526571E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1321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877D7-93B0-F3E9-3888-95CA87DCC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F82188-E820-C499-2590-31FE1DA957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FB367D-EF77-CD84-FF24-5887ABD6DD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A594E1-6150-309D-B1A9-0BF5030DB8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2624AD-9A1F-1D8D-49A9-B29EEF10DD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BA758B-49F5-7E30-03C7-484AA50BF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A5AB9-8017-4C72-885D-324938DB9BB3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53EB40-414F-5F21-4D98-AB91E1234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B8A661-1FBC-CA07-0EC3-5132F6646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D95F6-9F99-4FC7-B192-45526571E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5164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D1EDD-62A1-BF7E-DD9F-A60B85048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ED37E1-9BFE-501F-BD2C-FC5C2DEEB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A5AB9-8017-4C72-885D-324938DB9BB3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FCFBAF-1039-FE69-FB5E-5DC6A6C4F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9B5EF5-4E02-6935-746B-EB1CEF384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D95F6-9F99-4FC7-B192-45526571E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2889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EC3265-B597-E904-EA0A-E2A37D353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A5AB9-8017-4C72-885D-324938DB9BB3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DF1756-6E06-C2A4-BFD8-04C7141F8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79092-F2AA-2E89-6DDA-3AC586BD6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D95F6-9F99-4FC7-B192-45526571E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4429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9A29E-4444-B9B0-D134-8087A1359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2DD5B-70F6-2E74-49E1-89CC1BBAD5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C434FB-4E31-692A-C74D-BBDA800F06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94E5D7-BF4E-CE94-F015-BCFF9D70F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A5AB9-8017-4C72-885D-324938DB9BB3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BD72E1-18CC-9402-0A3F-0FFA7C509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98397E-9B26-9BA6-F9A4-373DF3F9F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D95F6-9F99-4FC7-B192-45526571E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8541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7BC9B-A486-B3E6-DBEB-5BD2A819A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1993D0-2401-BE58-3102-5A13FFA89F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F420CD-7E40-EBCD-BFD7-91C4D30C21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072791-9BB4-EDB3-43C5-3B6667C76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A5AB9-8017-4C72-885D-324938DB9BB3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143E11-3159-C55C-6240-ABEE77668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2AD04C-2750-A67D-D7C5-B12C4382D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D95F6-9F99-4FC7-B192-45526571E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4564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9B0F1-128F-5DD8-F22A-0B2A3B457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35D6CF-309C-24D2-E661-66F0ABD700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6BE079-E0D5-513B-D5F8-85F564190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A5AB9-8017-4C72-885D-324938DB9BB3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66FF8A-9BEF-A482-35F8-0922E8D70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449324-A5EB-91D0-480F-ED573A692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D95F6-9F99-4FC7-B192-45526571E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8232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57B5D0-0FA5-0A2F-6EFB-13AF6395F0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EAD36C-DBCE-DC5E-0012-8E4ADCE504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7BBE6E-D5F4-2512-5603-607BF8413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A5AB9-8017-4C72-885D-324938DB9BB3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780266-8486-83B3-71A9-7FD35AFE2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C9AC34-05DD-E90A-E6F3-F4BB2C3FB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D95F6-9F99-4FC7-B192-45526571E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0785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CA6EA9-0CC0-E55C-F084-E1074BCCE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7C8DC4-2043-978D-9D45-FB2C59EE8C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87BAFF-6365-9867-A6E1-0F364AEC37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BA5AB9-8017-4C72-885D-324938DB9BB3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7AA618-1F7D-1BFF-018E-B9A3C405D3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B34E21-BE69-3921-D1E0-0F64EDBE1F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AD95F6-9F99-4FC7-B192-45526571E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3415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75C57D-FA1B-A89A-533B-FEE0172707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6396" y="586855"/>
            <a:ext cx="4230100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Java Collections Framework</a:t>
            </a:r>
            <a:b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9AF845-8313-8486-ED47-39485B2705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03158" y="649480"/>
            <a:ext cx="48624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971550" indent="-342900" algn="l">
              <a:buFont typeface="Wingdings" panose="05000000000000000000" pitchFamily="2" charset="2"/>
              <a:buChar char="v"/>
            </a:pPr>
            <a:r>
              <a:rPr lang="en-US" sz="2000" b="1" dirty="0"/>
              <a:t>Hierarchy</a:t>
            </a:r>
          </a:p>
          <a:p>
            <a:pPr marL="971550" indent="-342900" algn="l">
              <a:buFont typeface="Wingdings" panose="05000000000000000000" pitchFamily="2" charset="2"/>
              <a:buChar char="v"/>
            </a:pPr>
            <a:r>
              <a:rPr lang="en-US" sz="2000" b="1" dirty="0"/>
              <a:t>Ordered vs Non-Ordered Collections</a:t>
            </a:r>
          </a:p>
          <a:p>
            <a:pPr marL="971550" indent="-342900" algn="l">
              <a:buFont typeface="Wingdings" panose="05000000000000000000" pitchFamily="2" charset="2"/>
              <a:buChar char="v"/>
            </a:pPr>
            <a:r>
              <a:rPr lang="en-US" sz="2000" b="1" dirty="0"/>
              <a:t>Set vs List</a:t>
            </a:r>
          </a:p>
          <a:p>
            <a:pPr marL="971550" indent="-342900" algn="l">
              <a:buFont typeface="Wingdings" panose="05000000000000000000" pitchFamily="2" charset="2"/>
              <a:buChar char="v"/>
            </a:pPr>
            <a:r>
              <a:rPr lang="en-US" sz="2000" b="1" dirty="0"/>
              <a:t>HashCode, Equals, Immutability, and Custom Objects as Keys</a:t>
            </a:r>
          </a:p>
          <a:p>
            <a:pPr marL="971550" indent="-342900" algn="l">
              <a:buFont typeface="Wingdings" panose="05000000000000000000" pitchFamily="2" charset="2"/>
              <a:buChar char="v"/>
            </a:pPr>
            <a:r>
              <a:rPr lang="en-US" sz="2000" b="1" dirty="0"/>
              <a:t>Internal Working of HashMap and HashSet</a:t>
            </a:r>
          </a:p>
          <a:p>
            <a:pPr marL="971550" indent="-342900" algn="l">
              <a:buFont typeface="Wingdings" panose="05000000000000000000" pitchFamily="2" charset="2"/>
              <a:buChar char="v"/>
            </a:pPr>
            <a:r>
              <a:rPr lang="en-US" sz="2000" b="1" dirty="0"/>
              <a:t>ArrayList vs LinkedList</a:t>
            </a:r>
          </a:p>
          <a:p>
            <a:pPr marL="971550" indent="-342900" algn="l">
              <a:buFont typeface="Wingdings" panose="05000000000000000000" pitchFamily="2" charset="2"/>
              <a:buChar char="v"/>
            </a:pPr>
            <a:r>
              <a:rPr lang="en-US" sz="2000" b="1" dirty="0"/>
              <a:t>HashMap vs LinkedHashMap</a:t>
            </a:r>
          </a:p>
          <a:p>
            <a:pPr algn="l"/>
            <a:br>
              <a:rPr lang="en-US" sz="2000" dirty="0"/>
            </a:b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01738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B99EF5-BE09-61CD-7CF5-8253550FB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IN" sz="4000" b="1">
                <a:solidFill>
                  <a:srgbClr val="FFFFFF"/>
                </a:solidFill>
              </a:rPr>
              <a:t>Java Collections Hierarchy</a:t>
            </a:r>
            <a:br>
              <a:rPr lang="en-IN" sz="4000" b="1">
                <a:solidFill>
                  <a:srgbClr val="FFFFFF"/>
                </a:solidFill>
              </a:rPr>
            </a:br>
            <a:endParaRPr lang="en-IN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61E42-C773-287A-0BA8-FF06AF00BA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0525" y="655975"/>
            <a:ext cx="3025303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2000" b="1" dirty="0"/>
              <a:t>Top-Level Interfaces</a:t>
            </a:r>
          </a:p>
          <a:p>
            <a:r>
              <a:rPr lang="en-IN" sz="1300" b="1" dirty="0"/>
              <a:t>Collection</a:t>
            </a:r>
            <a:r>
              <a:rPr lang="en-IN" sz="1300" dirty="0"/>
              <a:t> </a:t>
            </a:r>
          </a:p>
          <a:p>
            <a:pPr lvl="1"/>
            <a:r>
              <a:rPr lang="en-IN" sz="1300" dirty="0"/>
              <a:t>Root interface for most collection types</a:t>
            </a:r>
          </a:p>
          <a:p>
            <a:r>
              <a:rPr lang="en-IN" sz="1300" b="1" dirty="0"/>
              <a:t>Map</a:t>
            </a:r>
            <a:r>
              <a:rPr lang="en-IN" sz="1300" dirty="0"/>
              <a:t> </a:t>
            </a:r>
          </a:p>
          <a:p>
            <a:pPr lvl="1"/>
            <a:r>
              <a:rPr lang="en-IN" sz="1300" dirty="0"/>
              <a:t>Separate hierarchy, stores key-value pairs</a:t>
            </a:r>
          </a:p>
          <a:p>
            <a:pPr marL="0" indent="0">
              <a:buNone/>
            </a:pPr>
            <a:r>
              <a:rPr lang="en-IN" sz="1400" b="1" dirty="0"/>
              <a:t>Under Collection</a:t>
            </a:r>
            <a:endParaRPr lang="en-IN" sz="1300" b="1" dirty="0"/>
          </a:p>
          <a:p>
            <a:r>
              <a:rPr lang="en-IN" sz="1300" b="1" dirty="0"/>
              <a:t>List</a:t>
            </a:r>
            <a:r>
              <a:rPr lang="en-IN" sz="1300" dirty="0"/>
              <a:t> </a:t>
            </a:r>
          </a:p>
          <a:p>
            <a:pPr lvl="1"/>
            <a:r>
              <a:rPr lang="en-IN" sz="1300" dirty="0"/>
              <a:t>Ordered, allows duplicates</a:t>
            </a:r>
          </a:p>
          <a:p>
            <a:r>
              <a:rPr lang="en-IN" sz="1300" b="1" dirty="0"/>
              <a:t>Set</a:t>
            </a:r>
            <a:r>
              <a:rPr lang="en-IN" sz="1300" dirty="0"/>
              <a:t> </a:t>
            </a:r>
          </a:p>
          <a:p>
            <a:pPr lvl="1"/>
            <a:r>
              <a:rPr lang="en-IN" sz="1300" dirty="0"/>
              <a:t>No duplicates</a:t>
            </a:r>
          </a:p>
          <a:p>
            <a:r>
              <a:rPr lang="en-IN" sz="1300" b="1" dirty="0"/>
              <a:t>Queue / Deque</a:t>
            </a:r>
            <a:r>
              <a:rPr lang="en-IN" sz="1300" dirty="0"/>
              <a:t> </a:t>
            </a:r>
          </a:p>
          <a:p>
            <a:pPr lvl="1"/>
            <a:r>
              <a:rPr lang="en-IN" sz="1300" dirty="0"/>
              <a:t>Used for FIFO / double-ended operations</a:t>
            </a:r>
          </a:p>
          <a:p>
            <a:pPr marL="0" indent="0">
              <a:buNone/>
            </a:pPr>
            <a:r>
              <a:rPr lang="en-IN" sz="1400" b="1" dirty="0"/>
              <a:t>Under Map</a:t>
            </a:r>
          </a:p>
          <a:p>
            <a:r>
              <a:rPr lang="en-IN" sz="1300" b="1" dirty="0"/>
              <a:t>HashMap</a:t>
            </a:r>
            <a:endParaRPr lang="en-IN" sz="1300" dirty="0"/>
          </a:p>
          <a:p>
            <a:r>
              <a:rPr lang="en-IN" sz="1300" b="1" dirty="0"/>
              <a:t>LinkedHashMap</a:t>
            </a:r>
            <a:endParaRPr lang="en-IN" sz="1300" dirty="0"/>
          </a:p>
          <a:p>
            <a:r>
              <a:rPr lang="en-IN" sz="1300" b="1" dirty="0"/>
              <a:t>TreeMap</a:t>
            </a:r>
            <a:endParaRPr lang="en-IN" sz="1300" dirty="0"/>
          </a:p>
          <a:p>
            <a:r>
              <a:rPr lang="en-IN" sz="1300" b="1" dirty="0"/>
              <a:t>Hashtable</a:t>
            </a:r>
          </a:p>
          <a:p>
            <a:endParaRPr lang="en-IN" sz="1300" b="1" dirty="0"/>
          </a:p>
          <a:p>
            <a:pPr marL="0" indent="0">
              <a:buNone/>
            </a:pPr>
            <a:endParaRPr lang="en-IN" sz="1300" dirty="0"/>
          </a:p>
          <a:p>
            <a:endParaRPr lang="en-IN" sz="13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0DE204-E3F3-E3DF-B6E1-B0DCF29277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1790" y="473654"/>
            <a:ext cx="2851200" cy="5922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519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681E34-380E-7C9E-E2EB-0F28FE465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IN" sz="4000" b="1">
                <a:solidFill>
                  <a:srgbClr val="FFFFFF"/>
                </a:solidFill>
              </a:rPr>
              <a:t>Ordered vs Non-Ordered Collections</a:t>
            </a:r>
            <a:br>
              <a:rPr lang="en-IN" sz="4000" b="1">
                <a:solidFill>
                  <a:srgbClr val="FFFFFF"/>
                </a:solidFill>
              </a:rPr>
            </a:br>
            <a:endParaRPr lang="en-IN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0B226-5B4E-21D2-E60E-2F72A202AB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300" b="1"/>
              <a:t>Ordered Collections</a:t>
            </a:r>
          </a:p>
          <a:p>
            <a:r>
              <a:rPr lang="en-US" sz="1300"/>
              <a:t>Maintain a predictable order of elements</a:t>
            </a:r>
          </a:p>
          <a:p>
            <a:r>
              <a:rPr lang="en-US" sz="1300"/>
              <a:t>Order can be: </a:t>
            </a:r>
          </a:p>
          <a:p>
            <a:pPr lvl="1"/>
            <a:r>
              <a:rPr lang="en-US" sz="1300"/>
              <a:t>insertion order</a:t>
            </a:r>
          </a:p>
          <a:p>
            <a:pPr lvl="1"/>
            <a:r>
              <a:rPr lang="en-US" sz="1300"/>
              <a:t>sorted order</a:t>
            </a:r>
          </a:p>
          <a:p>
            <a:pPr lvl="1"/>
            <a:r>
              <a:rPr lang="en-US" sz="1300"/>
              <a:t>access order</a:t>
            </a:r>
          </a:p>
          <a:p>
            <a:pPr marL="0" indent="0">
              <a:buNone/>
            </a:pPr>
            <a:r>
              <a:rPr lang="en-US" sz="1300" b="1"/>
              <a:t>Examples</a:t>
            </a:r>
          </a:p>
          <a:p>
            <a:r>
              <a:rPr lang="en-US" sz="1300" b="1"/>
              <a:t>List</a:t>
            </a:r>
            <a:r>
              <a:rPr lang="en-US" sz="1300"/>
              <a:t>: insertion order preserved</a:t>
            </a:r>
          </a:p>
          <a:p>
            <a:r>
              <a:rPr lang="en-US" sz="1300" b="1"/>
              <a:t>LinkedHashSet</a:t>
            </a:r>
            <a:r>
              <a:rPr lang="en-US" sz="1300"/>
              <a:t>: insertion order preserved</a:t>
            </a:r>
          </a:p>
          <a:p>
            <a:r>
              <a:rPr lang="en-US" sz="1300" b="1"/>
              <a:t>LinkedHashMap</a:t>
            </a:r>
            <a:r>
              <a:rPr lang="en-US" sz="1300"/>
              <a:t>: insertion order or access order preserved</a:t>
            </a:r>
          </a:p>
          <a:p>
            <a:r>
              <a:rPr lang="en-US" sz="1300" b="1"/>
              <a:t>TreeSet / TreeMap</a:t>
            </a:r>
            <a:r>
              <a:rPr lang="en-US" sz="1300"/>
              <a:t>: sorted order</a:t>
            </a:r>
          </a:p>
          <a:p>
            <a:pPr marL="0" indent="0">
              <a:buNone/>
            </a:pPr>
            <a:r>
              <a:rPr lang="en-US" sz="1300" b="1"/>
              <a:t>Non-Ordered Collections</a:t>
            </a:r>
          </a:p>
          <a:p>
            <a:r>
              <a:rPr lang="en-US" sz="1300"/>
              <a:t>No guaranteed iteration order</a:t>
            </a:r>
          </a:p>
          <a:p>
            <a:r>
              <a:rPr lang="en-US" sz="1300"/>
              <a:t>Examples: </a:t>
            </a:r>
          </a:p>
          <a:p>
            <a:pPr lvl="1"/>
            <a:r>
              <a:rPr lang="en-US" sz="1300" b="1"/>
              <a:t>HashSet</a:t>
            </a:r>
            <a:endParaRPr lang="en-US" sz="1300"/>
          </a:p>
          <a:p>
            <a:pPr lvl="1"/>
            <a:r>
              <a:rPr lang="en-US" sz="1300" b="1"/>
              <a:t>HashMap</a:t>
            </a:r>
            <a:endParaRPr lang="en-US" sz="1300"/>
          </a:p>
          <a:p>
            <a:pPr marL="0" indent="0">
              <a:buNone/>
            </a:pPr>
            <a:r>
              <a:rPr lang="en-US" sz="1300" b="1"/>
              <a:t>Important note</a:t>
            </a:r>
          </a:p>
          <a:p>
            <a:r>
              <a:rPr lang="en-US" sz="1300"/>
              <a:t>“Ordered” does not always mean “sorted”</a:t>
            </a:r>
          </a:p>
          <a:p>
            <a:r>
              <a:rPr lang="en-US" sz="1300"/>
              <a:t>It may mean </a:t>
            </a:r>
            <a:r>
              <a:rPr lang="en-US" sz="1300" b="1"/>
              <a:t>insertion order</a:t>
            </a:r>
            <a:endParaRPr lang="en-US" sz="1300"/>
          </a:p>
          <a:p>
            <a:endParaRPr lang="en-IN" sz="1300"/>
          </a:p>
        </p:txBody>
      </p:sp>
    </p:spTree>
    <p:extLst>
      <p:ext uri="{BB962C8B-B14F-4D97-AF65-F5344CB8AC3E}">
        <p14:creationId xmlns:p14="http://schemas.microsoft.com/office/powerpoint/2010/main" val="3275104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73AC0-AED8-0F92-AF9A-0F586E664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4" y="972929"/>
            <a:ext cx="4500850" cy="1616203"/>
          </a:xfrm>
        </p:spPr>
        <p:txBody>
          <a:bodyPr anchor="t">
            <a:normAutofit/>
          </a:bodyPr>
          <a:lstStyle/>
          <a:p>
            <a:r>
              <a:rPr lang="en-IN" sz="3200" b="1"/>
              <a:t>List</a:t>
            </a:r>
            <a:endParaRPr lang="en-IN" sz="32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2C5210-14E0-3097-B5E8-52484C8CAB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515152"/>
            <a:ext cx="4539344" cy="175951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ABB5E-044E-51F8-C34A-FD8382F4FA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978195"/>
            <a:ext cx="5257799" cy="5003113"/>
          </a:xfrm>
        </p:spPr>
        <p:txBody>
          <a:bodyPr anchor="t">
            <a:normAutofit lnSpcReduction="10000"/>
          </a:bodyPr>
          <a:lstStyle/>
          <a:p>
            <a:pPr marL="0" indent="0">
              <a:buNone/>
            </a:pPr>
            <a:r>
              <a:rPr lang="en-US" sz="1900" b="1" dirty="0"/>
              <a:t>Key Properties</a:t>
            </a:r>
          </a:p>
          <a:p>
            <a:r>
              <a:rPr lang="en-US" sz="1800" dirty="0"/>
              <a:t>Ordered collection</a:t>
            </a:r>
          </a:p>
          <a:p>
            <a:r>
              <a:rPr lang="en-US" sz="1800" dirty="0"/>
              <a:t>Allows duplicates</a:t>
            </a:r>
          </a:p>
          <a:p>
            <a:r>
              <a:rPr lang="en-US" sz="1800" dirty="0"/>
              <a:t>Index-based access</a:t>
            </a:r>
          </a:p>
          <a:p>
            <a:r>
              <a:rPr lang="en-US" sz="1800" dirty="0"/>
              <a:t>Multiple </a:t>
            </a:r>
            <a:r>
              <a:rPr lang="en-US" sz="1800" b="1" dirty="0"/>
              <a:t>null</a:t>
            </a:r>
            <a:r>
              <a:rPr lang="en-US" sz="1800" dirty="0"/>
              <a:t> values allowed in </a:t>
            </a:r>
            <a:r>
              <a:rPr lang="en-US" sz="1800" b="1" dirty="0"/>
              <a:t>ArrayList</a:t>
            </a:r>
          </a:p>
          <a:p>
            <a:r>
              <a:rPr lang="en-US" sz="1800" dirty="0"/>
              <a:t>Good when: </a:t>
            </a:r>
          </a:p>
          <a:p>
            <a:pPr lvl="1"/>
            <a:r>
              <a:rPr lang="en-US" sz="1800" dirty="0"/>
              <a:t>order matters</a:t>
            </a:r>
          </a:p>
          <a:p>
            <a:pPr lvl="1"/>
            <a:r>
              <a:rPr lang="en-US" sz="1800" dirty="0"/>
              <a:t>frequent access by index is needed</a:t>
            </a:r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r>
              <a:rPr lang="en-US" sz="1900" b="1" dirty="0"/>
              <a:t>Common implementations</a:t>
            </a:r>
          </a:p>
          <a:p>
            <a:r>
              <a:rPr lang="en-US" sz="1800" b="1" dirty="0"/>
              <a:t>ArrayList</a:t>
            </a:r>
          </a:p>
          <a:p>
            <a:r>
              <a:rPr lang="en-US" sz="1800" b="1" dirty="0"/>
              <a:t>LinkedList</a:t>
            </a:r>
          </a:p>
          <a:p>
            <a:r>
              <a:rPr lang="en-US" sz="1800" b="1" dirty="0"/>
              <a:t>Vector</a:t>
            </a:r>
          </a:p>
          <a:p>
            <a:r>
              <a:rPr lang="en-US" sz="1800" b="1" dirty="0"/>
              <a:t>Stack</a:t>
            </a:r>
            <a:endParaRPr lang="en-US" sz="1900" b="1" dirty="0"/>
          </a:p>
          <a:p>
            <a:endParaRPr lang="en-IN" sz="19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AF08BBE-71A7-AEFC-F970-93C6BF79B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1C42412-D66A-A89A-CBAD-067355BA7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9F63095-BD54-33B2-6873-1DC4DF820D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318571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8A976-73B5-CE63-B1B4-37E5F2BCF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4" y="972929"/>
            <a:ext cx="4500850" cy="1616203"/>
          </a:xfrm>
        </p:spPr>
        <p:txBody>
          <a:bodyPr anchor="t">
            <a:normAutofit/>
          </a:bodyPr>
          <a:lstStyle/>
          <a:p>
            <a:r>
              <a:rPr lang="en-IN" sz="3200" b="1"/>
              <a:t>Set</a:t>
            </a:r>
            <a:br>
              <a:rPr lang="en-IN" sz="3200" b="1"/>
            </a:br>
            <a:endParaRPr lang="en-IN" sz="32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CB4735-4E79-1246-2227-93CF655CF3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558408"/>
            <a:ext cx="4539344" cy="167300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5C72B-8D60-9DB2-F9B3-7E417C9FF0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978195"/>
            <a:ext cx="5257799" cy="5003113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000" b="1" dirty="0"/>
              <a:t>Key Properties</a:t>
            </a:r>
          </a:p>
          <a:p>
            <a:r>
              <a:rPr lang="en-US" sz="2000" dirty="0"/>
              <a:t>No duplicate elements</a:t>
            </a:r>
          </a:p>
          <a:p>
            <a:r>
              <a:rPr lang="en-US" sz="2000" dirty="0"/>
              <a:t>Usually no index-based access</a:t>
            </a:r>
          </a:p>
          <a:p>
            <a:r>
              <a:rPr lang="en-US" sz="2000" dirty="0"/>
              <a:t>Best when uniqueness is important</a:t>
            </a:r>
          </a:p>
          <a:p>
            <a:r>
              <a:rPr lang="en-US" sz="2000" dirty="0"/>
              <a:t>Common implementations</a:t>
            </a:r>
          </a:p>
          <a:p>
            <a:r>
              <a:rPr lang="en-US" sz="2000" b="1" dirty="0"/>
              <a:t>HashSet</a:t>
            </a:r>
            <a:r>
              <a:rPr lang="en-US" sz="2000" dirty="0"/>
              <a:t> → no order</a:t>
            </a:r>
          </a:p>
          <a:p>
            <a:r>
              <a:rPr lang="en-US" sz="2000" b="1" dirty="0"/>
              <a:t>LinkedHashSet</a:t>
            </a:r>
            <a:r>
              <a:rPr lang="en-US" sz="2000" dirty="0"/>
              <a:t> → insertion order</a:t>
            </a:r>
          </a:p>
          <a:p>
            <a:r>
              <a:rPr lang="en-US" sz="2000" b="1" dirty="0"/>
              <a:t>TreeSet</a:t>
            </a:r>
            <a:r>
              <a:rPr lang="en-US" sz="2000" dirty="0"/>
              <a:t> → sorted order</a:t>
            </a:r>
          </a:p>
          <a:p>
            <a:endParaRPr lang="en-IN" sz="20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AF08BBE-71A7-AEFC-F970-93C6BF79B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1C42412-D66A-A89A-CBAD-067355BA7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9F63095-BD54-33B2-6873-1DC4DF820D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12498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876DB-95C9-B6A0-A35C-F2D6938B0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4" y="972929"/>
            <a:ext cx="4500850" cy="1616203"/>
          </a:xfrm>
        </p:spPr>
        <p:txBody>
          <a:bodyPr anchor="t">
            <a:normAutofit/>
          </a:bodyPr>
          <a:lstStyle/>
          <a:p>
            <a:r>
              <a:rPr lang="en-US" sz="2700" b="1" dirty="0"/>
              <a:t>HashCode, Equals, Immutability, Custom Object as Key</a:t>
            </a:r>
            <a:br>
              <a:rPr lang="en-US" sz="2700" b="1" dirty="0"/>
            </a:br>
            <a:endParaRPr lang="en-IN" sz="27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2FF6F2-65AA-D8A2-6125-F22C09C990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804796"/>
            <a:ext cx="4539344" cy="118022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2EAF0-CA40-A947-2E29-26B788214A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978195"/>
            <a:ext cx="5257799" cy="5003113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1400" dirty="0"/>
              <a:t>Why </a:t>
            </a:r>
            <a:r>
              <a:rPr lang="en-US" sz="1400" b="1" dirty="0"/>
              <a:t>equals()</a:t>
            </a:r>
            <a:r>
              <a:rPr lang="en-US" sz="1400" dirty="0"/>
              <a:t> and </a:t>
            </a:r>
            <a:r>
              <a:rPr lang="en-US" sz="1400" b="1" dirty="0"/>
              <a:t>hashCode()</a:t>
            </a:r>
            <a:r>
              <a:rPr lang="en-US" sz="1400" dirty="0"/>
              <a:t> matter</a:t>
            </a:r>
          </a:p>
          <a:p>
            <a:pPr marL="0" indent="0">
              <a:buNone/>
            </a:pPr>
            <a:r>
              <a:rPr lang="en-US" sz="1400" dirty="0"/>
              <a:t>     In HashMap, HashSet, and similar hash-based collections:</a:t>
            </a:r>
          </a:p>
          <a:p>
            <a:r>
              <a:rPr lang="en-US" sz="1400" dirty="0"/>
              <a:t>hashCode() decides the bucket</a:t>
            </a:r>
          </a:p>
          <a:p>
            <a:r>
              <a:rPr lang="en-US" sz="1400" dirty="0"/>
              <a:t>equals() decides exact match within the bucket</a:t>
            </a:r>
          </a:p>
          <a:p>
            <a:pPr marL="0" indent="0">
              <a:buNone/>
            </a:pPr>
            <a:r>
              <a:rPr lang="en-US" sz="1400" dirty="0"/>
              <a:t>Contract</a:t>
            </a:r>
          </a:p>
          <a:p>
            <a:r>
              <a:rPr lang="en-US" sz="1400" dirty="0"/>
              <a:t>If two objects are equal using equals(), they </a:t>
            </a:r>
            <a:r>
              <a:rPr lang="en-US" sz="1400" b="1" dirty="0"/>
              <a:t>must</a:t>
            </a:r>
            <a:r>
              <a:rPr lang="en-US" sz="1400" dirty="0"/>
              <a:t> have the same hashCode().</a:t>
            </a:r>
          </a:p>
          <a:p>
            <a:pPr marL="0" indent="0">
              <a:buNone/>
            </a:pPr>
            <a:r>
              <a:rPr lang="en-US" sz="1400" dirty="0"/>
              <a:t>Why immutability matters for keys</a:t>
            </a:r>
          </a:p>
          <a:p>
            <a:pPr marL="0" indent="0">
              <a:buNone/>
            </a:pPr>
            <a:r>
              <a:rPr lang="en-US" sz="1400" dirty="0"/>
              <a:t>     A key should not change after insertion into a hash-based collection. If fields used in hashCode() or equals() change:</a:t>
            </a:r>
          </a:p>
          <a:p>
            <a:r>
              <a:rPr lang="en-US" sz="1400" dirty="0"/>
              <a:t>object may become “lost” in the map/set</a:t>
            </a:r>
          </a:p>
          <a:p>
            <a:r>
              <a:rPr lang="en-US" sz="1400" dirty="0"/>
              <a:t>retrieval/removal may fail</a:t>
            </a:r>
          </a:p>
          <a:p>
            <a:pPr marL="0" indent="0">
              <a:buNone/>
            </a:pPr>
            <a:r>
              <a:rPr lang="en-US" sz="1400" dirty="0"/>
              <a:t>Best practice</a:t>
            </a:r>
          </a:p>
          <a:p>
            <a:r>
              <a:rPr lang="en-US" sz="1400" dirty="0"/>
              <a:t>Use immutable fields for keys</a:t>
            </a:r>
          </a:p>
          <a:p>
            <a:r>
              <a:rPr lang="en-US" sz="1400" dirty="0"/>
              <a:t>Override both equals() and hashCode()</a:t>
            </a:r>
          </a:p>
          <a:p>
            <a:r>
              <a:rPr lang="en-US" sz="1400" dirty="0"/>
              <a:t>Prefer making key classes immutable</a:t>
            </a:r>
          </a:p>
          <a:p>
            <a:endParaRPr lang="en-IN" sz="140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AF08BBE-71A7-AEFC-F970-93C6BF79B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1C42412-D66A-A89A-CBAD-067355BA7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9F63095-BD54-33B2-6873-1DC4DF820D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70278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42FEE-06F2-7C8C-7B57-DFDBF19A6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4" y="972929"/>
            <a:ext cx="4500850" cy="1616203"/>
          </a:xfrm>
        </p:spPr>
        <p:txBody>
          <a:bodyPr anchor="t">
            <a:normAutofit/>
          </a:bodyPr>
          <a:lstStyle/>
          <a:p>
            <a:r>
              <a:rPr lang="en-IN" sz="3200" b="1"/>
              <a:t>Internal Implementation of HashMap</a:t>
            </a:r>
            <a:br>
              <a:rPr lang="en-IN" sz="3200" b="1"/>
            </a:br>
            <a:endParaRPr lang="en-IN" sz="32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41A5AD-BEEF-F8DD-2718-E00C8B5FAF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328438"/>
            <a:ext cx="4539344" cy="213294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13D11-FB6E-A2E3-9926-AFE7989788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978195"/>
            <a:ext cx="5257799" cy="5003113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1300" b="1" dirty="0"/>
              <a:t>Basic idea</a:t>
            </a:r>
          </a:p>
          <a:p>
            <a:r>
              <a:rPr lang="en-US" sz="1300" dirty="0"/>
              <a:t>HashMap stores data in an array of buckets.</a:t>
            </a:r>
          </a:p>
          <a:p>
            <a:pPr marL="0" indent="0">
              <a:buNone/>
            </a:pPr>
            <a:r>
              <a:rPr lang="en-US" sz="1300" b="1" dirty="0"/>
              <a:t>How it works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300" dirty="0"/>
              <a:t>Compute </a:t>
            </a:r>
            <a:r>
              <a:rPr lang="en-US" sz="1300" b="1" dirty="0"/>
              <a:t>hashCode() </a:t>
            </a:r>
            <a:r>
              <a:rPr lang="en-US" sz="1300" dirty="0"/>
              <a:t>of the key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300" dirty="0"/>
              <a:t>Convert hash to bucket index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300" dirty="0"/>
              <a:t>Store entry in that bucket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300" dirty="0"/>
              <a:t>If collision occurs, use: </a:t>
            </a:r>
          </a:p>
          <a:p>
            <a:pPr lvl="1"/>
            <a:r>
              <a:rPr lang="en-US" sz="1300" dirty="0"/>
              <a:t>linked list in older versions</a:t>
            </a:r>
          </a:p>
          <a:p>
            <a:pPr lvl="1"/>
            <a:r>
              <a:rPr lang="en-US" sz="1300" dirty="0"/>
              <a:t>tree structure in Java 8+ when collisions are large</a:t>
            </a:r>
          </a:p>
          <a:p>
            <a:pPr marL="0" indent="0">
              <a:buNone/>
            </a:pPr>
            <a:r>
              <a:rPr lang="en-US" sz="1300" b="1" dirty="0"/>
              <a:t>Collision handling</a:t>
            </a:r>
          </a:p>
          <a:p>
            <a:pPr marL="0" indent="0">
              <a:buNone/>
            </a:pPr>
            <a:r>
              <a:rPr lang="en-US" sz="1300" dirty="0"/>
              <a:t>      When two keys map to the same bucket:</a:t>
            </a:r>
          </a:p>
          <a:p>
            <a:r>
              <a:rPr lang="en-US" sz="1300" dirty="0"/>
              <a:t>compare using equals()</a:t>
            </a:r>
          </a:p>
          <a:p>
            <a:r>
              <a:rPr lang="en-US" sz="1300" dirty="0"/>
              <a:t>if same, replace value</a:t>
            </a:r>
          </a:p>
          <a:p>
            <a:r>
              <a:rPr lang="en-US" sz="1300" dirty="0"/>
              <a:t>if different, store as another node in the same bucket</a:t>
            </a:r>
          </a:p>
          <a:p>
            <a:pPr marL="0" indent="0">
              <a:buNone/>
            </a:pPr>
            <a:r>
              <a:rPr lang="en-US" sz="1300" b="1" dirty="0"/>
              <a:t>Java 8 enhancement</a:t>
            </a:r>
          </a:p>
          <a:p>
            <a:r>
              <a:rPr lang="en-US" sz="1300" dirty="0"/>
              <a:t>If a bucket becomes too large, it can convert into a </a:t>
            </a:r>
            <a:r>
              <a:rPr lang="en-US" sz="1300" b="1" dirty="0"/>
              <a:t>balanced tree</a:t>
            </a:r>
            <a:r>
              <a:rPr lang="en-US" sz="1300" dirty="0"/>
              <a:t> for faster lookup</a:t>
            </a:r>
          </a:p>
          <a:p>
            <a:pPr lvl="1"/>
            <a:endParaRPr lang="en-US" sz="1300" dirty="0"/>
          </a:p>
          <a:p>
            <a:endParaRPr lang="en-IN" sz="13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AF08BBE-71A7-AEFC-F970-93C6BF79B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1C42412-D66A-A89A-CBAD-067355BA7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9F63095-BD54-33B2-6873-1DC4DF820D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129361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0B1C08-009F-4319-1585-4172A23ED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6" y="457201"/>
            <a:ext cx="5814240" cy="1556870"/>
          </a:xfrm>
        </p:spPr>
        <p:txBody>
          <a:bodyPr anchor="b">
            <a:normAutofit/>
          </a:bodyPr>
          <a:lstStyle/>
          <a:p>
            <a:r>
              <a:rPr lang="en-IN" sz="3400" b="1"/>
              <a:t>Internal Implementation of HashSet</a:t>
            </a:r>
            <a:br>
              <a:rPr lang="en-IN" sz="3400" b="1"/>
            </a:br>
            <a:endParaRPr lang="en-IN" sz="3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86C787-DD5D-B211-C600-CA4ADD4AED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6" y="2277036"/>
            <a:ext cx="5814239" cy="34611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900"/>
              <a:t>HashSet is backed by HashMap</a:t>
            </a:r>
          </a:p>
          <a:p>
            <a:r>
              <a:rPr lang="en-US" sz="1900"/>
              <a:t>HashSet internally uses a HashMap</a:t>
            </a:r>
          </a:p>
          <a:p>
            <a:r>
              <a:rPr lang="en-US" sz="1900"/>
              <a:t>Elements are stored as keys</a:t>
            </a:r>
          </a:p>
          <a:p>
            <a:r>
              <a:rPr lang="en-US" sz="1900"/>
              <a:t>A dummy constant value is used </a:t>
            </a:r>
          </a:p>
          <a:p>
            <a:pPr marL="0" indent="0">
              <a:buNone/>
            </a:pPr>
            <a:r>
              <a:rPr lang="en-US" sz="1900"/>
              <a:t>Visual</a:t>
            </a:r>
          </a:p>
          <a:p>
            <a:pPr marL="0" indent="0">
              <a:buNone/>
            </a:pPr>
            <a:endParaRPr lang="en-US" sz="1900"/>
          </a:p>
          <a:p>
            <a:pPr marL="0" indent="0">
              <a:buNone/>
            </a:pPr>
            <a:r>
              <a:rPr lang="en-US" sz="1900"/>
              <a:t>Why HashSet has no duplicates</a:t>
            </a:r>
          </a:p>
          <a:p>
            <a:r>
              <a:rPr lang="en-US" sz="1900"/>
              <a:t>Because keys in a map must be unique</a:t>
            </a:r>
          </a:p>
          <a:p>
            <a:pPr marL="0" indent="0">
              <a:buNone/>
            </a:pPr>
            <a:r>
              <a:rPr lang="en-US" sz="1900"/>
              <a:t>Internal logic</a:t>
            </a:r>
          </a:p>
          <a:p>
            <a:pPr marL="0" indent="0">
              <a:buNone/>
            </a:pPr>
            <a:endParaRPr lang="en-US" sz="1900"/>
          </a:p>
          <a:p>
            <a:endParaRPr lang="en-IN" sz="19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2D3D90-B43B-ABF4-6A8C-5AB1DD0040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9766" y="1547152"/>
            <a:ext cx="3712869" cy="7145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1C98D2C-C495-1CCD-BF7F-B7A4158653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5410" y="4136888"/>
            <a:ext cx="3712869" cy="721134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A65989E-BBD5-44D7-AA86-7AFD5D46B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66000">
                <a:srgbClr val="000000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1A2881-D8D7-4A7D-ACA3-E9F849F85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6400800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975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58254" y="-358254"/>
            <a:ext cx="6858000" cy="7574507"/>
          </a:xfrm>
          <a:prstGeom prst="rect">
            <a:avLst/>
          </a:prstGeom>
          <a:ln>
            <a:noFill/>
          </a:ln>
          <a:effectLst>
            <a:outerShdw blurRad="304800" dist="317500" sx="94000" sy="94000" algn="l" rotWithShape="0">
              <a:prstClr val="black">
                <a:alpha val="3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6A1D60-ABA7-7C92-DE20-C7A467887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4853796"/>
            <a:ext cx="6032738" cy="1288211"/>
          </a:xfrm>
        </p:spPr>
        <p:txBody>
          <a:bodyPr anchor="b">
            <a:normAutofit/>
          </a:bodyPr>
          <a:lstStyle/>
          <a:p>
            <a:r>
              <a:rPr lang="en-IN" sz="4000" b="1"/>
              <a:t>ArrayList vs LinkedList</a:t>
            </a:r>
            <a:br>
              <a:rPr lang="en-IN" sz="4000" b="1"/>
            </a:br>
            <a:endParaRPr lang="en-IN" sz="4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005CDC-6742-45D8-6AF4-E7D5CD78B7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620" y="1262500"/>
            <a:ext cx="6032738" cy="241309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E12E09-2A20-6D4A-EA89-F093B70892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66006" y="743803"/>
            <a:ext cx="3304272" cy="547417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 b="1" dirty="0"/>
              <a:t>ArrayList</a:t>
            </a:r>
            <a:r>
              <a:rPr lang="en-US" sz="1700" dirty="0"/>
              <a:t>:</a:t>
            </a:r>
          </a:p>
          <a:p>
            <a:r>
              <a:rPr lang="en-US" sz="1700" dirty="0"/>
              <a:t>Backed by dynamic array</a:t>
            </a:r>
          </a:p>
          <a:p>
            <a:r>
              <a:rPr lang="en-US" sz="1700" dirty="0"/>
              <a:t>Fast random access by index</a:t>
            </a:r>
          </a:p>
          <a:p>
            <a:r>
              <a:rPr lang="en-US" sz="1700" dirty="0"/>
              <a:t>Slow insert/delete in middle due</a:t>
            </a:r>
          </a:p>
          <a:p>
            <a:pPr marL="0" indent="0">
              <a:buNone/>
            </a:pPr>
            <a:r>
              <a:rPr lang="en-US" sz="1700" dirty="0"/>
              <a:t>    to shifting</a:t>
            </a:r>
          </a:p>
          <a:p>
            <a:r>
              <a:rPr lang="en-US" sz="1700" dirty="0"/>
              <a:t>Better for read-heavy use cases</a:t>
            </a:r>
          </a:p>
          <a:p>
            <a:pPr marL="0" indent="0">
              <a:buNone/>
            </a:pPr>
            <a:r>
              <a:rPr lang="en-US" sz="1700" b="1" dirty="0"/>
              <a:t>LinkedList</a:t>
            </a:r>
            <a:r>
              <a:rPr lang="en-US" sz="1700" dirty="0"/>
              <a:t>:</a:t>
            </a:r>
          </a:p>
          <a:p>
            <a:r>
              <a:rPr lang="en-US" sz="1700" dirty="0"/>
              <a:t>Backed by doubly linked list</a:t>
            </a:r>
          </a:p>
          <a:p>
            <a:r>
              <a:rPr lang="en-US" sz="1700" dirty="0"/>
              <a:t>Fast insert/delete if node reference is known</a:t>
            </a:r>
          </a:p>
          <a:p>
            <a:r>
              <a:rPr lang="en-US" sz="1700" dirty="0"/>
              <a:t>Slow random access because traversal is required</a:t>
            </a:r>
          </a:p>
          <a:p>
            <a:r>
              <a:rPr lang="en-US" sz="1700" dirty="0"/>
              <a:t>Better for frequent insertions/removals</a:t>
            </a:r>
          </a:p>
          <a:p>
            <a:endParaRPr lang="en-IN" sz="1700" dirty="0"/>
          </a:p>
        </p:txBody>
      </p:sp>
    </p:spTree>
    <p:extLst>
      <p:ext uri="{BB962C8B-B14F-4D97-AF65-F5344CB8AC3E}">
        <p14:creationId xmlns:p14="http://schemas.microsoft.com/office/powerpoint/2010/main" val="29918519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58254" y="-358254"/>
            <a:ext cx="6858000" cy="7574507"/>
          </a:xfrm>
          <a:prstGeom prst="rect">
            <a:avLst/>
          </a:prstGeom>
          <a:ln>
            <a:noFill/>
          </a:ln>
          <a:effectLst>
            <a:outerShdw blurRad="304800" dist="317500" sx="94000" sy="94000" algn="l" rotWithShape="0">
              <a:prstClr val="black">
                <a:alpha val="3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B26474-50A0-5BBB-1830-2C30EE1C9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4853796"/>
            <a:ext cx="6032738" cy="1288211"/>
          </a:xfrm>
        </p:spPr>
        <p:txBody>
          <a:bodyPr anchor="b">
            <a:normAutofit/>
          </a:bodyPr>
          <a:lstStyle/>
          <a:p>
            <a:r>
              <a:rPr lang="en-IN" sz="3700" b="1" dirty="0"/>
              <a:t>HashMap vs LinkedHashMap</a:t>
            </a:r>
            <a:br>
              <a:rPr lang="en-IN" sz="3700" b="1" dirty="0"/>
            </a:br>
            <a:endParaRPr lang="en-IN" sz="37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51C76B-14A1-8128-338A-4C6D55C3BC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620" y="1390696"/>
            <a:ext cx="6032738" cy="215670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2AB13-08B5-1DC8-9339-DD521F8B62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66006" y="743803"/>
            <a:ext cx="3304272" cy="547417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1700" b="1" dirty="0"/>
              <a:t>HashMap</a:t>
            </a:r>
          </a:p>
          <a:p>
            <a:r>
              <a:rPr lang="en-IN" sz="1700" dirty="0"/>
              <a:t>No ordering guarantee</a:t>
            </a:r>
          </a:p>
          <a:p>
            <a:r>
              <a:rPr lang="en-IN" sz="1700" dirty="0"/>
              <a:t>Fast lookup</a:t>
            </a:r>
          </a:p>
          <a:p>
            <a:r>
              <a:rPr lang="en-IN" sz="1700" dirty="0"/>
              <a:t>Best for performance-focused key-value use</a:t>
            </a:r>
          </a:p>
          <a:p>
            <a:endParaRPr lang="en-IN" sz="1700" dirty="0"/>
          </a:p>
          <a:p>
            <a:pPr marL="0" indent="0">
              <a:buNone/>
            </a:pPr>
            <a:r>
              <a:rPr lang="en-IN" sz="1700" b="1" dirty="0"/>
              <a:t>LinkedHashMap</a:t>
            </a:r>
          </a:p>
          <a:p>
            <a:r>
              <a:rPr lang="en-IN" sz="1700" dirty="0"/>
              <a:t>Maintains insertion order</a:t>
            </a:r>
          </a:p>
          <a:p>
            <a:r>
              <a:rPr lang="en-IN" sz="1700" dirty="0"/>
              <a:t>Can maintain access order</a:t>
            </a:r>
          </a:p>
          <a:p>
            <a:r>
              <a:rPr lang="en-IN" sz="1700" dirty="0"/>
              <a:t>Slightly more memory overhead</a:t>
            </a:r>
          </a:p>
          <a:p>
            <a:endParaRPr lang="en-IN" sz="1700" dirty="0"/>
          </a:p>
          <a:p>
            <a:pPr marL="0" indent="0">
              <a:buNone/>
            </a:pPr>
            <a:r>
              <a:rPr lang="en-IN" sz="1700" b="1" dirty="0"/>
              <a:t>Use cases</a:t>
            </a:r>
          </a:p>
          <a:p>
            <a:r>
              <a:rPr lang="en-IN" sz="1700" b="1" dirty="0"/>
              <a:t>HashMap</a:t>
            </a:r>
            <a:r>
              <a:rPr lang="en-IN" sz="1700" dirty="0"/>
              <a:t>: caching, lookup</a:t>
            </a:r>
          </a:p>
          <a:p>
            <a:r>
              <a:rPr lang="en-IN" sz="1700" b="1" dirty="0"/>
              <a:t>LinkedHashMap</a:t>
            </a:r>
            <a:r>
              <a:rPr lang="en-IN" sz="1700" dirty="0"/>
              <a:t>: ordered iteration, LRU cache</a:t>
            </a:r>
          </a:p>
        </p:txBody>
      </p:sp>
    </p:spTree>
    <p:extLst>
      <p:ext uri="{BB962C8B-B14F-4D97-AF65-F5344CB8AC3E}">
        <p14:creationId xmlns:p14="http://schemas.microsoft.com/office/powerpoint/2010/main" val="34204078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669DA5-8418-C7D1-C159-1FA873254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IN" sz="4000" b="1">
                <a:solidFill>
                  <a:srgbClr val="FFFFFF"/>
                </a:solidFill>
              </a:rPr>
              <a:t>Summary</a:t>
            </a:r>
            <a:br>
              <a:rPr lang="en-IN" sz="4000" b="1">
                <a:solidFill>
                  <a:srgbClr val="FFFFFF"/>
                </a:solidFill>
              </a:rPr>
            </a:br>
            <a:endParaRPr lang="en-IN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E8E242-0110-0485-8390-F473A4990B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300" b="1" dirty="0"/>
              <a:t>Use List when:</a:t>
            </a:r>
          </a:p>
          <a:p>
            <a:r>
              <a:rPr lang="en-US" sz="1300" dirty="0"/>
              <a:t>duplicates are allowed</a:t>
            </a:r>
          </a:p>
          <a:p>
            <a:r>
              <a:rPr lang="en-US" sz="1300" dirty="0"/>
              <a:t>order matters</a:t>
            </a:r>
          </a:p>
          <a:p>
            <a:r>
              <a:rPr lang="en-US" sz="1300" dirty="0"/>
              <a:t>index-based access is important</a:t>
            </a:r>
          </a:p>
          <a:p>
            <a:endParaRPr lang="en-US" sz="1300" dirty="0"/>
          </a:p>
          <a:p>
            <a:pPr marL="0" indent="0">
              <a:buNone/>
            </a:pPr>
            <a:r>
              <a:rPr lang="en-US" sz="1300" b="1" dirty="0"/>
              <a:t>Use Set when:</a:t>
            </a:r>
          </a:p>
          <a:p>
            <a:r>
              <a:rPr lang="en-US" sz="1300" dirty="0"/>
              <a:t>uniqueness matters</a:t>
            </a:r>
          </a:p>
          <a:p>
            <a:r>
              <a:rPr lang="en-US" sz="1300" dirty="0"/>
              <a:t>duplicates should be removed</a:t>
            </a:r>
          </a:p>
          <a:p>
            <a:endParaRPr lang="en-US" sz="1300" dirty="0"/>
          </a:p>
          <a:p>
            <a:pPr marL="0" indent="0">
              <a:buNone/>
            </a:pPr>
            <a:r>
              <a:rPr lang="en-US" sz="1300" b="1" dirty="0"/>
              <a:t>Use HashMap when:</a:t>
            </a:r>
          </a:p>
          <a:p>
            <a:r>
              <a:rPr lang="en-US" sz="1300" dirty="0"/>
              <a:t>you need fast key-value lookup</a:t>
            </a:r>
          </a:p>
          <a:p>
            <a:r>
              <a:rPr lang="en-US" sz="1300" dirty="0"/>
              <a:t>ordering is not important</a:t>
            </a:r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/>
              <a:t>Use LinkedHashMap when:</a:t>
            </a:r>
          </a:p>
          <a:p>
            <a:r>
              <a:rPr lang="en-US" sz="1300" dirty="0"/>
              <a:t>insertion order matters</a:t>
            </a:r>
          </a:p>
          <a:p>
            <a:r>
              <a:rPr lang="en-US" sz="1300" dirty="0"/>
              <a:t>predictable iteration is required</a:t>
            </a:r>
          </a:p>
          <a:p>
            <a:r>
              <a:rPr lang="en-US" sz="1300" dirty="0"/>
              <a:t>Use immutable custom keys when:</a:t>
            </a:r>
          </a:p>
          <a:p>
            <a:r>
              <a:rPr lang="en-US" sz="1300" dirty="0"/>
              <a:t>you store objects in HashMap / HashSet</a:t>
            </a:r>
          </a:p>
          <a:p>
            <a:endParaRPr lang="en-IN" sz="1300" dirty="0"/>
          </a:p>
        </p:txBody>
      </p:sp>
    </p:spTree>
    <p:extLst>
      <p:ext uri="{BB962C8B-B14F-4D97-AF65-F5344CB8AC3E}">
        <p14:creationId xmlns:p14="http://schemas.microsoft.com/office/powerpoint/2010/main" val="8112643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0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ED38C42-E279-4088-89B5-DD08750CDCE7}">
  <we:reference id="0712333e-3078-4353-bc6c-307328446e34" version="1.3.0.0" store="EXCatalog" storeType="EXCatalog"/>
  <we:alternateReferences/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316</TotalTime>
  <Words>654</Words>
  <Application>Microsoft Office PowerPoint</Application>
  <PresentationFormat>Widescreen</PresentationFormat>
  <Paragraphs>160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Wingdings</vt:lpstr>
      <vt:lpstr>Office Theme</vt:lpstr>
      <vt:lpstr>Java Collections Framework  </vt:lpstr>
      <vt:lpstr>Java Collections Hierarchy </vt:lpstr>
      <vt:lpstr>Ordered vs Non-Ordered Collections </vt:lpstr>
      <vt:lpstr>List</vt:lpstr>
      <vt:lpstr>Set </vt:lpstr>
      <vt:lpstr>HashCode, Equals, Immutability, Custom Object as Key </vt:lpstr>
      <vt:lpstr>Internal Implementation of HashMap </vt:lpstr>
      <vt:lpstr>Internal Implementation of HashSet </vt:lpstr>
      <vt:lpstr>ArrayList vs LinkedList </vt:lpstr>
      <vt:lpstr>HashMap vs LinkedHashMap </vt:lpstr>
      <vt:lpstr>Summary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Kuldipkumar Radhelal Bisen</dc:creator>
  <cp:lastModifiedBy>Kuldipkumar Radhelal Bisen</cp:lastModifiedBy>
  <cp:revision>8</cp:revision>
  <dcterms:created xsi:type="dcterms:W3CDTF">2026-05-13T13:49:52Z</dcterms:created>
  <dcterms:modified xsi:type="dcterms:W3CDTF">2026-05-13T19:06:33Z</dcterms:modified>
</cp:coreProperties>
</file>