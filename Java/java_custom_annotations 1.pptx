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926080"/>
            <a:ext cx="2286000" cy="22860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45720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4F46E5">
                    <a:alpha val="12000"/>
                  </a:srgbClr>
                </a:solidFill>
              </a:rPr>
              <a:t>@</a:t>
            </a:r>
            <a:endParaRPr lang="en-US" sz="26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Annotations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Java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· Processors · Spring · Lombok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Java's powerful annotation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What is a Custom Annotation?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1143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Metadata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30759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are a form of metadata that can be attached to classes, methods, fields, parameters, or packages — without altering logic.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58568"/>
            <a:ext cx="73152" cy="1143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350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@interface Keyword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60604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annotations are defined using @interface, making them first-class Java types similar to classes or interfaces.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557016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57016"/>
            <a:ext cx="73152" cy="1143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48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at Runtime or Compile-time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90448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Reflection or Annotation Processors, annotations can be inspected to drive behaviour, code generation, or validation.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960120"/>
            <a:ext cx="3977640" cy="38404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@Retention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(RetentionPolicy.RUNTIME)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4920" y="16733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@Target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(ElementType.METHOD)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74920" y="19293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@interface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Audit {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74920" y="21854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pPr indent="0" marL="0">
              <a:buNone/>
            </a:pPr>
            <a:r>
              <a:rPr lang="en-US" sz="10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value()</a:t>
            </a:r>
            <a:pPr indent="0" marL="0">
              <a:buNone/>
            </a:pPr>
            <a:r>
              <a:rPr lang="en-US" sz="105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default </a:t>
            </a:r>
            <a:pPr indent="0" marL="0">
              <a:buNone/>
            </a:pPr>
            <a:r>
              <a:rPr lang="en-US" sz="1050" dirty="0">
                <a:solidFill>
                  <a:srgbClr val="FD97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"log";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74920" y="24414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2697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74920" y="29535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74920" y="32095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@Audit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(value="save")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74920" y="34655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saveUser() {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74920" y="37216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74920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Rules of Custom Annotations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996696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@Retention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38074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RetentionPolicy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9768" y="1600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– discarded by compiler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– in .class but not runtime (default)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– available via Reflection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996696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@Target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138074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ElementType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55848" y="1600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where annotation can be placed: TYPE, METHOD, FIELD, PARAMETER, CONSTRUCTOR, LOCAL_VARIABLE, PACKAGE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6012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996696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@Documented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1928" y="138074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81928" y="1600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the annotation in generated Javadoc. Useful for public APIs.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2608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" y="2962656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@Inherited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" y="334670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" y="35661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annotation on a superclass to be inherited by subclasses. Only applies to class-level annotations.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92608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2962656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Element Types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55848" y="334670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primitives &amp; Strings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55848" y="35661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elements must be primitives, String, Class, enum, another annotation, or arrays of these.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292608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92608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281928" y="2962656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Default Values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81928" y="334670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elements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81928" y="35661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may have default values using the default keyword. Elements without defaults are mandatory at usage site.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Sample: @Audit Annotation End-to-End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88920" cy="34747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88920" cy="2926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326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the Annotation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@Retention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5361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(RUNTIME)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@Target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(METHOD)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359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@interface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6334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 {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</a:t>
            </a:r>
            <a:pPr indent="0" marL="0">
              <a:buNone/>
            </a:pPr>
            <a:r>
              <a:rPr lang="en-US" sz="9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31821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97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"log";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3456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</a:t>
            </a:r>
            <a:pPr indent="0" marL="0">
              <a:buNone/>
            </a:pPr>
            <a:r>
              <a:rPr lang="en-US" sz="9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verbose()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7307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97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false;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005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82112" y="914400"/>
            <a:ext cx="2788920" cy="34747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914400"/>
            <a:ext cx="2788920" cy="2926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9326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Apply the Annotation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73552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73552" y="15361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UserSvc {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73552" y="1810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73552" y="20848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@Audit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73552" y="2359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(action="CREATE"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73552" y="26334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verbose=true)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73552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</a:t>
            </a:r>
            <a:pPr indent="0" marL="0">
              <a:buNone/>
            </a:pPr>
            <a:r>
              <a:rPr lang="en-US" sz="9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create(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73552" y="31821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u) {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73552" y="3456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logic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73552" y="37307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73552" y="4005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914400"/>
            <a:ext cx="2788920" cy="34747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914400"/>
            <a:ext cx="2788920" cy="2926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9326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Read via Reflection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0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Method[] methods =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15361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cls.getMethods();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1810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(Method m: methods){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0" y="20848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(m.isAnnotation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2359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Present(</a:t>
            </a:r>
            <a:pPr indent="0" marL="0">
              <a:buNone/>
            </a:pPr>
            <a:r>
              <a:rPr lang="en-US" sz="9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Audit.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class)){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26334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Audit a = m.get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Annotation(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31821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Audit.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class);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3456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log(a.action(),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37307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a.verbose());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4005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8600" y="4498848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Reflection reads RUNTIME-retained annotations dynamically — great for AOP, logging, and validation frameworks.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Annotation Processors — How Lombok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508760" cy="777240"/>
          </a:xfrm>
          <a:prstGeom prst="rect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Source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(.java)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83080" y="1280160"/>
            <a:ext cx="210312" cy="1371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1993392" y="960120"/>
            <a:ext cx="1508760" cy="7772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93392" y="9601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 invokes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02152" y="1280160"/>
            <a:ext cx="210312" cy="1371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3712464" y="960120"/>
            <a:ext cx="1508760" cy="77724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12464" y="9601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reads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@Annotation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21224" y="1280160"/>
            <a:ext cx="210312" cy="1371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31536" y="960120"/>
            <a:ext cx="1508760" cy="777240"/>
          </a:xfrm>
          <a:prstGeom prst="rect">
            <a:avLst/>
          </a:prstGeom>
          <a:solidFill>
            <a:srgbClr val="A6E2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31536" y="9601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AST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0296" y="1280160"/>
            <a:ext cx="210312" cy="1371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7150608" y="960120"/>
            <a:ext cx="1508760" cy="7772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50608" y="9601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Bytecode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(.class)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Lombok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Lombok  (@Data generates all of this)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3931920" cy="25603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395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 {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25923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name;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27889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age;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29855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getName() {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name; 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3787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setName(String n) {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5753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this.name = n; }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7719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getAge() { return age; }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39684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setAge(int a) {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1650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this.age = a; 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3616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+ equals, hashCode, toString...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5582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331720"/>
            <a:ext cx="4206240" cy="25603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23957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lombok.Data;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26106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282549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0403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 {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32552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name;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347014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age;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36850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389991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411480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Lombok processor generates: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43296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getters, setters, equals,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45445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hashCode, toString at compile time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24528" y="3566160"/>
            <a:ext cx="402336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4206240" y="3401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C3AED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05a  Lombok Annotation Processor — Step by Step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9692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9476" y="1316736"/>
            <a:ext cx="45720" cy="31089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50976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 starts compilation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Java compiler (javac) begins parsing .java source files and invokes the Annotation Processing Tool (APT) before generating any bytecode.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645920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645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9476" y="1993392"/>
            <a:ext cx="45720" cy="31089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627632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registers via ServiceLoader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18470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Lombok's LombokProcessor is listed in META-INF/services/javax.annotation.processing.Processor — javac auto-discovers it at startup.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322576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322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9476" y="2670048"/>
            <a:ext cx="45720" cy="31089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30428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getSupportedAnnotationTypes() → "*"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52374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claims ALL annotations ("*"), so it gets first inspection of every annotated element in the entire compilation unit.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999232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9476" y="3346704"/>
            <a:ext cx="45720" cy="31089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980944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process() called — AST inspection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200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 calls process(). Lombok walks the Abstract Syntax Tree looking for @Data, @Builder, @Getter etc. on each TypeElement.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675888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3675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9476" y="4023360"/>
            <a:ext cx="45720" cy="31089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657600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mutation via javac internals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387705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directly injects new nodes (getter/setter/constructor methods) into com.sun.tools.javac.tree.JCTree — no .java files written.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352544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4352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4334256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 continues → .class bytecode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45537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all processors finish, javac compiles the mutated AST to bytecode. IDEs also hook into this to show generated members in autocomplete.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12080" y="914400"/>
            <a:ext cx="3703320" cy="40690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12080" y="914400"/>
            <a:ext cx="37033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9235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Lombok injects into the AST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9240" y="1252728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Source you write: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49240" y="1499616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49240" y="174650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 {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49240" y="1993392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name;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9240" y="2240280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age;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2487168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49240" y="2734056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49240" y="298094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AST nodes Lombok injects: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49240" y="3227832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getName()  setName(String)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49240" y="3474720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getAge()   setAge(int)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49240" y="3721608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equals(Object o)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49240" y="3968496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hashCode()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49240" y="421538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toString()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49240" y="4462272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97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User(String name, int age)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49240" y="4709160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↑ @RequiredArgsConstructor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05b  Writing Your Own Annotation Processor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384048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1440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AbstractProcessor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2618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processor class extends AbstractProcessor and overrides process(), getSupportedAnnotationTypes(), and getSupportedSourceVersion().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938528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938528"/>
            <a:ext cx="384048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938528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2029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supported annotations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286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@SupportedAnnotationTypes("com.example.Audit") on the class. Add @SupportedSourceVersion(SourceVersion.RELEASE_17) to target JDK 17.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962656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962656"/>
            <a:ext cx="384048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" y="2962656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" y="30540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via ServiceLoader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33101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file META-INF/services/javax.annotation.processing.Processor and put your processor's fully-qualified class name inside it.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986784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986784"/>
            <a:ext cx="384048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3986784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" y="40782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process() — inspect &amp; generate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43342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roundEnv.getElementsAnnotatedWith(). Use processingEnv.getFiler() to write new .java files or Messager to emit compile-time errors.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914400"/>
            <a:ext cx="4297680" cy="40690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914400"/>
            <a:ext cx="429768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9235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processor skeleton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36592" y="125272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@SupportedAnnotationTypes(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736592" y="141274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D97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"com.example.Audit")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4736592" y="157276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@SupportedSourceVersion(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736592" y="173278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D97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SourceVersion.RELEASE_17)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736592" y="189280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AuditProcessor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736592" y="205282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extends AbstractProcessor {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4736592" y="221284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736592" y="237286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boolean process(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4736592" y="253288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Set&lt;? extends TypeElement&gt; ann,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736592" y="269290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RoundEnvironment roundEnv) {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4736592" y="285292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(Element el :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4736592" y="301294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roundEnv.getElementsAnnotated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4736592" y="317296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With(Audit.class)) {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4736592" y="333298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5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use Filer to write a file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736592" y="349300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JavaFileObject f = processingEnv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736592" y="365302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.getFiler().createSourceFile(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736592" y="381304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D97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"Log_"+el.getSimpleName());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4736592" y="397306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5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use Messager for warnings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4736592" y="413308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processingEnv.getMessager()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4736592" y="429310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.printMessage(NOTE, "found");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4736592" y="445312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4736592" y="461314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571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true;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4736592" y="477316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4736592" y="4933188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Custom Annotations in Spring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9326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Meta-Annotations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188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Spring annotations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560320" cy="28803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727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@Target(TYPE)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@Retention(RUNTIME)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11480" y="236829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11480" y="263347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@interface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11480" y="2898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TxService {}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200400" y="91440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9326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 + @Around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188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with AspectJ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1508760"/>
            <a:ext cx="2560320" cy="28803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15727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@Aspect @Component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383280" y="18379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AuditAspect {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383280" y="21031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@Around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383280" y="236829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("@annotation(Audit)")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383280" y="263347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Object log(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383280" y="2898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ProceedingJoinPoint p)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383280" y="316382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throws Throwable {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383280" y="34290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log then proceed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383280" y="369417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3383280" y="39593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172200" y="91440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914400"/>
            <a:ext cx="274320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6281928" y="9326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81928" y="1188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+ ConstraintValidator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63640" y="1508760"/>
            <a:ext cx="2560320" cy="28803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15727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@Constraint(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6355080" y="18379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validatedBy=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6355080" y="21031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PhoneValidator.class)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6355080" y="236829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@Target(FIELD)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6355080" y="263347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@Retention(RUNTIME)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355080" y="2898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@interface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355080" y="316382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ValidPhone {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6355080" y="34290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message()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6355080" y="369417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"Invalid";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6355080" y="39593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228600" y="482803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Spring's power: combine @Retention(RUNTIME) + Reflection (AOP) or compile-time processing (Bean Validation) for zero-boilerplate behaviour.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Quick Reference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57400" cy="42062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966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23160" y="960120"/>
            <a:ext cx="3154680" cy="42062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99669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063240" cy="42062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99669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/ Tool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2057400" cy="420624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538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1417320"/>
            <a:ext cx="3154680" cy="420624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45389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via @interface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1417320"/>
            <a:ext cx="3063240" cy="420624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145389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@Retention, @Target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874520"/>
            <a:ext cx="2057400" cy="420624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9110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23160" y="1874520"/>
            <a:ext cx="3154680" cy="420624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191109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annotation lives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1874520"/>
            <a:ext cx="3063240" cy="420624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191109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| CLASS | RUNTIME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331720"/>
            <a:ext cx="2057400" cy="420624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3682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2331720"/>
            <a:ext cx="3154680" cy="420624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25" name="Text 23"/>
          <p:cNvSpPr/>
          <p:nvPr/>
        </p:nvSpPr>
        <p:spPr>
          <a:xfrm>
            <a:off x="2514600" y="236829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can be placed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2331720"/>
            <a:ext cx="3063240" cy="420624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27" name="Text 25"/>
          <p:cNvSpPr/>
          <p:nvPr/>
        </p:nvSpPr>
        <p:spPr>
          <a:xfrm>
            <a:off x="5760720" y="236829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METHOD, FIELD…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788920"/>
            <a:ext cx="2057400" cy="420624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8254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23160" y="2788920"/>
            <a:ext cx="3154680" cy="420624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1" name="Text 29"/>
          <p:cNvSpPr/>
          <p:nvPr/>
        </p:nvSpPr>
        <p:spPr>
          <a:xfrm>
            <a:off x="2514600" y="282549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code gen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2788920"/>
            <a:ext cx="3063240" cy="420624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0" y="282549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 APT + AbstractProcessor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246120"/>
            <a:ext cx="2057400" cy="420624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2826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23160" y="3246120"/>
            <a:ext cx="3154680" cy="420624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37" name="Text 35"/>
          <p:cNvSpPr/>
          <p:nvPr/>
        </p:nvSpPr>
        <p:spPr>
          <a:xfrm>
            <a:off x="2514600" y="328269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@Data, @Builder etc.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0" y="3246120"/>
            <a:ext cx="3063240" cy="420624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0" y="328269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manipulation at compile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703320"/>
            <a:ext cx="2057400" cy="420624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7398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AOP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23160" y="3703320"/>
            <a:ext cx="3154680" cy="420624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3" name="Text 41"/>
          <p:cNvSpPr/>
          <p:nvPr/>
        </p:nvSpPr>
        <p:spPr>
          <a:xfrm>
            <a:off x="2514600" y="373989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interception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0" y="3703320"/>
            <a:ext cx="3063240" cy="420624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5" name="Text 43"/>
          <p:cNvSpPr/>
          <p:nvPr/>
        </p:nvSpPr>
        <p:spPr>
          <a:xfrm>
            <a:off x="5760720" y="373989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@Aspect + @Around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160520"/>
            <a:ext cx="2057400" cy="420624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1970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Validation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423160" y="4160520"/>
            <a:ext cx="3154680" cy="420624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49" name="Text 47"/>
          <p:cNvSpPr/>
          <p:nvPr/>
        </p:nvSpPr>
        <p:spPr>
          <a:xfrm>
            <a:off x="2514600" y="419709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constraints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69280" y="4160520"/>
            <a:ext cx="3063240" cy="420624"/>
          </a:xfrm>
          <a:prstGeom prst="rect">
            <a:avLst/>
          </a:prstGeom>
          <a:solidFill>
            <a:srgbClr val="162035"/>
          </a:solidFill>
          <a:ln/>
        </p:spPr>
      </p:sp>
      <p:sp>
        <p:nvSpPr>
          <p:cNvPr id="51" name="Text 49"/>
          <p:cNvSpPr/>
          <p:nvPr/>
        </p:nvSpPr>
        <p:spPr>
          <a:xfrm>
            <a:off x="5760720" y="419709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@Constraint + ConstraintValidator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4617720"/>
            <a:ext cx="2057400" cy="420624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46542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Meta-annotation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423160" y="4617720"/>
            <a:ext cx="3154680" cy="420624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55" name="Text 53"/>
          <p:cNvSpPr/>
          <p:nvPr/>
        </p:nvSpPr>
        <p:spPr>
          <a:xfrm>
            <a:off x="2514600" y="465429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annotations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669280" y="4617720"/>
            <a:ext cx="3063240" cy="420624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57" name="Text 55"/>
          <p:cNvSpPr/>
          <p:nvPr/>
        </p:nvSpPr>
        <p:spPr>
          <a:xfrm>
            <a:off x="5760720" y="465429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@Service + @Transactional → @TxService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annotations → less boilerplate, more expressive, framework-grade Java.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Annotations in Java</dc:title>
  <dc:subject>PptxGenJS Presentation</dc:subject>
  <dc:creator>PptxGenJS</dc:creator>
  <cp:lastModifiedBy>PptxGenJS</cp:lastModifiedBy>
  <cp:revision>1</cp:revision>
  <dcterms:created xsi:type="dcterms:W3CDTF">2026-03-26T01:49:24Z</dcterms:created>
  <dcterms:modified xsi:type="dcterms:W3CDTF">2026-03-26T01:49:24Z</dcterms:modified>
</cp:coreProperties>
</file>