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90" d="100"/>
          <a:sy n="90" d="100"/>
        </p:scale>
        <p:origin x="370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5F6DF1-0206-4040-BAC9-628631DBD530}" type="datetimeFigureOut">
              <a:rPr lang="en-IN" smtClean="0"/>
              <a:t>13-05-2026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E6B130-7D19-4A26-8009-6D055932E7C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7763571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5F6DF1-0206-4040-BAC9-628631DBD530}" type="datetimeFigureOut">
              <a:rPr lang="en-IN" smtClean="0"/>
              <a:t>13-05-2026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E6B130-7D19-4A26-8009-6D055932E7C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9242088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5F6DF1-0206-4040-BAC9-628631DBD530}" type="datetimeFigureOut">
              <a:rPr lang="en-IN" smtClean="0"/>
              <a:t>13-05-2026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E6B130-7D19-4A26-8009-6D055932E7C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5556916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5F6DF1-0206-4040-BAC9-628631DBD530}" type="datetimeFigureOut">
              <a:rPr lang="en-IN" smtClean="0"/>
              <a:t>13-05-2026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E6B130-7D19-4A26-8009-6D055932E7C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330571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5F6DF1-0206-4040-BAC9-628631DBD530}" type="datetimeFigureOut">
              <a:rPr lang="en-IN" smtClean="0"/>
              <a:t>13-05-2026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E6B130-7D19-4A26-8009-6D055932E7C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9443797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5F6DF1-0206-4040-BAC9-628631DBD530}" type="datetimeFigureOut">
              <a:rPr lang="en-IN" smtClean="0"/>
              <a:t>13-05-2026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E6B130-7D19-4A26-8009-6D055932E7C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2093041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5F6DF1-0206-4040-BAC9-628631DBD530}" type="datetimeFigureOut">
              <a:rPr lang="en-IN" smtClean="0"/>
              <a:t>13-05-2026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E6B130-7D19-4A26-8009-6D055932E7C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591266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5F6DF1-0206-4040-BAC9-628631DBD530}" type="datetimeFigureOut">
              <a:rPr lang="en-IN" smtClean="0"/>
              <a:t>13-05-2026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E6B130-7D19-4A26-8009-6D055932E7C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226470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5F6DF1-0206-4040-BAC9-628631DBD530}" type="datetimeFigureOut">
              <a:rPr lang="en-IN" smtClean="0"/>
              <a:t>13-05-2026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E6B130-7D19-4A26-8009-6D055932E7C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4185158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5F6DF1-0206-4040-BAC9-628631DBD530}" type="datetimeFigureOut">
              <a:rPr lang="en-IN" smtClean="0"/>
              <a:t>13-05-2026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E6B130-7D19-4A26-8009-6D055932E7C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4790970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5F6DF1-0206-4040-BAC9-628631DBD530}" type="datetimeFigureOut">
              <a:rPr lang="en-IN" smtClean="0"/>
              <a:t>13-05-2026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E6B130-7D19-4A26-8009-6D055932E7C0}" type="slidenum">
              <a:rPr lang="en-IN" smtClean="0"/>
              <a:t>‹#›</a:t>
            </a:fld>
            <a:endParaRPr lang="en-IN"/>
          </a:p>
        </p:txBody>
      </p:sp>
      <p:sp>
        <p:nvSpPr>
          <p:cNvPr id="20" name="TextBox 19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</a:rPr>
              <a:t>”</a:t>
            </a:r>
            <a:endParaRPr lang="en-US" dirty="0">
              <a:solidFill>
                <a:schemeClr val="accent1">
                  <a:lumMod val="60000"/>
                  <a:lumOff val="40000"/>
                </a:schemeClr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63973385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5F6DF1-0206-4040-BAC9-628631DBD530}" type="datetimeFigureOut">
              <a:rPr lang="en-IN" smtClean="0"/>
              <a:t>13-05-2026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E6B130-7D19-4A26-8009-6D055932E7C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4108730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5F6DF1-0206-4040-BAC9-628631DBD530}" type="datetimeFigureOut">
              <a:rPr lang="en-IN" smtClean="0"/>
              <a:t>13-05-2026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E6B130-7D19-4A26-8009-6D055932E7C0}" type="slidenum">
              <a:rPr lang="en-IN" smtClean="0"/>
              <a:t>‹#›</a:t>
            </a:fld>
            <a:endParaRPr lang="en-IN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90149011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5F6DF1-0206-4040-BAC9-628631DBD530}" type="datetimeFigureOut">
              <a:rPr lang="en-IN" smtClean="0"/>
              <a:t>13-05-2026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E6B130-7D19-4A26-8009-6D055932E7C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2024953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5F6DF1-0206-4040-BAC9-628631DBD530}" type="datetimeFigureOut">
              <a:rPr lang="en-IN" smtClean="0"/>
              <a:t>13-05-2026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E6B130-7D19-4A26-8009-6D055932E7C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9588615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5F6DF1-0206-4040-BAC9-628631DBD530}" type="datetimeFigureOut">
              <a:rPr lang="en-IN" smtClean="0"/>
              <a:t>13-05-2026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E6B130-7D19-4A26-8009-6D055932E7C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070550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E5F6DF1-0206-4040-BAC9-628631DBD530}" type="datetimeFigureOut">
              <a:rPr lang="en-IN" smtClean="0"/>
              <a:t>13-05-2026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26E6B130-7D19-4A26-8009-6D055932E7C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3432578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0" name="Rectangle 19">
            <a:extLst>
              <a:ext uri="{FF2B5EF4-FFF2-40B4-BE49-F238E27FC236}">
                <a16:creationId xmlns:a16="http://schemas.microsoft.com/office/drawing/2014/main" id="{DD6BC9EB-F181-48AB-BCA2-3D1DB20D2D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66467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EEB7335-1C4D-A001-D47F-C15F548A66B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07066" y="999460"/>
            <a:ext cx="5698067" cy="4479852"/>
          </a:xfrm>
        </p:spPr>
        <p:txBody>
          <a:bodyPr anchor="ctr">
            <a:normAutofit/>
          </a:bodyPr>
          <a:lstStyle/>
          <a:p>
            <a:r>
              <a:rPr lang="en-US"/>
              <a:t>Comparable vs Comparator</a:t>
            </a:r>
            <a:endParaRPr lang="en-IN"/>
          </a:p>
        </p:txBody>
      </p:sp>
      <p:sp>
        <p:nvSpPr>
          <p:cNvPr id="21" name="Isosceles Triangle 20">
            <a:extLst>
              <a:ext uri="{FF2B5EF4-FFF2-40B4-BE49-F238E27FC236}">
                <a16:creationId xmlns:a16="http://schemas.microsoft.com/office/drawing/2014/main" id="{D33AAA80-39DC-4020-9BFF-0718F35C76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0" y="0"/>
            <a:ext cx="842596" cy="5666154"/>
          </a:xfrm>
          <a:prstGeom prst="triangle">
            <a:avLst>
              <a:gd name="adj" fmla="val 100000"/>
            </a:avLst>
          </a:prstGeom>
          <a:solidFill>
            <a:schemeClr val="accent1">
              <a:alpha val="8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C9C5D90B-7EE3-4D26-AB7D-A5A3A6E1120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534656" y="1639186"/>
            <a:ext cx="0" cy="32004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Isosceles Triangle 22">
            <a:extLst>
              <a:ext uri="{FF2B5EF4-FFF2-40B4-BE49-F238E27FC236}">
                <a16:creationId xmlns:a16="http://schemas.microsoft.com/office/drawing/2014/main" id="{1177F295-741F-4EFF-B0CA-BE69295ADA0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 flipV="1">
            <a:off x="11349404" y="1217756"/>
            <a:ext cx="842596" cy="5666154"/>
          </a:xfrm>
          <a:prstGeom prst="triangle">
            <a:avLst>
              <a:gd name="adj" fmla="val 100000"/>
            </a:avLst>
          </a:prstGeom>
          <a:solidFill>
            <a:schemeClr val="accent1">
              <a:alpha val="8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078623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41EC22-0D86-BA1E-3007-7F5E8AE25E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Agenda</a:t>
            </a:r>
            <a:br>
              <a:rPr lang="en-IN" b="1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4084AE7-68A5-0C05-69F0-60460D5B40D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1. Why do we need Comparable &amp; Comparator?</a:t>
            </a:r>
          </a:p>
          <a:p>
            <a:r>
              <a:rPr lang="en-US" dirty="0"/>
              <a:t>2. Comparable Interface — Deep Dive</a:t>
            </a:r>
          </a:p>
          <a:p>
            <a:r>
              <a:rPr lang="en-US" dirty="0"/>
              <a:t>3. Comparator Interface — Deep Dive</a:t>
            </a:r>
          </a:p>
          <a:p>
            <a:r>
              <a:rPr lang="en-US" dirty="0"/>
              <a:t>4. Comparable vs Comparator — Head-to-Head</a:t>
            </a:r>
          </a:p>
          <a:p>
            <a:r>
              <a:rPr lang="en-US" dirty="0"/>
              <a:t>5. Live Code Demo</a:t>
            </a:r>
          </a:p>
          <a:p>
            <a:r>
              <a:rPr lang="en-US" dirty="0"/>
              <a:t>6. Java 8+ Enhancements</a:t>
            </a:r>
          </a:p>
          <a:p>
            <a:r>
              <a:rPr lang="en-US"/>
              <a:t>7. </a:t>
            </a:r>
            <a:r>
              <a:rPr lang="en-US" dirty="0"/>
              <a:t>Q&amp;A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85849260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36C691-6980-5F61-B68C-DD4113A1D3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Problem ?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B216399-6DBA-341D-898C-6141DF79070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How does Java know how to sort YOUR custom objects?</a:t>
            </a:r>
          </a:p>
          <a:p>
            <a:pPr marL="0" indent="0">
              <a:buNone/>
            </a:pPr>
            <a:endParaRPr lang="en-IN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BFAF593-B96C-4634-F32D-660BD498D150}"/>
              </a:ext>
            </a:extLst>
          </p:cNvPr>
          <p:cNvSpPr txBox="1"/>
          <p:nvPr/>
        </p:nvSpPr>
        <p:spPr>
          <a:xfrm>
            <a:off x="5643033" y="2976033"/>
            <a:ext cx="914400" cy="9144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IN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29DF423-2A93-37A9-E9EC-95FBBAA9FE82}"/>
              </a:ext>
            </a:extLst>
          </p:cNvPr>
          <p:cNvSpPr txBox="1"/>
          <p:nvPr/>
        </p:nvSpPr>
        <p:spPr>
          <a:xfrm>
            <a:off x="1185333" y="2821198"/>
            <a:ext cx="7789334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List&lt;String&gt; names = </a:t>
            </a:r>
            <a:r>
              <a:rPr lang="en-US" dirty="0" err="1"/>
              <a:t>Arrays.asList</a:t>
            </a:r>
            <a:r>
              <a:rPr lang="en-US" dirty="0"/>
              <a:t>("Charlie", "Alice", "Bob");</a:t>
            </a:r>
          </a:p>
          <a:p>
            <a:r>
              <a:rPr lang="en-US" dirty="0"/>
              <a:t>    </a:t>
            </a:r>
            <a:r>
              <a:rPr lang="en-US" dirty="0" err="1"/>
              <a:t>Collections.sort</a:t>
            </a:r>
            <a:r>
              <a:rPr lang="en-US" dirty="0"/>
              <a:t>(names);  // ✅ Works! (String implements     	Comparable)</a:t>
            </a:r>
          </a:p>
          <a:p>
            <a:endParaRPr lang="en-US" dirty="0"/>
          </a:p>
          <a:p>
            <a:r>
              <a:rPr lang="en-US" dirty="0"/>
              <a:t>    List&lt;Employee&gt; employees = </a:t>
            </a:r>
            <a:r>
              <a:rPr lang="en-US" dirty="0" err="1"/>
              <a:t>getEmployees</a:t>
            </a:r>
            <a:r>
              <a:rPr lang="en-US" dirty="0"/>
              <a:t>();</a:t>
            </a:r>
          </a:p>
          <a:p>
            <a:r>
              <a:rPr lang="en-US" dirty="0"/>
              <a:t>    </a:t>
            </a:r>
            <a:r>
              <a:rPr lang="en-US" dirty="0" err="1"/>
              <a:t>Collections.sort</a:t>
            </a:r>
            <a:r>
              <a:rPr lang="en-US" dirty="0"/>
              <a:t>(employees);  // ❌ How to sort? By name? salary? age?</a:t>
            </a:r>
          </a:p>
          <a:p>
            <a:endParaRPr lang="en-US" dirty="0"/>
          </a:p>
          <a:p>
            <a:r>
              <a:rPr lang="en-US" dirty="0"/>
              <a:t>💡 Answer: Comparable &amp; Comparator define the SORTING LOGIC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51667785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0287BE-D3D2-E994-9D1D-D6E01F25BB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753533"/>
          </a:xfrm>
        </p:spPr>
        <p:txBody>
          <a:bodyPr>
            <a:normAutofit fontScale="90000"/>
          </a:bodyPr>
          <a:lstStyle/>
          <a:p>
            <a:r>
              <a:rPr lang="en-IN" b="1" dirty="0"/>
              <a:t>Comparable Interface</a:t>
            </a:r>
            <a:br>
              <a:rPr lang="en-IN" b="1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B97A232-403D-AAAB-5ED8-26FF3ADB1ED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1488613"/>
            <a:ext cx="8596668" cy="3880773"/>
          </a:xfrm>
        </p:spPr>
        <p:txBody>
          <a:bodyPr/>
          <a:lstStyle/>
          <a:p>
            <a:r>
              <a:rPr lang="en-IN" dirty="0"/>
              <a:t>Comparable&lt;T&gt; Interface</a:t>
            </a:r>
          </a:p>
          <a:p>
            <a:pPr marL="0" indent="0">
              <a:buNone/>
            </a:pPr>
            <a:endParaRPr lang="en-IN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2C5728F-38C1-DA8C-271B-6D73107BF86C}"/>
              </a:ext>
            </a:extLst>
          </p:cNvPr>
          <p:cNvSpPr txBox="1"/>
          <p:nvPr/>
        </p:nvSpPr>
        <p:spPr>
          <a:xfrm>
            <a:off x="1058334" y="1782233"/>
            <a:ext cx="8596668" cy="42473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      Package: </a:t>
            </a:r>
            <a:r>
              <a:rPr lang="en-IN" dirty="0" err="1"/>
              <a:t>java.lang</a:t>
            </a:r>
            <a:endParaRPr lang="en-IN" dirty="0"/>
          </a:p>
          <a:p>
            <a:r>
              <a:rPr lang="en-IN" dirty="0"/>
              <a:t>📝 Method:  int </a:t>
            </a:r>
            <a:r>
              <a:rPr lang="en-IN" dirty="0" err="1"/>
              <a:t>compareTo</a:t>
            </a:r>
            <a:r>
              <a:rPr lang="en-IN" dirty="0"/>
              <a:t>(T o)</a:t>
            </a:r>
          </a:p>
          <a:p>
            <a:endParaRPr lang="en-IN" dirty="0"/>
          </a:p>
          <a:p>
            <a:r>
              <a:rPr lang="en-IN" dirty="0"/>
              <a:t>🔑 Key Characteristics:</a:t>
            </a:r>
          </a:p>
          <a:p>
            <a:r>
              <a:rPr lang="en-IN" dirty="0"/>
              <a:t>   • Defines the NATURAL ordering of objects</a:t>
            </a:r>
          </a:p>
          <a:p>
            <a:r>
              <a:rPr lang="en-IN" dirty="0"/>
              <a:t>   • Class itself implements the interface</a:t>
            </a:r>
          </a:p>
          <a:p>
            <a:r>
              <a:rPr lang="en-IN" dirty="0"/>
              <a:t>   • Only ONE sorting sequence possible</a:t>
            </a:r>
          </a:p>
          <a:p>
            <a:r>
              <a:rPr lang="en-IN" dirty="0"/>
              <a:t>   • Used by: </a:t>
            </a:r>
            <a:r>
              <a:rPr lang="en-IN" dirty="0" err="1"/>
              <a:t>Collections.sort</a:t>
            </a:r>
            <a:r>
              <a:rPr lang="en-IN" dirty="0"/>
              <a:t>(), </a:t>
            </a:r>
            <a:r>
              <a:rPr lang="en-IN" dirty="0" err="1"/>
              <a:t>Arrays.sort</a:t>
            </a:r>
            <a:r>
              <a:rPr lang="en-IN" dirty="0"/>
              <a:t>(), </a:t>
            </a:r>
            <a:r>
              <a:rPr lang="en-IN" dirty="0" err="1"/>
              <a:t>TreeSet</a:t>
            </a:r>
            <a:r>
              <a:rPr lang="en-IN" dirty="0"/>
              <a:t>, </a:t>
            </a:r>
            <a:r>
              <a:rPr lang="en-IN" dirty="0" err="1"/>
              <a:t>TreeMap</a:t>
            </a:r>
            <a:endParaRPr lang="en-IN" dirty="0"/>
          </a:p>
          <a:p>
            <a:endParaRPr lang="en-IN" dirty="0"/>
          </a:p>
          <a:p>
            <a:r>
              <a:rPr lang="en-IN" dirty="0"/>
              <a:t>📐 Contract:</a:t>
            </a:r>
          </a:p>
          <a:p>
            <a:r>
              <a:rPr lang="en-IN" dirty="0"/>
              <a:t>   │  Returns NEGATIVE  →  this &lt; other           │</a:t>
            </a:r>
          </a:p>
          <a:p>
            <a:r>
              <a:rPr lang="en-IN" dirty="0"/>
              <a:t>   │  Returns ZERO      →    this == other          │</a:t>
            </a:r>
          </a:p>
          <a:p>
            <a:r>
              <a:rPr lang="en-IN" dirty="0"/>
              <a:t>   │  Returns POSITIVE  →   this &gt; other           │</a:t>
            </a:r>
          </a:p>
          <a:p>
            <a:r>
              <a:rPr lang="en-IN" dirty="0"/>
              <a:t>   </a:t>
            </a:r>
          </a:p>
          <a:p>
            <a:r>
              <a:rPr lang="en-IN" dirty="0"/>
              <a:t>💬 Think of it as: "I know how to compare MYSELF with others"</a:t>
            </a:r>
          </a:p>
        </p:txBody>
      </p:sp>
    </p:spTree>
    <p:extLst>
      <p:ext uri="{BB962C8B-B14F-4D97-AF65-F5344CB8AC3E}">
        <p14:creationId xmlns:p14="http://schemas.microsoft.com/office/powerpoint/2010/main" val="295032486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DBA137-0902-8864-B96E-51D96D2335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Let’s go to practical example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69364887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A70549-7492-0DB7-348F-33FEC48FB7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829733"/>
          </a:xfrm>
        </p:spPr>
        <p:txBody>
          <a:bodyPr>
            <a:normAutofit fontScale="90000"/>
          </a:bodyPr>
          <a:lstStyle/>
          <a:p>
            <a:r>
              <a:rPr lang="en-IN" b="1" dirty="0"/>
              <a:t>Comparator Interface</a:t>
            </a:r>
            <a:br>
              <a:rPr lang="en-IN" b="1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43A2C13-8CCD-F787-971D-C35D413F734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1330856"/>
            <a:ext cx="8596668" cy="5459411"/>
          </a:xfrm>
        </p:spPr>
        <p:txBody>
          <a:bodyPr/>
          <a:lstStyle/>
          <a:p>
            <a:r>
              <a:rPr lang="en-IN" dirty="0"/>
              <a:t>Comparator&lt;T&gt; Interface</a:t>
            </a:r>
          </a:p>
          <a:p>
            <a:pPr marL="0" indent="0">
              <a:buNone/>
            </a:pPr>
            <a:endParaRPr lang="en-IN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ADBD265-7683-43AF-6A79-6653B5C221E2}"/>
              </a:ext>
            </a:extLst>
          </p:cNvPr>
          <p:cNvSpPr txBox="1"/>
          <p:nvPr/>
        </p:nvSpPr>
        <p:spPr>
          <a:xfrm>
            <a:off x="1134534" y="1854200"/>
            <a:ext cx="8139468" cy="48013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📦 Package: </a:t>
            </a:r>
            <a:r>
              <a:rPr lang="en-IN" dirty="0" err="1"/>
              <a:t>java.util</a:t>
            </a:r>
            <a:endParaRPr lang="en-IN" dirty="0"/>
          </a:p>
          <a:p>
            <a:r>
              <a:rPr lang="en-IN" dirty="0"/>
              <a:t>📝 Method:  int compare(T o1, T o2)</a:t>
            </a:r>
          </a:p>
          <a:p>
            <a:endParaRPr lang="en-IN" dirty="0"/>
          </a:p>
          <a:p>
            <a:r>
              <a:rPr lang="en-IN" dirty="0"/>
              <a:t>🔑 Key Characteristics:</a:t>
            </a:r>
          </a:p>
          <a:p>
            <a:r>
              <a:rPr lang="en-IN" dirty="0"/>
              <a:t>   • Defines CUSTOM/EXTERNAL ordering</a:t>
            </a:r>
          </a:p>
          <a:p>
            <a:r>
              <a:rPr lang="en-IN" dirty="0"/>
              <a:t>   • Separate class implements the interface (or lambda)</a:t>
            </a:r>
          </a:p>
          <a:p>
            <a:r>
              <a:rPr lang="en-IN" dirty="0"/>
              <a:t>   • MULTIPLE sorting sequences possible</a:t>
            </a:r>
          </a:p>
          <a:p>
            <a:r>
              <a:rPr lang="en-IN" dirty="0"/>
              <a:t>   • Does NOT modify the original class</a:t>
            </a:r>
          </a:p>
          <a:p>
            <a:r>
              <a:rPr lang="en-IN" dirty="0"/>
              <a:t>   • Used by: </a:t>
            </a:r>
            <a:r>
              <a:rPr lang="en-IN" dirty="0" err="1"/>
              <a:t>Collections.sort</a:t>
            </a:r>
            <a:r>
              <a:rPr lang="en-IN" dirty="0"/>
              <a:t>(list, comparator), </a:t>
            </a:r>
          </a:p>
          <a:p>
            <a:r>
              <a:rPr lang="en-IN" dirty="0"/>
              <a:t>              </a:t>
            </a:r>
            <a:r>
              <a:rPr lang="en-IN" dirty="0" err="1"/>
              <a:t>list.sort</a:t>
            </a:r>
            <a:r>
              <a:rPr lang="en-IN" dirty="0"/>
              <a:t>(comparator), </a:t>
            </a:r>
            <a:r>
              <a:rPr lang="en-IN" dirty="0" err="1"/>
              <a:t>TreeSet</a:t>
            </a:r>
            <a:r>
              <a:rPr lang="en-IN" dirty="0"/>
              <a:t>, </a:t>
            </a:r>
            <a:r>
              <a:rPr lang="en-IN" dirty="0" err="1"/>
              <a:t>TreeMap</a:t>
            </a:r>
            <a:endParaRPr lang="en-IN" dirty="0"/>
          </a:p>
          <a:p>
            <a:endParaRPr lang="en-IN" dirty="0"/>
          </a:p>
          <a:p>
            <a:r>
              <a:rPr lang="en-IN" dirty="0"/>
              <a:t>📐 Contract:</a:t>
            </a:r>
          </a:p>
          <a:p>
            <a:r>
              <a:rPr lang="en-IN" dirty="0"/>
              <a:t>   │  Returns NEGATIVE  → o1 &lt; o2              </a:t>
            </a:r>
          </a:p>
          <a:p>
            <a:r>
              <a:rPr lang="en-IN" dirty="0"/>
              <a:t>   │  Returns ZERO      → o1 == o2              </a:t>
            </a:r>
          </a:p>
          <a:p>
            <a:r>
              <a:rPr lang="en-IN" dirty="0"/>
              <a:t>   │  Returns POSITIVE  → o1 &gt; o2               </a:t>
            </a:r>
          </a:p>
          <a:p>
            <a:r>
              <a:rPr lang="en-IN" dirty="0"/>
              <a:t>   </a:t>
            </a:r>
          </a:p>
          <a:p>
            <a:r>
              <a:rPr lang="en-IN" dirty="0"/>
              <a:t>💬 Think of it as: "A third-party judge decides the order"</a:t>
            </a:r>
          </a:p>
        </p:txBody>
      </p:sp>
    </p:spTree>
    <p:extLst>
      <p:ext uri="{BB962C8B-B14F-4D97-AF65-F5344CB8AC3E}">
        <p14:creationId xmlns:p14="http://schemas.microsoft.com/office/powerpoint/2010/main" val="21950064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619C36-E910-1C0D-59B3-5D72B73686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697E37-5B9A-C921-BB95-510BF99AB9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Let’s go to practical example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3308220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6B52FF-C99B-74DF-79E6-8E757A9A4B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778933"/>
          </a:xfrm>
        </p:spPr>
        <p:txBody>
          <a:bodyPr>
            <a:normAutofit fontScale="90000"/>
          </a:bodyPr>
          <a:lstStyle/>
          <a:p>
            <a:r>
              <a:rPr lang="en-US" b="1" dirty="0"/>
              <a:t>Comparator — Java 8+ Utility Methods</a:t>
            </a:r>
            <a:br>
              <a:rPr lang="en-US" b="1" dirty="0"/>
            </a:br>
            <a:endParaRPr lang="en-IN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1F6013A0-8757-6EA3-210F-D575B97F104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77334" y="1786467"/>
            <a:ext cx="7001933" cy="43148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670538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6D4FE4-36AA-7B29-356A-24C97C21BC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45068" y="1981200"/>
            <a:ext cx="8596668" cy="3403600"/>
          </a:xfrm>
        </p:spPr>
        <p:txBody>
          <a:bodyPr/>
          <a:lstStyle/>
          <a:p>
            <a:r>
              <a:rPr lang="en-US" dirty="0"/>
              <a:t>								Q&amp;A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461627671"/>
      </p:ext>
    </p:extLst>
  </p:cSld>
  <p:clrMapOvr>
    <a:masterClrMapping/>
  </p:clrMapOvr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TM02900688[[fn=Facet]]</Template>
  <TotalTime>49</TotalTime>
  <Words>407</Words>
  <Application>Microsoft Office PowerPoint</Application>
  <PresentationFormat>Widescreen</PresentationFormat>
  <Paragraphs>58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Arial</vt:lpstr>
      <vt:lpstr>Trebuchet MS</vt:lpstr>
      <vt:lpstr>Wingdings 3</vt:lpstr>
      <vt:lpstr>Facet</vt:lpstr>
      <vt:lpstr>Comparable vs Comparator</vt:lpstr>
      <vt:lpstr>Agenda </vt:lpstr>
      <vt:lpstr>Problem ?</vt:lpstr>
      <vt:lpstr>Comparable Interface </vt:lpstr>
      <vt:lpstr>Let’s go to practical example</vt:lpstr>
      <vt:lpstr>Comparator Interface </vt:lpstr>
      <vt:lpstr>Let’s go to practical example</vt:lpstr>
      <vt:lpstr>Comparator — Java 8+ Utility Methods </vt:lpstr>
      <vt:lpstr>        Q&amp;A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 V Praveen Kumar</dc:creator>
  <cp:lastModifiedBy>A V Praveen Kumar</cp:lastModifiedBy>
  <cp:revision>3</cp:revision>
  <dcterms:created xsi:type="dcterms:W3CDTF">2026-05-12T08:12:51Z</dcterms:created>
  <dcterms:modified xsi:type="dcterms:W3CDTF">2026-05-13T09:26:10Z</dcterms:modified>
</cp:coreProperties>
</file>